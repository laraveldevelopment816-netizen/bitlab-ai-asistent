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381446"/>
            <a:ext cx="171450" cy="171450"/>
          </a:xfrm>
          <a:prstGeom prst="ellipse">
            <a:avLst/>
          </a:prstGeom>
          <a:solidFill>
            <a:srgbClr val="FB6D3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2900"/>
            <a:ext cx="199057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6726495" y="342900"/>
            <a:ext cx="102810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· 2026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9695557"/>
            <a:ext cx="221143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· 11 SLAJDOVA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11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3107829"/>
            <a:ext cx="494461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SISTEM JE U PRODUKCIJI, NIJE DEMO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555504"/>
            <a:ext cx="16952976" cy="24520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900" b="1" spc="-198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</a:t>
            </a:r>
            <a:pPr algn="l" indent="0" marL="0">
              <a:lnSpc>
                <a:spcPct val="96000"/>
              </a:lnSpc>
              <a:buNone/>
            </a:pPr>
            <a:r>
              <a:rPr lang="en-US" sz="9900" b="1" spc="-198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Asistent</a:t>
            </a:r>
            <a:endParaRPr lang="en-US" sz="9900" dirty="0"/>
          </a:p>
        </p:txBody>
      </p:sp>
      <p:sp>
        <p:nvSpPr>
          <p:cNvPr id="10" name="Shape 8"/>
          <p:cNvSpPr/>
          <p:nvPr/>
        </p:nvSpPr>
        <p:spPr>
          <a:xfrm>
            <a:off x="914400" y="6669584"/>
            <a:ext cx="9525" cy="457200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266825" y="6483846"/>
            <a:ext cx="10791825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4 načina korištenja ·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4.6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· praćenje svakog razgovora · brzi deploy bez prekida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8476357"/>
            <a:ext cx="203596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spc="-84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914400" y="9124057"/>
            <a:ext cx="2035969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AUTOMATSKA TESTA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07569" y="8476357"/>
            <a:ext cx="217557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spc="-84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407569" y="9124057"/>
            <a:ext cx="217557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PITANJA U TEST SETU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40338" y="8476357"/>
            <a:ext cx="228867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spc="-84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040338" y="9124057"/>
            <a:ext cx="2288679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TAČNOST NA SONNETU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786217" y="8476357"/>
            <a:ext cx="265166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spc="-84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8786217" y="9124057"/>
            <a:ext cx="265166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STRANICA U DASHBOARDU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12002" y="8743950"/>
            <a:ext cx="4161598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650" spc="99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Sesija 8 → Sesija 9 </a:t>
            </a:r>
            <a:pPr algn="r" indent="0" marL="0">
              <a:lnSpc>
                <a:spcPct val="150000"/>
              </a:lnSpc>
              <a:buNone/>
            </a:pPr>
            <a:r>
              <a:rPr lang="en-US" sz="1650" spc="99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poređenje više AI modela ove sedmice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1946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5106799" y="342900"/>
            <a:ext cx="2648749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ARHITEKTURA SISTEMA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555503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JEDAN AI MOZAK · 4 ULAZA ZA KORISNIKA · 1 DASHBOARD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02 · ŠTA JE SISTEM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6719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spc="-96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je sistem, na jednom dijagramu.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914400" y="2300734"/>
            <a:ext cx="107918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Jedan AI mozak, četiri ulaza za korisnika, jedno mjesto gdje pratimo sve što se dešava.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676400" y="3040707"/>
            <a:ext cx="14935200" cy="5545187"/>
          </a:xfrm>
          <a:prstGeom prst="roundRect">
            <a:avLst>
              <a:gd name="adj" fmla="val 1718"/>
            </a:avLst>
          </a:prstGeom>
          <a:solidFill>
            <a:srgbClr val="1D222C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95525" y="3507432"/>
            <a:ext cx="13696950" cy="2169914"/>
          </a:xfrm>
          <a:prstGeom prst="roundRect">
            <a:avLst>
              <a:gd name="adj" fmla="val 3512"/>
            </a:avLst>
          </a:prstGeom>
          <a:solidFill>
            <a:srgbClr val="FFFFFF">
              <a:alpha val="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9850" y="3783657"/>
            <a:ext cx="196215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48200" y="3821757"/>
            <a:ext cx="13335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57750" y="3821757"/>
            <a:ext cx="107870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3.11+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012656" y="3821757"/>
            <a:ext cx="13335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22206" y="3821757"/>
            <a:ext cx="157222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SQLAlchemy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2390537" y="3840807"/>
            <a:ext cx="3386242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javna endpointa · 7 endpointa /api/dashboard/*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09850" y="4258866"/>
            <a:ext cx="1306830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2609850" y="4439841"/>
            <a:ext cx="1162050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b="1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3810000" y="4468416"/>
            <a:ext cx="2443311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(Claude tool use, max 5 iteracija)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2762250" y="4836468"/>
            <a:ext cx="6455474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search_products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(query, category_id, max_price, top_k)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9410700" y="4836468"/>
            <a:ext cx="6455474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check_availability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(sifra)</a:t>
            </a:r>
            <a:endParaRPr lang="en-US" sz="1275" dirty="0"/>
          </a:p>
        </p:txBody>
      </p:sp>
      <p:sp>
        <p:nvSpPr>
          <p:cNvPr id="22" name="Text 20"/>
          <p:cNvSpPr/>
          <p:nvPr/>
        </p:nvSpPr>
        <p:spPr>
          <a:xfrm>
            <a:off x="2762250" y="5166420"/>
            <a:ext cx="6455474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get_faq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(topic)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9410700" y="5166420"/>
            <a:ext cx="6455474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escalate_to_human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(reason, summary)</a:t>
            </a:r>
            <a:endParaRPr lang="en-US" sz="1275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5525" y="5677346"/>
            <a:ext cx="13696950" cy="60960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2295525" y="6286946"/>
            <a:ext cx="3281363" cy="1462534"/>
          </a:xfrm>
          <a:prstGeom prst="roundRect">
            <a:avLst>
              <a:gd name="adj" fmla="val 5210"/>
            </a:avLst>
          </a:prstGeom>
          <a:solidFill>
            <a:srgbClr val="FFFFFF">
              <a:alpha val="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514600" y="6486971"/>
            <a:ext cx="2928509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b="1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</a:t>
            </a:r>
            <a:endParaRPr lang="en-US" sz="1425" dirty="0"/>
          </a:p>
        </p:txBody>
      </p:sp>
      <p:sp>
        <p:nvSpPr>
          <p:cNvPr id="27" name="Text 24"/>
          <p:cNvSpPr/>
          <p:nvPr/>
        </p:nvSpPr>
        <p:spPr>
          <a:xfrm>
            <a:off x="2514600" y="6863655"/>
            <a:ext cx="292850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widget.js embed, 1 fajl CSP-safe</a:t>
            </a:r>
            <a:endParaRPr lang="en-US" sz="1125" dirty="0"/>
          </a:p>
        </p:txBody>
      </p:sp>
      <p:sp>
        <p:nvSpPr>
          <p:cNvPr id="28" name="Shape 25"/>
          <p:cNvSpPr/>
          <p:nvPr/>
        </p:nvSpPr>
        <p:spPr>
          <a:xfrm>
            <a:off x="5767388" y="6286946"/>
            <a:ext cx="3281363" cy="1462534"/>
          </a:xfrm>
          <a:prstGeom prst="roundRect">
            <a:avLst>
              <a:gd name="adj" fmla="val 5210"/>
            </a:avLst>
          </a:prstGeom>
          <a:solidFill>
            <a:srgbClr val="FFFFFF">
              <a:alpha val="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6463" y="6486971"/>
            <a:ext cx="2928509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b="1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mode</a:t>
            </a:r>
            <a:endParaRPr lang="en-US" sz="1425" dirty="0"/>
          </a:p>
        </p:txBody>
      </p:sp>
      <p:sp>
        <p:nvSpPr>
          <p:cNvPr id="30" name="Text 27"/>
          <p:cNvSpPr/>
          <p:nvPr/>
        </p:nvSpPr>
        <p:spPr>
          <a:xfrm>
            <a:off x="5986463" y="6863655"/>
            <a:ext cx="292850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fullscreen / compact Groq Whisper → Azure TTS</a:t>
            </a:r>
            <a:endParaRPr lang="en-US" sz="1125" dirty="0"/>
          </a:p>
        </p:txBody>
      </p:sp>
      <p:sp>
        <p:nvSpPr>
          <p:cNvPr id="31" name="Shape 28"/>
          <p:cNvSpPr/>
          <p:nvPr/>
        </p:nvSpPr>
        <p:spPr>
          <a:xfrm>
            <a:off x="9239250" y="6286946"/>
            <a:ext cx="3281363" cy="1462534"/>
          </a:xfrm>
          <a:prstGeom prst="roundRect">
            <a:avLst>
              <a:gd name="adj" fmla="val 5210"/>
            </a:avLst>
          </a:prstGeom>
          <a:solidFill>
            <a:srgbClr val="FFFFFF">
              <a:alpha val="2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458325" y="6486971"/>
            <a:ext cx="2928509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b="1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425" dirty="0"/>
          </a:p>
        </p:txBody>
      </p:sp>
      <p:sp>
        <p:nvSpPr>
          <p:cNvPr id="33" name="Text 30"/>
          <p:cNvSpPr/>
          <p:nvPr/>
        </p:nvSpPr>
        <p:spPr>
          <a:xfrm>
            <a:off x="9458325" y="6863655"/>
            <a:ext cx="292850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IMAP → SMTP trigger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12711113" y="6286946"/>
            <a:ext cx="3281363" cy="1462534"/>
          </a:xfrm>
          <a:prstGeom prst="roundRect">
            <a:avLst>
              <a:gd name="adj" fmla="val 5210"/>
            </a:avLst>
          </a:prstGeom>
          <a:solidFill>
            <a:srgbClr val="D97757">
              <a:alpha val="6000"/>
            </a:srgbClr>
          </a:solidFill>
          <a:ln w="9525">
            <a:solidFill>
              <a:srgbClr val="FB6D3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930188" y="6486971"/>
            <a:ext cx="2928509" cy="3004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b="1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425" dirty="0"/>
          </a:p>
        </p:txBody>
      </p:sp>
      <p:sp>
        <p:nvSpPr>
          <p:cNvPr id="36" name="Text 33"/>
          <p:cNvSpPr/>
          <p:nvPr/>
        </p:nvSpPr>
        <p:spPr>
          <a:xfrm>
            <a:off x="12930188" y="6863655"/>
            <a:ext cx="292850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Vite /admin/ Sessions, thread view</a:t>
            </a:r>
            <a:endParaRPr lang="en-US" sz="1125" dirty="0"/>
          </a:p>
        </p:txBody>
      </p:sp>
      <p:sp>
        <p:nvSpPr>
          <p:cNvPr id="37" name="Text 34"/>
          <p:cNvSpPr/>
          <p:nvPr/>
        </p:nvSpPr>
        <p:spPr>
          <a:xfrm>
            <a:off x="14543931" y="6220271"/>
            <a:ext cx="1286619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54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glavni differentiator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914400" y="8852595"/>
            <a:ext cx="5109121" cy="520005"/>
          </a:xfrm>
          <a:prstGeom prst="roundRect">
            <a:avLst>
              <a:gd name="adj" fmla="val 7327"/>
            </a:avLst>
          </a:prstGeom>
          <a:solidFill>
            <a:srgbClr val="7DD3FC">
              <a:alpha val="8000"/>
            </a:srgbClr>
          </a:solidFill>
          <a:ln w="9525">
            <a:solidFill>
              <a:srgbClr val="7DD3FC">
                <a:alpha val="3000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038225" y="8919270"/>
            <a:ext cx="5014744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RAZUMIJEVANJE TEKSTA NA NAŠEM JEZIKU · LOKALNO, BEZ SLANJA VANI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194971" y="8852595"/>
            <a:ext cx="4329857" cy="520005"/>
          </a:xfrm>
          <a:prstGeom prst="roundRect">
            <a:avLst>
              <a:gd name="adj" fmla="val 7327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318796" y="8919270"/>
            <a:ext cx="4212102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SVAKI RAZGOVOR SE PAMTI — MOŽE SE PONOVO POGLEDATI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10696277" y="8852595"/>
            <a:ext cx="3169741" cy="520005"/>
          </a:xfrm>
          <a:prstGeom prst="roundRect">
            <a:avLst>
              <a:gd name="adj" fmla="val 7327"/>
            </a:avLst>
          </a:prstGeom>
          <a:solidFill>
            <a:srgbClr val="FB6D3B">
              <a:alpha val="12000"/>
            </a:srgbClr>
          </a:solidFill>
          <a:ln w="9525">
            <a:solidFill>
              <a:srgbClr val="FB6D3B">
                <a:alpha val="3500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820102" y="8919270"/>
            <a:ext cx="3017184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4.6 KAO PODRAZUMIJEVANI MODEL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14037469" y="8852595"/>
            <a:ext cx="3336131" cy="520005"/>
          </a:xfrm>
          <a:prstGeom prst="roundRect">
            <a:avLst>
              <a:gd name="adj" fmla="val 7327"/>
            </a:avLst>
          </a:prstGeom>
          <a:solidFill>
            <a:srgbClr val="4ADE80">
              <a:alpha val="8000"/>
            </a:srgbClr>
          </a:solidFill>
          <a:ln w="9525">
            <a:solidFill>
              <a:srgbClr val="4ADE8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4161294" y="8919270"/>
            <a:ext cx="318856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ČITA ODGOVOR NAGLAS — PRIRODAN GLAS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45745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· OBSERVABILITY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6171962" y="342900"/>
            <a:ext cx="1582638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RAZGOVORI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420099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/ADMIN/SESSIONS → /ADMIN/SESSIONS/:ID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06836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03 · GLAVNA PREDNOST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068360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Vidimo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svaki korak razgovora.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914400" y="2165896"/>
            <a:ext cx="10683600" cy="645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nije crna kutija — možemo otvoriti bilo koji razgovor i tačno vidjeti šta je AI uradio, koliko je trajalo i koliko je koštalo.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286827" y="1666726"/>
            <a:ext cx="290076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spc="-6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286827" y="2162026"/>
            <a:ext cx="2900763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AUTOMATSKO OSVJEŽAVANJE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4407902" y="1666726"/>
            <a:ext cx="118124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spc="-6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korak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4407902" y="2162026"/>
            <a:ext cx="1181249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KORAK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817751" y="1666726"/>
            <a:ext cx="163204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spc="-6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· ms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5817751" y="2162026"/>
            <a:ext cx="1632049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CIJENA I BRZINA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9600" y="3040112"/>
            <a:ext cx="17068800" cy="5602932"/>
          </a:xfrm>
          <a:prstGeom prst="roundRect">
            <a:avLst>
              <a:gd name="adj" fmla="val 1700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  <a:effectLst>
            <a:outerShdw sx="100000" sy="100000" kx="0" ky="0" algn="bl" rotWithShape="0" blurRad="762000" dist="285750" dir="5400000">
              <a:srgbClr val="000000">
                <a:alpha val="6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125" y="3049637"/>
            <a:ext cx="17049750" cy="403771"/>
          </a:xfrm>
          <a:prstGeom prst="rect">
            <a:avLst/>
          </a:prstGeom>
          <a:solidFill>
            <a:srgbClr val="1D222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125" y="3443883"/>
            <a:ext cx="170497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1525" y="3189536"/>
            <a:ext cx="114300" cy="114300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9" name="Shape 17"/>
          <p:cNvSpPr/>
          <p:nvPr/>
        </p:nvSpPr>
        <p:spPr>
          <a:xfrm>
            <a:off x="952500" y="3189536"/>
            <a:ext cx="114300" cy="114300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133475" y="3189536"/>
            <a:ext cx="114300" cy="114300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21" name="Text 19"/>
          <p:cNvSpPr/>
          <p:nvPr/>
        </p:nvSpPr>
        <p:spPr>
          <a:xfrm>
            <a:off x="1109308" y="3163937"/>
            <a:ext cx="16048547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900" spc="36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ai.bitlab.rs/admin/sessions/</a:t>
            </a:r>
            <a:pPr algn="ctr" indent="0" marL="0">
              <a:lnSpc>
                <a:spcPct val="145000"/>
              </a:lnSpc>
              <a:buNone/>
            </a:pPr>
            <a:r>
              <a:rPr lang="en-US" sz="900" spc="36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9c4f…21ab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019389" y="3163937"/>
            <a:ext cx="573286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36" kern="0" dirty="0">
                <a:solidFill>
                  <a:srgbClr val="7A818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Bearer 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9125" y="3453408"/>
            <a:ext cx="2095500" cy="5180112"/>
          </a:xfrm>
          <a:prstGeom prst="rect">
            <a:avLst/>
          </a:prstGeom>
          <a:solidFill>
            <a:srgbClr val="0A0C1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05100" y="3453408"/>
            <a:ext cx="9525" cy="5180112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847725" y="3834408"/>
            <a:ext cx="1704975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116" kern="0" dirty="0">
                <a:solidFill>
                  <a:srgbClr val="4A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</a:t>
            </a:r>
            <a:endParaRPr lang="en-US" sz="825" dirty="0"/>
          </a:p>
        </p:txBody>
      </p:sp>
      <p:sp>
        <p:nvSpPr>
          <p:cNvPr id="26" name="Shape 24"/>
          <p:cNvSpPr/>
          <p:nvPr/>
        </p:nvSpPr>
        <p:spPr>
          <a:xfrm>
            <a:off x="790575" y="4100513"/>
            <a:ext cx="1743075" cy="364778"/>
          </a:xfrm>
          <a:prstGeom prst="roundRect">
            <a:avLst>
              <a:gd name="adj" fmla="val 15667"/>
            </a:avLst>
          </a:prstGeom>
          <a:solidFill>
            <a:srgbClr val="1D222C"/>
          </a:solidFill>
          <a:ln/>
        </p:spPr>
      </p:sp>
      <p:sp>
        <p:nvSpPr>
          <p:cNvPr id="27" name="Shape 25"/>
          <p:cNvSpPr/>
          <p:nvPr/>
        </p:nvSpPr>
        <p:spPr>
          <a:xfrm>
            <a:off x="904875" y="4216152"/>
            <a:ext cx="133350" cy="133350"/>
          </a:xfrm>
          <a:prstGeom prst="roundRect">
            <a:avLst>
              <a:gd name="adj" fmla="val 21429"/>
            </a:avLst>
          </a:prstGeom>
          <a:solidFill>
            <a:srgbClr val="FB6D3B"/>
          </a:solidFill>
          <a:ln/>
        </p:spPr>
      </p:sp>
      <p:sp>
        <p:nvSpPr>
          <p:cNvPr id="28" name="Text 26"/>
          <p:cNvSpPr/>
          <p:nvPr/>
        </p:nvSpPr>
        <p:spPr>
          <a:xfrm>
            <a:off x="1133475" y="4205288"/>
            <a:ext cx="6173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04875" y="4619030"/>
            <a:ext cx="133350" cy="133350"/>
          </a:xfrm>
          <a:prstGeom prst="roundRect">
            <a:avLst>
              <a:gd name="adj" fmla="val 21429"/>
            </a:avLst>
          </a:prstGeom>
          <a:ln w="9525">
            <a:solidFill>
              <a:srgbClr val="B3B9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475" y="4608165"/>
            <a:ext cx="6396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04875" y="5021907"/>
            <a:ext cx="133350" cy="133350"/>
          </a:xfrm>
          <a:prstGeom prst="roundRect">
            <a:avLst>
              <a:gd name="adj" fmla="val 21429"/>
            </a:avLst>
          </a:prstGeom>
          <a:ln w="9525">
            <a:solidFill>
              <a:srgbClr val="B3B9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3475" y="5011043"/>
            <a:ext cx="624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04875" y="5424785"/>
            <a:ext cx="133350" cy="133350"/>
          </a:xfrm>
          <a:prstGeom prst="roundRect">
            <a:avLst>
              <a:gd name="adj" fmla="val 21429"/>
            </a:avLst>
          </a:prstGeom>
          <a:ln w="9525">
            <a:solidFill>
              <a:srgbClr val="B3B9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33475" y="5413921"/>
            <a:ext cx="624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4875" y="5827663"/>
            <a:ext cx="133350" cy="133350"/>
          </a:xfrm>
          <a:prstGeom prst="roundRect">
            <a:avLst>
              <a:gd name="adj" fmla="val 21429"/>
            </a:avLst>
          </a:prstGeom>
          <a:ln w="9525">
            <a:solidFill>
              <a:srgbClr val="B3B9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33475" y="5816798"/>
            <a:ext cx="38010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47725" y="6286351"/>
            <a:ext cx="1704975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116" kern="0" dirty="0">
                <a:solidFill>
                  <a:srgbClr val="4A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825" dirty="0"/>
          </a:p>
        </p:txBody>
      </p:sp>
      <p:sp>
        <p:nvSpPr>
          <p:cNvPr id="38" name="Shape 36"/>
          <p:cNvSpPr/>
          <p:nvPr/>
        </p:nvSpPr>
        <p:spPr>
          <a:xfrm>
            <a:off x="904875" y="6668095"/>
            <a:ext cx="133350" cy="133350"/>
          </a:xfrm>
          <a:prstGeom prst="roundRect">
            <a:avLst>
              <a:gd name="adj" fmla="val 21429"/>
            </a:avLst>
          </a:prstGeom>
          <a:ln w="9525">
            <a:solidFill>
              <a:srgbClr val="B3B9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33475" y="6657231"/>
            <a:ext cx="602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04875" y="7070973"/>
            <a:ext cx="133350" cy="133350"/>
          </a:xfrm>
          <a:prstGeom prst="roundRect">
            <a:avLst>
              <a:gd name="adj" fmla="val 21429"/>
            </a:avLst>
          </a:prstGeom>
          <a:ln w="9525">
            <a:solidFill>
              <a:srgbClr val="B3B9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33475" y="7060109"/>
            <a:ext cx="3430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182225" y="3453408"/>
            <a:ext cx="9525" cy="5180112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714625" y="3934420"/>
            <a:ext cx="746760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2924175" y="3611017"/>
            <a:ext cx="66064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03873" y="3620542"/>
            <a:ext cx="5210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47 total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9342090" y="3586758"/>
            <a:ext cx="630585" cy="214313"/>
          </a:xfrm>
          <a:prstGeom prst="roundRect">
            <a:avLst>
              <a:gd name="adj" fmla="val 17778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427815" y="3624858"/>
            <a:ext cx="535335" cy="176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· 5S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14625" y="3943945"/>
            <a:ext cx="7467600" cy="949970"/>
          </a:xfrm>
          <a:prstGeom prst="rect">
            <a:avLst/>
          </a:prstGeom>
          <a:solidFill>
            <a:srgbClr val="FB6D3B">
              <a:alpha val="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2714625" y="4884390"/>
            <a:ext cx="746760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2714625" y="3943945"/>
            <a:ext cx="19050" cy="949970"/>
          </a:xfrm>
          <a:prstGeom prst="rect">
            <a:avLst/>
          </a:prstGeom>
          <a:solidFill>
            <a:srgbClr val="FB6D3B"/>
          </a:solidFill>
          <a:ln/>
        </p:spPr>
      </p:sp>
      <p:sp>
        <p:nvSpPr>
          <p:cNvPr id="51" name="Text 49"/>
          <p:cNvSpPr/>
          <p:nvPr/>
        </p:nvSpPr>
        <p:spPr>
          <a:xfrm>
            <a:off x="2943225" y="4077295"/>
            <a:ext cx="70961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9c4f…21ab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3690937" y="4077295"/>
            <a:ext cx="548729" cy="195263"/>
          </a:xfrm>
          <a:prstGeom prst="roundRect">
            <a:avLst>
              <a:gd name="adj" fmla="val 19512"/>
            </a:avLst>
          </a:prstGeom>
          <a:solidFill>
            <a:srgbClr val="7DD3FC">
              <a:alpha val="8000"/>
            </a:srgbClr>
          </a:solidFill>
          <a:ln w="9525">
            <a:solidFill>
              <a:srgbClr val="7DD3FC">
                <a:alpha val="3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57613" y="4105870"/>
            <a:ext cx="4915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9559677" y="4086820"/>
            <a:ext cx="48919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turns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943225" y="4329708"/>
            <a:ext cx="7240334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"Imate li lapatovoe za do 2000KM…"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2943225" y="4599236"/>
            <a:ext cx="41404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13.8k</a:t>
            </a:r>
            <a:endParaRPr lang="en-US" sz="825" dirty="0"/>
          </a:p>
        </p:txBody>
      </p:sp>
      <p:sp>
        <p:nvSpPr>
          <p:cNvPr id="57" name="Text 55"/>
          <p:cNvSpPr/>
          <p:nvPr/>
        </p:nvSpPr>
        <p:spPr>
          <a:xfrm>
            <a:off x="3414415" y="4599236"/>
            <a:ext cx="41404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0.26k</a:t>
            </a:r>
            <a:endParaRPr lang="en-US" sz="825" dirty="0"/>
          </a:p>
        </p:txBody>
      </p:sp>
      <p:sp>
        <p:nvSpPr>
          <p:cNvPr id="58" name="Text 56"/>
          <p:cNvSpPr/>
          <p:nvPr/>
        </p:nvSpPr>
        <p:spPr>
          <a:xfrm>
            <a:off x="3885605" y="4599236"/>
            <a:ext cx="396776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$0.045</a:t>
            </a:r>
            <a:endParaRPr lang="en-US" sz="825" dirty="0"/>
          </a:p>
        </p:txBody>
      </p:sp>
      <p:sp>
        <p:nvSpPr>
          <p:cNvPr id="59" name="Text 57"/>
          <p:cNvSpPr/>
          <p:nvPr/>
        </p:nvSpPr>
        <p:spPr>
          <a:xfrm>
            <a:off x="4339530" y="4599236"/>
            <a:ext cx="3326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17.2s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2714625" y="5834360"/>
            <a:ext cx="746760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2924175" y="5027265"/>
            <a:ext cx="750987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7a31…0e94</a:t>
            </a:r>
            <a:endParaRPr lang="en-US" sz="975" dirty="0"/>
          </a:p>
        </p:txBody>
      </p:sp>
      <p:sp>
        <p:nvSpPr>
          <p:cNvPr id="62" name="Shape 60"/>
          <p:cNvSpPr/>
          <p:nvPr/>
        </p:nvSpPr>
        <p:spPr>
          <a:xfrm>
            <a:off x="3713262" y="5027265"/>
            <a:ext cx="458391" cy="195263"/>
          </a:xfrm>
          <a:prstGeom prst="roundRect">
            <a:avLst>
              <a:gd name="adj" fmla="val 1951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79937" y="5055840"/>
            <a:ext cx="401241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9623227" y="5036790"/>
            <a:ext cx="42564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turns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924175" y="5279678"/>
            <a:ext cx="725995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"Trebam tastaturu mehanic̆ku do 200KM"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2924175" y="5549205"/>
            <a:ext cx="35584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4.2k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3337173" y="5549205"/>
            <a:ext cx="41404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0.18k</a:t>
            </a:r>
            <a:endParaRPr lang="en-US" sz="825" dirty="0"/>
          </a:p>
        </p:txBody>
      </p:sp>
      <p:sp>
        <p:nvSpPr>
          <p:cNvPr id="68" name="Text 66"/>
          <p:cNvSpPr/>
          <p:nvPr/>
        </p:nvSpPr>
        <p:spPr>
          <a:xfrm>
            <a:off x="3808363" y="5549205"/>
            <a:ext cx="396776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$0.013</a:t>
            </a:r>
            <a:endParaRPr lang="en-US" sz="825" dirty="0"/>
          </a:p>
        </p:txBody>
      </p:sp>
      <p:sp>
        <p:nvSpPr>
          <p:cNvPr id="69" name="Text 67"/>
          <p:cNvSpPr/>
          <p:nvPr/>
        </p:nvSpPr>
        <p:spPr>
          <a:xfrm>
            <a:off x="4262289" y="5549205"/>
            <a:ext cx="27429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6.5s</a:t>
            </a:r>
            <a:endParaRPr lang="en-US" sz="825" dirty="0"/>
          </a:p>
        </p:txBody>
      </p:sp>
      <p:sp>
        <p:nvSpPr>
          <p:cNvPr id="70" name="Shape 68"/>
          <p:cNvSpPr/>
          <p:nvPr/>
        </p:nvSpPr>
        <p:spPr>
          <a:xfrm>
            <a:off x="2714625" y="6784330"/>
            <a:ext cx="746760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2924175" y="5977235"/>
            <a:ext cx="70961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b88e…5fc2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3671888" y="5977235"/>
            <a:ext cx="447824" cy="195263"/>
          </a:xfrm>
          <a:prstGeom prst="roundRect">
            <a:avLst>
              <a:gd name="adj" fmla="val 1951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738563" y="6005810"/>
            <a:ext cx="390674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623227" y="5986760"/>
            <a:ext cx="42564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turns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924175" y="6229648"/>
            <a:ext cx="725995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"Pozdrav, da li je proizvod 12345 dostupan…"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2924175" y="6499175"/>
            <a:ext cx="35584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1.1k</a:t>
            </a:r>
            <a:endParaRPr lang="en-US" sz="825" dirty="0"/>
          </a:p>
        </p:txBody>
      </p:sp>
      <p:sp>
        <p:nvSpPr>
          <p:cNvPr id="77" name="Text 75"/>
          <p:cNvSpPr/>
          <p:nvPr/>
        </p:nvSpPr>
        <p:spPr>
          <a:xfrm>
            <a:off x="3337173" y="6499175"/>
            <a:ext cx="41404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0.09k</a:t>
            </a:r>
            <a:endParaRPr lang="en-US" sz="825" dirty="0"/>
          </a:p>
        </p:txBody>
      </p:sp>
      <p:sp>
        <p:nvSpPr>
          <p:cNvPr id="78" name="Text 76"/>
          <p:cNvSpPr/>
          <p:nvPr/>
        </p:nvSpPr>
        <p:spPr>
          <a:xfrm>
            <a:off x="3808363" y="6499175"/>
            <a:ext cx="396776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$0.004</a:t>
            </a:r>
            <a:endParaRPr lang="en-US" sz="825" dirty="0"/>
          </a:p>
        </p:txBody>
      </p:sp>
      <p:sp>
        <p:nvSpPr>
          <p:cNvPr id="79" name="Text 77"/>
          <p:cNvSpPr/>
          <p:nvPr/>
        </p:nvSpPr>
        <p:spPr>
          <a:xfrm>
            <a:off x="4262289" y="6499175"/>
            <a:ext cx="27429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3.1s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2714625" y="7506295"/>
            <a:ext cx="7467600" cy="95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2924175" y="6927205"/>
            <a:ext cx="716607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1f42…a907</a:t>
            </a:r>
            <a:endParaRPr lang="en-US" sz="975" dirty="0"/>
          </a:p>
        </p:txBody>
      </p:sp>
      <p:sp>
        <p:nvSpPr>
          <p:cNvPr id="82" name="Shape 80"/>
          <p:cNvSpPr/>
          <p:nvPr/>
        </p:nvSpPr>
        <p:spPr>
          <a:xfrm>
            <a:off x="3678882" y="6927205"/>
            <a:ext cx="548729" cy="195263"/>
          </a:xfrm>
          <a:prstGeom prst="roundRect">
            <a:avLst>
              <a:gd name="adj" fmla="val 1951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745557" y="6955780"/>
            <a:ext cx="4915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9623227" y="6936730"/>
            <a:ext cx="42564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turns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2924175" y="7179618"/>
            <a:ext cx="725995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"Koja je razlika između IPS i VA…"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2714625" y="7977783"/>
            <a:ext cx="7467600" cy="952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87" name="Text 85"/>
          <p:cNvSpPr/>
          <p:nvPr/>
        </p:nvSpPr>
        <p:spPr>
          <a:xfrm>
            <a:off x="2924175" y="7649170"/>
            <a:ext cx="73714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3d77…cc18</a:t>
            </a:r>
            <a:endParaRPr lang="en-US" sz="975" dirty="0"/>
          </a:p>
        </p:txBody>
      </p:sp>
      <p:sp>
        <p:nvSpPr>
          <p:cNvPr id="88" name="Shape 86"/>
          <p:cNvSpPr/>
          <p:nvPr/>
        </p:nvSpPr>
        <p:spPr>
          <a:xfrm>
            <a:off x="3699421" y="7649170"/>
            <a:ext cx="548729" cy="195263"/>
          </a:xfrm>
          <a:prstGeom prst="roundRect">
            <a:avLst>
              <a:gd name="adj" fmla="val 1951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766096" y="7677745"/>
            <a:ext cx="4915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9623227" y="7658695"/>
            <a:ext cx="42564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turns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714625" y="8433495"/>
            <a:ext cx="7467600" cy="9525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sp>
        <p:nvSpPr>
          <p:cNvPr id="92" name="Text 90"/>
          <p:cNvSpPr/>
          <p:nvPr/>
        </p:nvSpPr>
        <p:spPr>
          <a:xfrm>
            <a:off x="2924175" y="8120658"/>
            <a:ext cx="750987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5e09…4b71</a:t>
            </a:r>
            <a:endParaRPr lang="en-US" sz="975" dirty="0"/>
          </a:p>
        </p:txBody>
      </p:sp>
      <p:sp>
        <p:nvSpPr>
          <p:cNvPr id="93" name="Shape 91"/>
          <p:cNvSpPr/>
          <p:nvPr/>
        </p:nvSpPr>
        <p:spPr>
          <a:xfrm>
            <a:off x="10191750" y="3885754"/>
            <a:ext cx="7477125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94" name="Text 92"/>
          <p:cNvSpPr/>
          <p:nvPr/>
        </p:nvSpPr>
        <p:spPr>
          <a:xfrm>
            <a:off x="10401300" y="3586758"/>
            <a:ext cx="660946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9c4f…21ab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11081296" y="3596283"/>
            <a:ext cx="16708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widget · started 17:42:09 UTC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3865275" y="4066729"/>
            <a:ext cx="3594050" cy="644723"/>
          </a:xfrm>
          <a:prstGeom prst="roundRect">
            <a:avLst>
              <a:gd name="adj" fmla="val 14774"/>
            </a:avLst>
          </a:prstGeom>
          <a:solidFill>
            <a:srgbClr val="1D222C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4027200" y="4190554"/>
            <a:ext cx="3368306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· turn 03</a:t>
            </a:r>
            <a:endParaRPr lang="en-US" sz="825" dirty="0"/>
          </a:p>
        </p:txBody>
      </p:sp>
      <p:sp>
        <p:nvSpPr>
          <p:cNvPr id="98" name="Text 96"/>
          <p:cNvSpPr/>
          <p:nvPr/>
        </p:nvSpPr>
        <p:spPr>
          <a:xfrm>
            <a:off x="14027200" y="4380458"/>
            <a:ext cx="3368306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"Imate li lapatovoe za do 2000KM, treba mi za faks"</a:t>
            </a:r>
            <a:endParaRPr lang="en-US" sz="1125" dirty="0"/>
          </a:p>
        </p:txBody>
      </p:sp>
      <p:sp>
        <p:nvSpPr>
          <p:cNvPr id="99" name="Shape 97"/>
          <p:cNvSpPr/>
          <p:nvPr/>
        </p:nvSpPr>
        <p:spPr>
          <a:xfrm>
            <a:off x="10401300" y="4844802"/>
            <a:ext cx="7058025" cy="858887"/>
          </a:xfrm>
          <a:prstGeom prst="roundRect">
            <a:avLst>
              <a:gd name="adj" fmla="val 4436"/>
            </a:avLst>
          </a:prstGeom>
          <a:solidFill>
            <a:srgbClr val="161A22"/>
          </a:solidFill>
          <a:ln/>
        </p:spPr>
      </p:sp>
      <p:sp>
        <p:nvSpPr>
          <p:cNvPr id="100" name="Shape 98"/>
          <p:cNvSpPr/>
          <p:nvPr/>
        </p:nvSpPr>
        <p:spPr>
          <a:xfrm>
            <a:off x="10401300" y="5694164"/>
            <a:ext cx="7058025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10401300" y="4844802"/>
            <a:ext cx="7058025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401300" y="4844802"/>
            <a:ext cx="19050" cy="858887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7449800" y="4844802"/>
            <a:ext cx="9525" cy="858887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04" name="Text 102"/>
          <p:cNvSpPr/>
          <p:nvPr/>
        </p:nvSpPr>
        <p:spPr>
          <a:xfrm>
            <a:off x="10572750" y="4968627"/>
            <a:ext cx="603052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tool_use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11213902" y="4968627"/>
            <a:ext cx="921246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search_products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12173248" y="4968627"/>
            <a:ext cx="11430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12325648" y="4968627"/>
            <a:ext cx="749796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id: tu_01J9…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16954202" y="4968627"/>
            <a:ext cx="41939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312ms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10725150" y="5191423"/>
            <a:ext cx="677399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"query"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"laptop"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"category_id"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"98"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"max_price"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"top_k"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</a:t>
            </a:r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10725150" y="5414218"/>
            <a:ext cx="677399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5 results · cat 98 hard filter applied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10401300" y="5837039"/>
            <a:ext cx="5127427" cy="916186"/>
          </a:xfrm>
          <a:prstGeom prst="roundRect">
            <a:avLst>
              <a:gd name="adj" fmla="val 10396"/>
            </a:avLst>
          </a:prstGeom>
          <a:solidFill>
            <a:srgbClr val="FB6D3B">
              <a:alpha val="6000"/>
            </a:srgbClr>
          </a:solidFill>
          <a:ln w="9525">
            <a:solidFill>
              <a:srgbClr val="FB6D3B">
                <a:alpha val="20000"/>
              </a:srgbClr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563225" y="5960864"/>
            <a:ext cx="4947684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· sonnet-4-6 · 1 tool call · 1142ms</a:t>
            </a:r>
            <a:endParaRPr lang="en-US" sz="825" dirty="0"/>
          </a:p>
        </p:txBody>
      </p:sp>
      <p:sp>
        <p:nvSpPr>
          <p:cNvPr id="113" name="Text 111"/>
          <p:cNvSpPr/>
          <p:nvPr/>
        </p:nvSpPr>
        <p:spPr>
          <a:xfrm>
            <a:off x="10563225" y="6150769"/>
            <a:ext cx="4947684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"Pronašao sam 5 laptopa do 2000 KM, pogodnih za studiranje. Evo top 3…"</a:t>
            </a:r>
            <a:endParaRPr lang="en-US" sz="1125" dirty="0"/>
          </a:p>
        </p:txBody>
      </p:sp>
      <p:sp>
        <p:nvSpPr>
          <p:cNvPr id="114" name="Shape 112"/>
          <p:cNvSpPr/>
          <p:nvPr/>
        </p:nvSpPr>
        <p:spPr>
          <a:xfrm>
            <a:off x="10563225" y="6434138"/>
            <a:ext cx="698450" cy="195263"/>
          </a:xfrm>
          <a:prstGeom prst="roundRect">
            <a:avLst>
              <a:gd name="adj" fmla="val 1951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0639425" y="6462713"/>
            <a:ext cx="622250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8.4K TOK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11318825" y="6434138"/>
            <a:ext cx="655737" cy="195263"/>
          </a:xfrm>
          <a:prstGeom prst="roundRect">
            <a:avLst>
              <a:gd name="adj" fmla="val 1951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395025" y="6462713"/>
            <a:ext cx="579537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142 TOK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12031712" y="6434138"/>
            <a:ext cx="536823" cy="195263"/>
          </a:xfrm>
          <a:prstGeom prst="roundRect">
            <a:avLst>
              <a:gd name="adj" fmla="val 19512"/>
            </a:avLst>
          </a:prstGeom>
          <a:solidFill>
            <a:srgbClr val="4ADE80">
              <a:alpha val="8000"/>
            </a:srgbClr>
          </a:solidFill>
          <a:ln w="9525">
            <a:solidFill>
              <a:srgbClr val="4ADE80">
                <a:alpha val="30000"/>
              </a:srgbClr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2107912" y="6462713"/>
            <a:ext cx="460623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$0.0289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10401300" y="7709595"/>
            <a:ext cx="7058025" cy="752475"/>
          </a:xfrm>
          <a:prstGeom prst="roundRect">
            <a:avLst>
              <a:gd name="adj" fmla="val 7595"/>
            </a:avLst>
          </a:prstGeom>
          <a:solidFill>
            <a:srgbClr val="1D222C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544175" y="7814370"/>
            <a:ext cx="6975443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75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· 14 turns · 17.2s total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10544175" y="8028682"/>
            <a:ext cx="258663" cy="133350"/>
          </a:xfrm>
          <a:prstGeom prst="roundRect">
            <a:avLst>
              <a:gd name="adj" fmla="val 7143"/>
            </a:avLst>
          </a:prstGeom>
          <a:solidFill>
            <a:srgbClr val="7DD3FC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840938" y="8028682"/>
            <a:ext cx="775990" cy="133350"/>
          </a:xfrm>
          <a:prstGeom prst="roundRect">
            <a:avLst>
              <a:gd name="adj" fmla="val 7143"/>
            </a:avLst>
          </a:prstGeom>
          <a:solidFill>
            <a:srgbClr val="A78BF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1655028" y="8028682"/>
            <a:ext cx="1422797" cy="133350"/>
          </a:xfrm>
          <a:prstGeom prst="roundRect">
            <a:avLst>
              <a:gd name="adj" fmla="val 7143"/>
            </a:avLst>
          </a:prstGeom>
          <a:solidFill>
            <a:srgbClr val="FB6D3B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3115925" y="8028682"/>
            <a:ext cx="194072" cy="133350"/>
          </a:xfrm>
          <a:prstGeom prst="roundRect">
            <a:avLst>
              <a:gd name="adj" fmla="val 7143"/>
            </a:avLst>
          </a:prstGeom>
          <a:solidFill>
            <a:srgbClr val="7DD3F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3348097" y="8028682"/>
            <a:ext cx="517327" cy="133350"/>
          </a:xfrm>
          <a:prstGeom prst="roundRect">
            <a:avLst>
              <a:gd name="adj" fmla="val 7143"/>
            </a:avLst>
          </a:prstGeom>
          <a:solidFill>
            <a:srgbClr val="A78BF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3903523" y="8028682"/>
            <a:ext cx="1164134" cy="133350"/>
          </a:xfrm>
          <a:prstGeom prst="roundRect">
            <a:avLst>
              <a:gd name="adj" fmla="val 7143"/>
            </a:avLst>
          </a:prstGeom>
          <a:solidFill>
            <a:srgbClr val="FB6D3B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5105757" y="8028682"/>
            <a:ext cx="194072" cy="133350"/>
          </a:xfrm>
          <a:prstGeom prst="roundRect">
            <a:avLst>
              <a:gd name="adj" fmla="val 7143"/>
            </a:avLst>
          </a:prstGeom>
          <a:solidFill>
            <a:srgbClr val="7DD3F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15337929" y="8028682"/>
            <a:ext cx="323404" cy="133350"/>
          </a:xfrm>
          <a:prstGeom prst="roundRect">
            <a:avLst>
              <a:gd name="adj" fmla="val 7143"/>
            </a:avLst>
          </a:prstGeom>
          <a:solidFill>
            <a:srgbClr val="A78BF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5699432" y="8028682"/>
            <a:ext cx="1617018" cy="133350"/>
          </a:xfrm>
          <a:prstGeom prst="roundRect">
            <a:avLst>
              <a:gd name="adj" fmla="val 7143"/>
            </a:avLst>
          </a:prstGeom>
          <a:solidFill>
            <a:srgbClr val="FB6D3B"/>
          </a:solidFill>
          <a:ln/>
        </p:spPr>
      </p:sp>
      <p:sp>
        <p:nvSpPr>
          <p:cNvPr id="131" name="Text 129"/>
          <p:cNvSpPr/>
          <p:nvPr/>
        </p:nvSpPr>
        <p:spPr>
          <a:xfrm>
            <a:off x="10544175" y="8219182"/>
            <a:ext cx="3455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lnSpc>
                <a:spcPct val="145000"/>
              </a:lnSpc>
              <a:buNone/>
            </a:pPr>
            <a:r>
              <a:rPr lang="en-US" sz="7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750" dirty="0"/>
          </a:p>
        </p:txBody>
      </p:sp>
      <p:sp>
        <p:nvSpPr>
          <p:cNvPr id="132" name="Text 130"/>
          <p:cNvSpPr/>
          <p:nvPr/>
        </p:nvSpPr>
        <p:spPr>
          <a:xfrm>
            <a:off x="10946904" y="8219182"/>
            <a:ext cx="3138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lnSpc>
                <a:spcPct val="145000"/>
              </a:lnSpc>
              <a:buNone/>
            </a:pPr>
            <a:r>
              <a:rPr lang="en-US" sz="7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750" dirty="0"/>
          </a:p>
        </p:txBody>
      </p:sp>
      <p:sp>
        <p:nvSpPr>
          <p:cNvPr id="133" name="Text 131"/>
          <p:cNvSpPr/>
          <p:nvPr/>
        </p:nvSpPr>
        <p:spPr>
          <a:xfrm>
            <a:off x="11317932" y="8219182"/>
            <a:ext cx="536228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lnSpc>
                <a:spcPct val="145000"/>
              </a:lnSpc>
              <a:buNone/>
            </a:pPr>
            <a:r>
              <a:rPr lang="en-US" sz="7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914400" y="8852595"/>
            <a:ext cx="4058394" cy="520005"/>
          </a:xfrm>
          <a:prstGeom prst="roundRect">
            <a:avLst>
              <a:gd name="adj" fmla="val 7327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038225" y="8919270"/>
            <a:ext cx="3932496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LIJEVO: SPISAK RAZGOVORA — JEDAN RED, JEDNA SESIJA</a:t>
            </a:r>
            <a:endParaRPr lang="en-US" sz="1050" dirty="0"/>
          </a:p>
        </p:txBody>
      </p:sp>
      <p:sp>
        <p:nvSpPr>
          <p:cNvPr id="136" name="Shape 134"/>
          <p:cNvSpPr/>
          <p:nvPr/>
        </p:nvSpPr>
        <p:spPr>
          <a:xfrm>
            <a:off x="5106144" y="8852595"/>
            <a:ext cx="5127278" cy="520005"/>
          </a:xfrm>
          <a:prstGeom prst="roundRect">
            <a:avLst>
              <a:gd name="adj" fmla="val 7327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229969" y="8919270"/>
            <a:ext cx="5033446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SREDINA I DESNO: KOMPLETAN RAZGOVOR + BRZINA, BROJ RIJEČI, CIJENA</a:t>
            </a:r>
            <a:endParaRPr lang="en-US" sz="1050" dirty="0"/>
          </a:p>
        </p:txBody>
      </p:sp>
      <p:sp>
        <p:nvSpPr>
          <p:cNvPr id="138" name="Shape 136"/>
          <p:cNvSpPr/>
          <p:nvPr/>
        </p:nvSpPr>
        <p:spPr>
          <a:xfrm>
            <a:off x="10366772" y="8852595"/>
            <a:ext cx="3718620" cy="520005"/>
          </a:xfrm>
          <a:prstGeom prst="roundRect">
            <a:avLst>
              <a:gd name="adj" fmla="val 7327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490597" y="8919270"/>
            <a:ext cx="3582528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NA PORUKU — VIDI TAČNO ŠTA JE AI PROVJERIO</a:t>
            </a:r>
            <a:endParaRPr lang="en-US" sz="1050" dirty="0"/>
          </a:p>
        </p:txBody>
      </p:sp>
      <p:sp>
        <p:nvSpPr>
          <p:cNvPr id="140" name="Shape 138"/>
          <p:cNvSpPr/>
          <p:nvPr/>
        </p:nvSpPr>
        <p:spPr>
          <a:xfrm>
            <a:off x="14218741" y="8852595"/>
            <a:ext cx="3154859" cy="520005"/>
          </a:xfrm>
          <a:prstGeom prst="roundRect">
            <a:avLst>
              <a:gd name="adj" fmla="val 7327"/>
            </a:avLst>
          </a:prstGeom>
          <a:solidFill>
            <a:srgbClr val="FB6D3B">
              <a:alpha val="12000"/>
            </a:srgbClr>
          </a:solidFill>
          <a:ln w="9525">
            <a:solidFill>
              <a:srgbClr val="FB6D3B">
                <a:alpha val="35000"/>
              </a:srgbClr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4342566" y="8919270"/>
            <a:ext cx="3001854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OVAKVOG UVIDA NIKO DRUGI U REGIJI NEMA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1946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5019288" y="342900"/>
            <a:ext cx="273888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KAKO AI BIRA PROIZVOD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4058738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KATEGORIJA POKRIVA 81.5% KATALOGA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04 · KAKO AI BIRA PROIZVOD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odmah pogodi kategoriju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kojoj traži.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914400" y="2261146"/>
            <a:ext cx="10791825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Umjesto da prvo pita „šta tražiš“ pa onda pretražuje, sistem to radi u jednom potezu — brže i tačnije.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3321993"/>
            <a:ext cx="8811369" cy="1414314"/>
          </a:xfrm>
          <a:prstGeom prst="roundRect">
            <a:avLst>
              <a:gd name="adj" fmla="val 6735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1575" y="3541068"/>
            <a:ext cx="39632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625054" y="3607743"/>
            <a:ext cx="2265611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sam bira kategoriju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58473" y="3617268"/>
            <a:ext cx="1210121" cy="326678"/>
          </a:xfrm>
          <a:prstGeom prst="roundRect">
            <a:avLst>
              <a:gd name="adj" fmla="val 11663"/>
            </a:avLst>
          </a:prstGeom>
          <a:solidFill>
            <a:srgbClr val="7DD3FC">
              <a:alpha val="8000"/>
            </a:srgbClr>
          </a:solidFill>
          <a:ln w="9525">
            <a:solidFill>
              <a:srgbClr val="7DD3FC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2298" y="3683943"/>
            <a:ext cx="103867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JEDAN POZIV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71575" y="4020145"/>
            <a:ext cx="8545930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dobija spisak svih 30 kategorija. Kad korisnik napiše „</a:t>
            </a:r>
            <a:pPr algn="l" indent="0" marL="0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treba mi laptop do 2000 KM </a:t>
            </a:r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“, AI u jednom potezu bira kategoriju </a:t>
            </a:r>
            <a:pPr algn="l"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Laptopi </a:t>
            </a:r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 pokreće pretragu unutar nje.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14400" y="4907756"/>
            <a:ext cx="8811369" cy="1414314"/>
          </a:xfrm>
          <a:prstGeom prst="roundRect">
            <a:avLst>
              <a:gd name="adj" fmla="val 6735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1575" y="5126831"/>
            <a:ext cx="39632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625054" y="5193506"/>
            <a:ext cx="3046544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Bogaćenje pretrage unaprijed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7586514" y="5203031"/>
            <a:ext cx="1882080" cy="326678"/>
          </a:xfrm>
          <a:prstGeom prst="roundRect">
            <a:avLst>
              <a:gd name="adj" fmla="val 11663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10339" y="5269706"/>
            <a:ext cx="171063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JEDNOM · PRI BUILD-U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71575" y="5605909"/>
            <a:ext cx="8545930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Svakom proizvodu uz naziv dodajemo i sinonime kojima ga ljudi traže — </a:t>
            </a:r>
            <a:pPr algn="l" indent="0" marL="0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tastatura, kibord, keyboard </a:t>
            </a:r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. Pretraga ih nalazi i kad korisnik napiše drugačije.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14400" y="6493520"/>
            <a:ext cx="8811369" cy="1414314"/>
          </a:xfrm>
          <a:prstGeom prst="roundRect">
            <a:avLst>
              <a:gd name="adj" fmla="val 6735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1575" y="6712595"/>
            <a:ext cx="39632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625054" y="6779270"/>
            <a:ext cx="3518687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Rezerva ako AI promaši kategoriju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8547348" y="6788795"/>
            <a:ext cx="921246" cy="326678"/>
          </a:xfrm>
          <a:prstGeom prst="roundRect">
            <a:avLst>
              <a:gd name="adj" fmla="val 11663"/>
            </a:avLst>
          </a:prstGeom>
          <a:solidFill>
            <a:srgbClr val="FBBF24">
              <a:alpha val="8000"/>
            </a:srgbClr>
          </a:solidFill>
          <a:ln w="9525">
            <a:solidFill>
              <a:srgbClr val="FBBF24">
                <a:alpha val="3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71173" y="6855470"/>
            <a:ext cx="74979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REZERVA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71575" y="7191673"/>
            <a:ext cx="8545930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Ako AI iz nekog razloga ne pošalje kategoriju, sistem sam podigne na vrh proizvode iz prave kategorije po ključnim riječima. Korisnik nikad ne vidi pad kvaliteta.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030569" y="3321993"/>
            <a:ext cx="7342882" cy="3907185"/>
          </a:xfrm>
          <a:prstGeom prst="roundRect">
            <a:avLst>
              <a:gd name="adj" fmla="val 2925"/>
            </a:avLst>
          </a:prstGeom>
          <a:solidFill>
            <a:srgbClr val="07090C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44894" y="3626941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29" name="Shape 27"/>
          <p:cNvSpPr/>
          <p:nvPr/>
        </p:nvSpPr>
        <p:spPr>
          <a:xfrm>
            <a:off x="10506819" y="3626941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30" name="Shape 28"/>
          <p:cNvSpPr/>
          <p:nvPr/>
        </p:nvSpPr>
        <p:spPr>
          <a:xfrm>
            <a:off x="10668744" y="3626941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31" name="Text 29"/>
          <p:cNvSpPr/>
          <p:nvPr/>
        </p:nvSpPr>
        <p:spPr>
          <a:xfrm>
            <a:off x="10983069" y="3617268"/>
            <a:ext cx="27375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25" spc="116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TOOLS.PY · SEARCH_PRODUCTS SCHEMA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10344894" y="3893939"/>
            <a:ext cx="6915659" cy="354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"name"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"search_products"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,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"description"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"Pretraga kataloga. Kategorije:     98 = Laptopi · 12 = Monitori · 47 = Tastature     ... (30 ukupno) ..."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,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"input_schema"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"properties"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"query"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 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"type"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"string"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},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"category_id"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"type"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"string"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,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     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78B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"enum"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[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"98"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,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"12"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,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"47"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, ...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]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BBF2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← hard list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},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"max_price"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"type"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"number"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},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"top_k"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   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"type"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"integer"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</a:t>
            </a:r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 }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030569" y="7438727"/>
            <a:ext cx="7342882" cy="1933873"/>
          </a:xfrm>
          <a:prstGeom prst="roundRect">
            <a:avLst>
              <a:gd name="adj" fmla="val 4925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06794" y="7676852"/>
            <a:ext cx="6994145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9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REZULTAT NA TEST SETU</a:t>
            </a:r>
            <a:endParaRPr lang="en-US" sz="975" dirty="0"/>
          </a:p>
        </p:txBody>
      </p:sp>
      <p:sp>
        <p:nvSpPr>
          <p:cNvPr id="35" name="Text 33"/>
          <p:cNvSpPr/>
          <p:nvPr/>
        </p:nvSpPr>
        <p:spPr>
          <a:xfrm>
            <a:off x="10306794" y="7989689"/>
            <a:ext cx="2199977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spc="-84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41/41</a:t>
            </a:r>
            <a:endParaRPr lang="en-US" sz="4200" dirty="0"/>
          </a:p>
        </p:txBody>
      </p:sp>
      <p:sp>
        <p:nvSpPr>
          <p:cNvPr id="36" name="Text 34"/>
          <p:cNvSpPr/>
          <p:nvPr/>
        </p:nvSpPr>
        <p:spPr>
          <a:xfrm>
            <a:off x="10306794" y="8637389"/>
            <a:ext cx="219997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· 100%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2640121" y="7989689"/>
            <a:ext cx="2199977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spc="-84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34/36</a:t>
            </a:r>
            <a:endParaRPr lang="en-US" sz="4200" dirty="0"/>
          </a:p>
        </p:txBody>
      </p:sp>
      <p:sp>
        <p:nvSpPr>
          <p:cNvPr id="38" name="Text 36"/>
          <p:cNvSpPr/>
          <p:nvPr/>
        </p:nvSpPr>
        <p:spPr>
          <a:xfrm>
            <a:off x="12640121" y="8637389"/>
            <a:ext cx="219997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· 94.4%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4973449" y="7989689"/>
            <a:ext cx="2199977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spc="-84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200" dirty="0"/>
          </a:p>
        </p:txBody>
      </p:sp>
      <p:sp>
        <p:nvSpPr>
          <p:cNvPr id="40" name="Text 38"/>
          <p:cNvSpPr/>
          <p:nvPr/>
        </p:nvSpPr>
        <p:spPr>
          <a:xfrm>
            <a:off x="14973449" y="8637389"/>
            <a:ext cx="2199977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TESTOVI ZA TIPFELERE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26159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HARD-WON LESSON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4850368" y="342900"/>
            <a:ext cx="2912873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ZAŠTO SONNET, NE HAIKU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3156302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ODLUKA IZ SESIJE 7 · 22.04.2026.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05 · ZAŠTO SONNET, NE HAIKU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200" b="1" spc="-84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Prešli smo sa </a:t>
            </a:r>
            <a:pPr algn="l" indent="0" marL="0">
              <a:lnSpc>
                <a:spcPct val="104000"/>
              </a:lnSpc>
              <a:buNone/>
            </a:pPr>
            <a:r>
              <a:rPr lang="en-US" sz="4200" spc="-84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Haiku-a 4.5 </a:t>
            </a:r>
            <a:pPr algn="l" indent="0" marL="0">
              <a:lnSpc>
                <a:spcPct val="104000"/>
              </a:lnSpc>
              <a:buNone/>
            </a:pPr>
            <a:r>
              <a:rPr lang="en-US" sz="4200" b="1" spc="-84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Sonnet.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2221557"/>
            <a:ext cx="10791825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Isti zadatak, isti test — razlika je u tome </a:t>
            </a:r>
            <a:pPr algn="l" indent="0" marL="0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koliko mu možemo vjerovati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, ne u procentima na papiru.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3168104"/>
            <a:ext cx="8115300" cy="5041255"/>
          </a:xfrm>
          <a:prstGeom prst="roundRect">
            <a:avLst>
              <a:gd name="adj" fmla="val 2267"/>
            </a:avLst>
          </a:prstGeom>
          <a:solidFill>
            <a:srgbClr val="07090C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28725" y="3473053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1" name="Shape 9"/>
          <p:cNvSpPr/>
          <p:nvPr/>
        </p:nvSpPr>
        <p:spPr>
          <a:xfrm>
            <a:off x="1390650" y="3473053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2575" y="3473053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3" name="Text 11"/>
          <p:cNvSpPr/>
          <p:nvPr/>
        </p:nvSpPr>
        <p:spPr>
          <a:xfrm>
            <a:off x="1866900" y="3444329"/>
            <a:ext cx="154186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25" spc="116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2059186" y="3463379"/>
            <a:ext cx="25963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25" spc="116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HAIKU-4-5 · PRODUCTION · TURN 03–04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1228725" y="3740051"/>
            <a:ext cx="7711250" cy="42457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user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$ Imate li lapatovoe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[ no tool call · model asks for clarification ]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Možete li pojasniti? Mislite li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 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na laptop ili lapto kao dio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 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uređaja?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user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$ Laptop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[ no tool call · still ]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F8717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Nažalost, trenutno nemamo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 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F8717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dostupnih laptopa u katalogu.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⚠  HALUCINACIJA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catalog ima 50 laptopa u cat 98    Nije promptable bug — model    ne sluša pravila pouzdano.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9258300" y="3168104"/>
            <a:ext cx="8115300" cy="5041255"/>
          </a:xfrm>
          <a:prstGeom prst="roundRect">
            <a:avLst>
              <a:gd name="adj" fmla="val 2267"/>
            </a:avLst>
          </a:prstGeom>
          <a:solidFill>
            <a:srgbClr val="07090C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72625" y="3473053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8" name="Shape 16"/>
          <p:cNvSpPr/>
          <p:nvPr/>
        </p:nvSpPr>
        <p:spPr>
          <a:xfrm>
            <a:off x="9734550" y="3473053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9" name="Shape 17"/>
          <p:cNvSpPr/>
          <p:nvPr/>
        </p:nvSpPr>
        <p:spPr>
          <a:xfrm>
            <a:off x="9896475" y="3473053"/>
            <a:ext cx="104775" cy="104775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20" name="Text 18"/>
          <p:cNvSpPr/>
          <p:nvPr/>
        </p:nvSpPr>
        <p:spPr>
          <a:xfrm>
            <a:off x="10210800" y="3444329"/>
            <a:ext cx="154186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25" spc="116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10403086" y="3463379"/>
            <a:ext cx="18079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25" spc="116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SONNET-4-6 · ISTI PROMPT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9572625" y="3740051"/>
            <a:ext cx="7711250" cy="4231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user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$ Imate li lapatovoe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[ tool_use ]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A78B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search_products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(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query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=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"laptop"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,</a:t>
            </a:r>
            <a:endParaRPr lang="en-US" sz="1125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</a:t>
            </a:r>
            <a:endParaRPr lang="en-US" sz="1125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DD3FC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category_id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=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"98"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) → 5 laptopa · cijene · linkovi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Pronašao sam 5 laptopa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 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 našem katalogu. Evo top 3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    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prema cijeni i ocjeni…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✓  41/41 eval ✓  6/6 typo regression </a:t>
            </a:r>
            <a:pPr algn="l" indent="0" marL="0">
              <a:lnSpc>
                <a:spcPct val="155000"/>
              </a:lnSpc>
              <a:buNone/>
            </a:pPr>
            <a:r>
              <a:rPr lang="en-US" sz="1125" dirty="0">
                <a:solidFill>
                  <a:srgbClr val="7A818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  "lapatovoe", "lpatop", "labtop"    "laptov", "noutbuk", "ntbk"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914400" y="8399859"/>
            <a:ext cx="3466207" cy="972741"/>
          </a:xfrm>
          <a:prstGeom prst="roundRect">
            <a:avLst>
              <a:gd name="adj" fmla="val 979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95375" y="8542734"/>
            <a:ext cx="3197385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CIJENA PO PITANJU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5375" y="8746480"/>
            <a:ext cx="3197385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95375" y="9050238"/>
            <a:ext cx="3197385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viša od Haikua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4552057" y="8399859"/>
            <a:ext cx="3466207" cy="972741"/>
          </a:xfrm>
          <a:prstGeom prst="roundRect">
            <a:avLst>
              <a:gd name="adj" fmla="val 979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3032" y="8542734"/>
            <a:ext cx="3197385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BRZINA ODGOVORA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33032" y="8746480"/>
            <a:ext cx="3197385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~2×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733032" y="9050238"/>
            <a:ext cx="3197385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sporiji od Haikua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189714" y="8399859"/>
            <a:ext cx="3466356" cy="972741"/>
          </a:xfrm>
          <a:prstGeom prst="roundRect">
            <a:avLst>
              <a:gd name="adj" fmla="val 979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0689" y="8542734"/>
            <a:ext cx="319753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MJESEČNI TROŠAK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70689" y="8746480"/>
            <a:ext cx="3197538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$1.20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8370689" y="9050238"/>
            <a:ext cx="319753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na 1.000 razgovora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11827520" y="8399859"/>
            <a:ext cx="5546080" cy="972741"/>
          </a:xfrm>
          <a:prstGeom prst="roundRect">
            <a:avLst>
              <a:gd name="adj" fmla="val 9792"/>
            </a:avLst>
          </a:prstGeom>
          <a:solidFill>
            <a:srgbClr val="FB6D3B">
              <a:alpha val="12000"/>
            </a:srgbClr>
          </a:solidFill>
          <a:ln w="9525">
            <a:solidFill>
              <a:srgbClr val="FB6D3B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08495" y="8542734"/>
            <a:ext cx="5339654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ODLUKA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2008495" y="8746480"/>
            <a:ext cx="533965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Bolji odgovor je važniji od niže cijene.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Ove sedmice testiramo i druge modele — ako neki bude jednako dobar i jeftiniji, prelazimo.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1946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3943856" y="342900"/>
            <a:ext cx="384658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ŠTA JE PUKLO I ŠTA SMO POPRAVILI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5914503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AUTOMATSKA + 41 TEST PITANJE + 10 TESTOVA ZA WIDGET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06 · ŠTA JE PUKLO I ŠTA SMO POPRAVILI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problema sa demoa,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testova da se ne ponove.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914400" y="2261146"/>
            <a:ext cx="107918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Svaki red u tabeli je jedan sat live demoa koji se više ne može ponoviti.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2848719"/>
            <a:ext cx="16459200" cy="5435203"/>
          </a:xfrm>
          <a:prstGeom prst="roundRect">
            <a:avLst>
              <a:gd name="adj" fmla="val 175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2525" y="3285827"/>
            <a:ext cx="5114479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323975" y="3029694"/>
            <a:ext cx="4925013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NA DEMOU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67004" y="3285827"/>
            <a:ext cx="5753844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438454" y="3029694"/>
            <a:ext cx="5583559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SMO URADILI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020848" y="3285827"/>
            <a:ext cx="2876848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2192298" y="3029694"/>
            <a:ext cx="2620253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4897695" y="3285827"/>
            <a:ext cx="223778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069145" y="3029694"/>
            <a:ext cx="1971080" cy="198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152525" y="3974306"/>
            <a:ext cx="5114479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1323975" y="3400127"/>
            <a:ext cx="492501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čita cijenu 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"1.936 KM" 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kao 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"jedna marka"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6267004" y="3974306"/>
            <a:ext cx="5753844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438454" y="3400127"/>
            <a:ext cx="5583559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Posebno pravilo za čitanje brojeva na našem jeziku — tačka se ne čita, hiljade idu kako treba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12020848" y="3974306"/>
            <a:ext cx="2876848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2192298" y="3400127"/>
            <a:ext cx="262025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primjera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4897695" y="3974306"/>
            <a:ext cx="223778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5069145" y="3404890"/>
            <a:ext cx="978545" cy="326678"/>
          </a:xfrm>
          <a:prstGeom prst="roundRect">
            <a:avLst>
              <a:gd name="adj" fmla="val 11663"/>
            </a:avLst>
          </a:prstGeom>
          <a:solidFill>
            <a:srgbClr val="4ADE80">
              <a:alpha val="8000"/>
            </a:srgbClr>
          </a:solidFill>
          <a:ln w="9525">
            <a:solidFill>
              <a:srgbClr val="4ADE80">
                <a:alpha val="3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192970" y="3471565"/>
            <a:ext cx="80709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RIJEŠENO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152525" y="4520059"/>
            <a:ext cx="5114479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323975" y="4088606"/>
            <a:ext cx="4925013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Tehničke oznake (npr. 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&lt;voice&gt;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) prikazuju se korisniku</a:t>
            </a:r>
            <a:endParaRPr lang="en-US" sz="1275" dirty="0"/>
          </a:p>
        </p:txBody>
      </p:sp>
      <p:sp>
        <p:nvSpPr>
          <p:cNvPr id="29" name="Shape 27"/>
          <p:cNvSpPr/>
          <p:nvPr/>
        </p:nvSpPr>
        <p:spPr>
          <a:xfrm>
            <a:off x="6267004" y="4520059"/>
            <a:ext cx="5753844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38454" y="4088606"/>
            <a:ext cx="5583559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Čišćenje na dva mjesta — i u backendu i u widgetu, da nikad ne procuri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12020848" y="4520059"/>
            <a:ext cx="2876848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2192298" y="4088606"/>
            <a:ext cx="2620253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testova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4897695" y="4520059"/>
            <a:ext cx="223778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5069145" y="4093369"/>
            <a:ext cx="978545" cy="326678"/>
          </a:xfrm>
          <a:prstGeom prst="roundRect">
            <a:avLst>
              <a:gd name="adj" fmla="val 11663"/>
            </a:avLst>
          </a:prstGeom>
          <a:solidFill>
            <a:srgbClr val="4ADE80">
              <a:alpha val="8000"/>
            </a:srgbClr>
          </a:solidFill>
          <a:ln w="9525">
            <a:solidFill>
              <a:srgbClr val="4ADE80">
                <a:alpha val="3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5192970" y="4160044"/>
            <a:ext cx="80709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RIJEŠENO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52525" y="5065812"/>
            <a:ext cx="5114479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1323975" y="4634359"/>
            <a:ext cx="4925013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Tabele se prikazuju kao niz 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crta</a:t>
            </a:r>
            <a:endParaRPr lang="en-US" sz="1275" dirty="0"/>
          </a:p>
        </p:txBody>
      </p:sp>
      <p:sp>
        <p:nvSpPr>
          <p:cNvPr id="38" name="Shape 36"/>
          <p:cNvSpPr/>
          <p:nvPr/>
        </p:nvSpPr>
        <p:spPr>
          <a:xfrm>
            <a:off x="6267004" y="5065812"/>
            <a:ext cx="5753844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438454" y="4634359"/>
            <a:ext cx="5583559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više ne piše tabele, nego daje listu — čita se i u chatu i naglas</a:t>
            </a:r>
            <a:endParaRPr lang="en-US" sz="1275" dirty="0"/>
          </a:p>
        </p:txBody>
      </p:sp>
      <p:sp>
        <p:nvSpPr>
          <p:cNvPr id="40" name="Shape 38"/>
          <p:cNvSpPr/>
          <p:nvPr/>
        </p:nvSpPr>
        <p:spPr>
          <a:xfrm>
            <a:off x="12020848" y="5065812"/>
            <a:ext cx="2876848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2192298" y="4634359"/>
            <a:ext cx="2620253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testa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4897695" y="5065812"/>
            <a:ext cx="223778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069145" y="4639121"/>
            <a:ext cx="978545" cy="326678"/>
          </a:xfrm>
          <a:prstGeom prst="roundRect">
            <a:avLst>
              <a:gd name="adj" fmla="val 11663"/>
            </a:avLst>
          </a:prstGeom>
          <a:solidFill>
            <a:srgbClr val="4ADE80">
              <a:alpha val="8000"/>
            </a:srgbClr>
          </a:solidFill>
          <a:ln w="9525">
            <a:solidFill>
              <a:srgbClr val="4ADE80">
                <a:alpha val="3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5192970" y="4705796"/>
            <a:ext cx="80709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RIJEŠENO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152525" y="5754291"/>
            <a:ext cx="5114479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1323975" y="5180112"/>
            <a:ext cx="492501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Slika ne učitava za 7.2% kataloga</a:t>
            </a:r>
            <a:endParaRPr lang="en-US" sz="1275" dirty="0"/>
          </a:p>
        </p:txBody>
      </p:sp>
      <p:sp>
        <p:nvSpPr>
          <p:cNvPr id="47" name="Shape 45"/>
          <p:cNvSpPr/>
          <p:nvPr/>
        </p:nvSpPr>
        <p:spPr>
          <a:xfrm>
            <a:off x="6267004" y="5754291"/>
            <a:ext cx="5753844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438454" y="5180112"/>
            <a:ext cx="5583559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Skripta koja popisuje proizvode bez slike + AI ih ne preporučuje dok se ne sredi</a:t>
            </a:r>
            <a:endParaRPr lang="en-US" sz="1275" dirty="0"/>
          </a:p>
        </p:txBody>
      </p:sp>
      <p:sp>
        <p:nvSpPr>
          <p:cNvPr id="49" name="Shape 47"/>
          <p:cNvSpPr/>
          <p:nvPr/>
        </p:nvSpPr>
        <p:spPr>
          <a:xfrm>
            <a:off x="12020848" y="5754291"/>
            <a:ext cx="2876848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12192298" y="5180112"/>
            <a:ext cx="262025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testova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14897695" y="5754291"/>
            <a:ext cx="223778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5069145" y="5184874"/>
            <a:ext cx="978545" cy="326678"/>
          </a:xfrm>
          <a:prstGeom prst="roundRect">
            <a:avLst>
              <a:gd name="adj" fmla="val 11663"/>
            </a:avLst>
          </a:prstGeom>
          <a:solidFill>
            <a:srgbClr val="4ADE80">
              <a:alpha val="8000"/>
            </a:srgbClr>
          </a:solidFill>
          <a:ln w="9525">
            <a:solidFill>
              <a:srgbClr val="4ADE80">
                <a:alpha val="3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5192970" y="5251549"/>
            <a:ext cx="80709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RIJEŠENO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152525" y="6442770"/>
            <a:ext cx="5114479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323975" y="5868591"/>
            <a:ext cx="492501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tvrdi 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F8717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„Prodajni tim je obaviješten“ </a:t>
            </a:r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 u stvarnosti niko ništa nije dobio</a:t>
            </a:r>
            <a:endParaRPr lang="en-US" sz="1275" dirty="0"/>
          </a:p>
        </p:txBody>
      </p:sp>
      <p:sp>
        <p:nvSpPr>
          <p:cNvPr id="56" name="Shape 54"/>
          <p:cNvSpPr/>
          <p:nvPr/>
        </p:nvSpPr>
        <p:spPr>
          <a:xfrm>
            <a:off x="6267004" y="6442770"/>
            <a:ext cx="5753844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6438454" y="5868591"/>
            <a:ext cx="5583559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Sad zaista šalje email — ili pošteno kaže korisniku da to ne može uraditi</a:t>
            </a:r>
            <a:endParaRPr lang="en-US" sz="1275" dirty="0"/>
          </a:p>
        </p:txBody>
      </p:sp>
      <p:sp>
        <p:nvSpPr>
          <p:cNvPr id="58" name="Shape 56"/>
          <p:cNvSpPr/>
          <p:nvPr/>
        </p:nvSpPr>
        <p:spPr>
          <a:xfrm>
            <a:off x="12020848" y="6442770"/>
            <a:ext cx="2876848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2192298" y="5868591"/>
            <a:ext cx="262025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ručno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14897695" y="6442770"/>
            <a:ext cx="223778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5069145" y="5873353"/>
            <a:ext cx="1246584" cy="326678"/>
          </a:xfrm>
          <a:prstGeom prst="roundRect">
            <a:avLst>
              <a:gd name="adj" fmla="val 11663"/>
            </a:avLst>
          </a:prstGeom>
          <a:solidFill>
            <a:srgbClr val="FBBF24">
              <a:alpha val="8000"/>
            </a:srgbClr>
          </a:solidFill>
          <a:ln w="9525">
            <a:solidFill>
              <a:srgbClr val="FBBF24">
                <a:alpha val="3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5192970" y="5940028"/>
            <a:ext cx="1075134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PROVJERENO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152525" y="7131248"/>
            <a:ext cx="5114479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1323975" y="6557070"/>
            <a:ext cx="492501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Sistem padne kad se potroši kredit kod AI provajdera</a:t>
            </a:r>
            <a:endParaRPr lang="en-US" sz="1275" dirty="0"/>
          </a:p>
        </p:txBody>
      </p:sp>
      <p:sp>
        <p:nvSpPr>
          <p:cNvPr id="65" name="Shape 63"/>
          <p:cNvSpPr/>
          <p:nvPr/>
        </p:nvSpPr>
        <p:spPr>
          <a:xfrm>
            <a:off x="6267004" y="7131248"/>
            <a:ext cx="5753844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6438454" y="6557070"/>
            <a:ext cx="5583559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Korisnik dobije ljudsku poruku, ne tehničku grešku; nas obavještava dashboard</a:t>
            </a:r>
            <a:endParaRPr lang="en-US" sz="1275" dirty="0"/>
          </a:p>
        </p:txBody>
      </p:sp>
      <p:sp>
        <p:nvSpPr>
          <p:cNvPr id="67" name="Shape 65"/>
          <p:cNvSpPr/>
          <p:nvPr/>
        </p:nvSpPr>
        <p:spPr>
          <a:xfrm>
            <a:off x="12020848" y="7131248"/>
            <a:ext cx="2876848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12192298" y="6557070"/>
            <a:ext cx="2620253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ručno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14897695" y="7131248"/>
            <a:ext cx="223778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5069145" y="6561832"/>
            <a:ext cx="1246584" cy="326678"/>
          </a:xfrm>
          <a:prstGeom prst="roundRect">
            <a:avLst>
              <a:gd name="adj" fmla="val 11663"/>
            </a:avLst>
          </a:prstGeom>
          <a:solidFill>
            <a:srgbClr val="FBBF24">
              <a:alpha val="8000"/>
            </a:srgbClr>
          </a:solidFill>
          <a:ln w="9525">
            <a:solidFill>
              <a:srgbClr val="FBBF24">
                <a:alpha val="3000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5192970" y="6628507"/>
            <a:ext cx="1075134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PROVJERENO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914400" y="8455372"/>
            <a:ext cx="3986213" cy="917228"/>
          </a:xfrm>
          <a:prstGeom prst="roundRect">
            <a:avLst>
              <a:gd name="adj" fmla="val 10385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95375" y="8579197"/>
            <a:ext cx="373299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spc="-57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2850" dirty="0"/>
          </a:p>
        </p:txBody>
      </p:sp>
      <p:sp>
        <p:nvSpPr>
          <p:cNvPr id="74" name="Text 72"/>
          <p:cNvSpPr/>
          <p:nvPr/>
        </p:nvSpPr>
        <p:spPr>
          <a:xfrm>
            <a:off x="1095375" y="9055447"/>
            <a:ext cx="373299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84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AUTOMATSKI TESTOVI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5072063" y="8455372"/>
            <a:ext cx="3986213" cy="917228"/>
          </a:xfrm>
          <a:prstGeom prst="roundRect">
            <a:avLst>
              <a:gd name="adj" fmla="val 10385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253038" y="8579197"/>
            <a:ext cx="373299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spc="-57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2850" dirty="0"/>
          </a:p>
        </p:txBody>
      </p:sp>
      <p:sp>
        <p:nvSpPr>
          <p:cNvPr id="77" name="Text 75"/>
          <p:cNvSpPr/>
          <p:nvPr/>
        </p:nvSpPr>
        <p:spPr>
          <a:xfrm>
            <a:off x="5253038" y="9055447"/>
            <a:ext cx="373299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84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PITANJA U TEST SETU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9229725" y="8455372"/>
            <a:ext cx="3986213" cy="917228"/>
          </a:xfrm>
          <a:prstGeom prst="roundRect">
            <a:avLst>
              <a:gd name="adj" fmla="val 10385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410700" y="8579197"/>
            <a:ext cx="373299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spc="-57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50" dirty="0"/>
          </a:p>
        </p:txBody>
      </p:sp>
      <p:sp>
        <p:nvSpPr>
          <p:cNvPr id="80" name="Text 78"/>
          <p:cNvSpPr/>
          <p:nvPr/>
        </p:nvSpPr>
        <p:spPr>
          <a:xfrm>
            <a:off x="9410700" y="9055447"/>
            <a:ext cx="373299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84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TESTOVA ZA WIDGET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13387388" y="8455372"/>
            <a:ext cx="3986213" cy="917228"/>
          </a:xfrm>
          <a:prstGeom prst="roundRect">
            <a:avLst>
              <a:gd name="adj" fmla="val 10385"/>
            </a:avLst>
          </a:prstGeom>
          <a:solidFill>
            <a:srgbClr val="161A22"/>
          </a:solidFill>
          <a:ln w="9525">
            <a:solidFill>
              <a:srgbClr val="FB6D3B">
                <a:alpha val="4000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3568363" y="8579197"/>
            <a:ext cx="373299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spc="-57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2850" dirty="0"/>
          </a:p>
        </p:txBody>
      </p:sp>
      <p:sp>
        <p:nvSpPr>
          <p:cNvPr id="83" name="Text 81"/>
          <p:cNvSpPr/>
          <p:nvPr/>
        </p:nvSpPr>
        <p:spPr>
          <a:xfrm>
            <a:off x="13568363" y="9055447"/>
            <a:ext cx="373299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84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UKUPNO · PROLAZI PRIJE SVAKOG DEPLOYA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1946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4685318" y="342900"/>
            <a:ext cx="308287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POREĐENJE MODELA UŽIVO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777486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ISTO PITANJE, VIŠE MODELA PARALELNO — VIDIŠ KO JE BRŽI, TAČNIJI I JEFTINIJI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07 · POREĐENJE MODELA UŽIVO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 biramo na osnovu rezultata, ne osjećaja.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914400" y="2261146"/>
            <a:ext cx="10791825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Upišeš pitanje, izabereš dva ili više modela — sistem ih pokreće paralelno i pokazuje brzinu, cijenu i odgovor jedan pored drugog.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3283893"/>
            <a:ext cx="16459200" cy="6088707"/>
          </a:xfrm>
          <a:prstGeom prst="roundRect">
            <a:avLst>
              <a:gd name="adj" fmla="val 1564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  <a:effectLst>
            <a:outerShdw sx="100000" sy="100000" kx="0" ky="0" algn="bl" rotWithShape="0" blurRad="762000" dist="285750" dir="5400000">
              <a:srgbClr val="000000">
                <a:alpha val="6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23925" y="3293418"/>
            <a:ext cx="16440150" cy="403771"/>
          </a:xfrm>
          <a:prstGeom prst="rect">
            <a:avLst/>
          </a:prstGeom>
          <a:solidFill>
            <a:srgbClr val="1D222C"/>
          </a:solidFill>
          <a:ln/>
        </p:spPr>
      </p:sp>
      <p:sp>
        <p:nvSpPr>
          <p:cNvPr id="11" name="Shape 9"/>
          <p:cNvSpPr/>
          <p:nvPr/>
        </p:nvSpPr>
        <p:spPr>
          <a:xfrm>
            <a:off x="923925" y="3687663"/>
            <a:ext cx="164401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76325" y="3433316"/>
            <a:ext cx="114300" cy="114300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57300" y="3433316"/>
            <a:ext cx="114300" cy="114300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38275" y="3433316"/>
            <a:ext cx="114300" cy="114300"/>
          </a:xfrm>
          <a:prstGeom prst="ellipse">
            <a:avLst/>
          </a:prstGeom>
          <a:solidFill>
            <a:srgbClr val="2A2F3A"/>
          </a:solidFill>
          <a:ln/>
        </p:spPr>
      </p:sp>
      <p:sp>
        <p:nvSpPr>
          <p:cNvPr id="15" name="Text 13"/>
          <p:cNvSpPr/>
          <p:nvPr/>
        </p:nvSpPr>
        <p:spPr>
          <a:xfrm>
            <a:off x="1435865" y="3407718"/>
            <a:ext cx="14554554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900" spc="36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ai.bitlab.rs/admin/compare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873710" y="3407718"/>
            <a:ext cx="1414165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36" kern="0" dirty="0">
                <a:solidFill>
                  <a:srgbClr val="7A818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modela rade paralelno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23925" y="4442966"/>
            <a:ext cx="164401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152525" y="3980259"/>
            <a:ext cx="66288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9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PITANJE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1891605" y="3868638"/>
            <a:ext cx="12666911" cy="402878"/>
          </a:xfrm>
          <a:prstGeom prst="roundRect">
            <a:avLst>
              <a:gd name="adj" fmla="val 14185"/>
            </a:avLst>
          </a:prstGeom>
          <a:solidFill>
            <a:srgbClr val="1D222C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34480" y="3973413"/>
            <a:ext cx="12761168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imate li tastaturu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4710916" y="3906738"/>
            <a:ext cx="1200299" cy="326678"/>
          </a:xfrm>
          <a:prstGeom prst="roundRect">
            <a:avLst>
              <a:gd name="adj" fmla="val 11663"/>
            </a:avLst>
          </a:prstGeom>
          <a:solidFill>
            <a:srgbClr val="7DD3FC">
              <a:alpha val="8000"/>
            </a:srgbClr>
          </a:solidFill>
          <a:ln w="9525">
            <a:solidFill>
              <a:srgbClr val="7DD3FC">
                <a:alpha val="3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834741" y="3973413"/>
            <a:ext cx="1028849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KANAL: CHAT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6063615" y="3906738"/>
            <a:ext cx="1071860" cy="326678"/>
          </a:xfrm>
          <a:prstGeom prst="roundRect">
            <a:avLst>
              <a:gd name="adj" fmla="val 11663"/>
            </a:avLst>
          </a:prstGeom>
          <a:solidFill>
            <a:srgbClr val="FB6D3B">
              <a:alpha val="12000"/>
            </a:srgbClr>
          </a:solidFill>
          <a:ln w="9525">
            <a:solidFill>
              <a:srgbClr val="FB6D3B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187440" y="3973413"/>
            <a:ext cx="90041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POKRENI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34475" y="4452491"/>
            <a:ext cx="9525" cy="4441031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1190625" y="4719191"/>
            <a:ext cx="168325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16100" y="4662041"/>
            <a:ext cx="996404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Haiku 4.5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2469654" y="4757291"/>
            <a:ext cx="764828" cy="195263"/>
          </a:xfrm>
          <a:prstGeom prst="roundRect">
            <a:avLst>
              <a:gd name="adj" fmla="val 19512"/>
            </a:avLst>
          </a:prstGeom>
          <a:solidFill>
            <a:srgbClr val="161A22"/>
          </a:solidFill>
          <a:ln w="9525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45854" y="4785866"/>
            <a:ext cx="688628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447782" y="4757291"/>
            <a:ext cx="49619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OK</a:t>
            </a:r>
            <a:endParaRPr lang="en-US" sz="975" dirty="0"/>
          </a:p>
        </p:txBody>
      </p:sp>
      <p:sp>
        <p:nvSpPr>
          <p:cNvPr id="31" name="Text 29"/>
          <p:cNvSpPr/>
          <p:nvPr/>
        </p:nvSpPr>
        <p:spPr>
          <a:xfrm>
            <a:off x="1190625" y="5137249"/>
            <a:ext cx="18954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6.5s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190625" y="5518249"/>
            <a:ext cx="189547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BRZINA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143250" y="5137249"/>
            <a:ext cx="18954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↓9.4k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3143250" y="5518249"/>
            <a:ext cx="189547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UŠLO RIJEČI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095875" y="5137249"/>
            <a:ext cx="18954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↑215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5095875" y="5518249"/>
            <a:ext cx="189547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IZAŠLO RIJEČI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7048500" y="5137249"/>
            <a:ext cx="18954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$0.0105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048500" y="5518249"/>
            <a:ext cx="189547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CIJENA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1190625" y="5938242"/>
            <a:ext cx="7677150" cy="606623"/>
          </a:xfrm>
          <a:prstGeom prst="roundRect">
            <a:avLst>
              <a:gd name="adj" fmla="val 6281"/>
            </a:avLst>
          </a:prstGeom>
          <a:solidFill>
            <a:srgbClr val="1D222C"/>
          </a:solidFill>
          <a:ln/>
        </p:spPr>
      </p:sp>
      <p:sp>
        <p:nvSpPr>
          <p:cNvPr id="40" name="Shape 38"/>
          <p:cNvSpPr/>
          <p:nvPr/>
        </p:nvSpPr>
        <p:spPr>
          <a:xfrm>
            <a:off x="1190625" y="6535341"/>
            <a:ext cx="76771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90625" y="5938242"/>
            <a:ext cx="76771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90625" y="5938242"/>
            <a:ext cx="19050" cy="606623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3" name="Shape 41"/>
          <p:cNvSpPr/>
          <p:nvPr/>
        </p:nvSpPr>
        <p:spPr>
          <a:xfrm>
            <a:off x="8858250" y="5938242"/>
            <a:ext cx="9525" cy="606623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1343025" y="6043017"/>
            <a:ext cx="760333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AI je provjerio katalog — 1 poziv</a:t>
            </a:r>
            <a:endParaRPr lang="en-US" sz="975" dirty="0"/>
          </a:p>
        </p:txBody>
      </p:sp>
      <p:sp>
        <p:nvSpPr>
          <p:cNvPr id="45" name="Text 43"/>
          <p:cNvSpPr/>
          <p:nvPr/>
        </p:nvSpPr>
        <p:spPr>
          <a:xfrm>
            <a:off x="1343025" y="6260604"/>
            <a:ext cx="760333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pretraga(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"tastatura"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975" dirty="0"/>
          </a:p>
        </p:txBody>
      </p:sp>
      <p:sp>
        <p:nvSpPr>
          <p:cNvPr id="46" name="Text 44"/>
          <p:cNvSpPr/>
          <p:nvPr/>
        </p:nvSpPr>
        <p:spPr>
          <a:xfrm>
            <a:off x="1190625" y="6716316"/>
            <a:ext cx="7907465" cy="2005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"Imamo 14 tastatura na zalihama. Evo 5 najpopularnijih po cijeni…"</a:t>
            </a:r>
            <a:endParaRPr lang="en-US" sz="1125" dirty="0"/>
          </a:p>
        </p:txBody>
      </p:sp>
      <p:sp>
        <p:nvSpPr>
          <p:cNvPr id="47" name="Text 45"/>
          <p:cNvSpPr/>
          <p:nvPr/>
        </p:nvSpPr>
        <p:spPr>
          <a:xfrm>
            <a:off x="9410700" y="4719191"/>
            <a:ext cx="168325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636175" y="4662041"/>
            <a:ext cx="1135856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Sonnet 4.6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0829181" y="4757291"/>
            <a:ext cx="1136154" cy="195263"/>
          </a:xfrm>
          <a:prstGeom prst="roundRect">
            <a:avLst>
              <a:gd name="adj" fmla="val 19512"/>
            </a:avLst>
          </a:prstGeom>
          <a:solidFill>
            <a:srgbClr val="FB6D3B">
              <a:alpha val="12000"/>
            </a:srgbClr>
          </a:solidFill>
          <a:ln w="9525">
            <a:solidFill>
              <a:srgbClr val="FB6D3B">
                <a:alpha val="35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905381" y="4785866"/>
            <a:ext cx="1059954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45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PODRAZUMIJEVANI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6677382" y="4757291"/>
            <a:ext cx="496193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OK</a:t>
            </a:r>
            <a:endParaRPr lang="en-US" sz="975" dirty="0"/>
          </a:p>
        </p:txBody>
      </p:sp>
      <p:sp>
        <p:nvSpPr>
          <p:cNvPr id="52" name="Text 50"/>
          <p:cNvSpPr/>
          <p:nvPr/>
        </p:nvSpPr>
        <p:spPr>
          <a:xfrm>
            <a:off x="9410700" y="5137249"/>
            <a:ext cx="18978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17.0s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9410700" y="5518249"/>
            <a:ext cx="189785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BRZINA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11365706" y="5137249"/>
            <a:ext cx="18978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↓13.8k</a:t>
            </a:r>
            <a:endParaRPr lang="en-US" sz="2100" dirty="0"/>
          </a:p>
        </p:txBody>
      </p:sp>
      <p:sp>
        <p:nvSpPr>
          <p:cNvPr id="55" name="Text 53"/>
          <p:cNvSpPr/>
          <p:nvPr/>
        </p:nvSpPr>
        <p:spPr>
          <a:xfrm>
            <a:off x="11365706" y="5518249"/>
            <a:ext cx="189785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UŠLO RIJEČI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13320713" y="5137249"/>
            <a:ext cx="18978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↑257</a:t>
            </a:r>
            <a:endParaRPr lang="en-US" sz="2100" dirty="0"/>
          </a:p>
        </p:txBody>
      </p:sp>
      <p:sp>
        <p:nvSpPr>
          <p:cNvPr id="57" name="Text 55"/>
          <p:cNvSpPr/>
          <p:nvPr/>
        </p:nvSpPr>
        <p:spPr>
          <a:xfrm>
            <a:off x="13320713" y="5518249"/>
            <a:ext cx="189785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IZAŠLO RIJEČI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15275719" y="5137249"/>
            <a:ext cx="18978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spc="-42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$0.0454</a:t>
            </a:r>
            <a:endParaRPr lang="en-US" sz="2100" dirty="0"/>
          </a:p>
        </p:txBody>
      </p:sp>
      <p:sp>
        <p:nvSpPr>
          <p:cNvPr id="59" name="Text 57"/>
          <p:cNvSpPr/>
          <p:nvPr/>
        </p:nvSpPr>
        <p:spPr>
          <a:xfrm>
            <a:off x="15275719" y="5518249"/>
            <a:ext cx="189785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CIJENA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9410700" y="5938242"/>
            <a:ext cx="7686675" cy="786110"/>
          </a:xfrm>
          <a:prstGeom prst="roundRect">
            <a:avLst>
              <a:gd name="adj" fmla="val 4847"/>
            </a:avLst>
          </a:prstGeom>
          <a:solidFill>
            <a:srgbClr val="1D222C"/>
          </a:solidFill>
          <a:ln/>
        </p:spPr>
      </p:sp>
      <p:sp>
        <p:nvSpPr>
          <p:cNvPr id="61" name="Shape 59"/>
          <p:cNvSpPr/>
          <p:nvPr/>
        </p:nvSpPr>
        <p:spPr>
          <a:xfrm>
            <a:off x="9410700" y="6714827"/>
            <a:ext cx="7686675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10700" y="5938242"/>
            <a:ext cx="7686675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10700" y="5938242"/>
            <a:ext cx="19050" cy="78611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64" name="Shape 62"/>
          <p:cNvSpPr/>
          <p:nvPr/>
        </p:nvSpPr>
        <p:spPr>
          <a:xfrm>
            <a:off x="17087850" y="5938242"/>
            <a:ext cx="9525" cy="78611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9563100" y="6043017"/>
            <a:ext cx="761314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AI je provjerio katalog — 2 poziva (pokušaj + dodatno suzio)</a:t>
            </a:r>
            <a:endParaRPr lang="en-US" sz="975" dirty="0"/>
          </a:p>
        </p:txBody>
      </p:sp>
      <p:sp>
        <p:nvSpPr>
          <p:cNvPr id="66" name="Text 64"/>
          <p:cNvSpPr/>
          <p:nvPr/>
        </p:nvSpPr>
        <p:spPr>
          <a:xfrm>
            <a:off x="9563100" y="6260604"/>
            <a:ext cx="761314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pretraga(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"tastatura"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kategorija=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"Tastature"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975" dirty="0"/>
          </a:p>
        </p:txBody>
      </p:sp>
      <p:sp>
        <p:nvSpPr>
          <p:cNvPr id="67" name="Text 65"/>
          <p:cNvSpPr/>
          <p:nvPr/>
        </p:nvSpPr>
        <p:spPr>
          <a:xfrm>
            <a:off x="9563100" y="6440091"/>
            <a:ext cx="761314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pretraga(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"mehanička tastatura"</a:t>
            </a:r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...)</a:t>
            </a:r>
            <a:endParaRPr lang="en-US" sz="975" dirty="0"/>
          </a:p>
        </p:txBody>
      </p:sp>
      <p:sp>
        <p:nvSpPr>
          <p:cNvPr id="68" name="Text 66"/>
          <p:cNvSpPr/>
          <p:nvPr/>
        </p:nvSpPr>
        <p:spPr>
          <a:xfrm>
            <a:off x="9410700" y="6895802"/>
            <a:ext cx="7917275" cy="182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"Pronašao sam 14 tastatura, od kojih 6 mehaničkih. Trebate li za gaming, office ili putovanje?"</a:t>
            </a:r>
            <a:endParaRPr lang="en-US" sz="1125" dirty="0"/>
          </a:p>
        </p:txBody>
      </p:sp>
      <p:sp>
        <p:nvSpPr>
          <p:cNvPr id="69" name="Shape 67"/>
          <p:cNvSpPr/>
          <p:nvPr/>
        </p:nvSpPr>
        <p:spPr>
          <a:xfrm>
            <a:off x="923925" y="8893522"/>
            <a:ext cx="16440150" cy="469553"/>
          </a:xfrm>
          <a:prstGeom prst="rect">
            <a:avLst/>
          </a:prstGeom>
          <a:solidFill>
            <a:srgbClr val="1D222C"/>
          </a:solidFill>
          <a:ln/>
        </p:spPr>
      </p:sp>
      <p:sp>
        <p:nvSpPr>
          <p:cNvPr id="70" name="Shape 68"/>
          <p:cNvSpPr/>
          <p:nvPr/>
        </p:nvSpPr>
        <p:spPr>
          <a:xfrm>
            <a:off x="923925" y="8893522"/>
            <a:ext cx="164401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190625" y="9036397"/>
            <a:ext cx="20955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1495425" y="9055447"/>
            <a:ext cx="5220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Dodavanje novog modela je unos u tabelu — ne treba dirati kod, ne treba novi deploy.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15466368" y="9036397"/>
            <a:ext cx="1707207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posljednji test · 29.04.2026.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1946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5685145" y="342900"/>
            <a:ext cx="206945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STACK &amp; DEPLOY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37081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DEPLOY.MD · 8 KOMANDI CHEATSHEET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08 · TEHNOLOGIJE I DEPLOY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200" b="1" spc="-84" kern="0" dirty="0">
                <a:solidFill>
                  <a:srgbClr val="1417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i kako puštamo u rad.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2221557"/>
            <a:ext cx="10791825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Standardne, dosadne stvari (na dobar način). Svaki release ide u svoj folder — prebacivanje između verzija je trenutno i bez prekida.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3168104"/>
            <a:ext cx="8115300" cy="2845445"/>
          </a:xfrm>
          <a:prstGeom prst="roundRect">
            <a:avLst>
              <a:gd name="adj" fmla="val 3347"/>
            </a:avLst>
          </a:prstGeom>
          <a:solidFill>
            <a:srgbClr val="FFFFFF"/>
          </a:solidFill>
          <a:ln w="9525">
            <a:solidFill>
              <a:srgbClr val="E8E6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525" y="3349079"/>
            <a:ext cx="7868221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(SISTEM KOJI MISLI)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152525" y="3956596"/>
            <a:ext cx="76390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12" name="Text 10"/>
          <p:cNvSpPr/>
          <p:nvPr/>
        </p:nvSpPr>
        <p:spPr>
          <a:xfrm>
            <a:off x="1152525" y="3714750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1590675" y="3667125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Python + FastAPI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standardna i provjerena kombinacija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52525" y="4331791"/>
            <a:ext cx="76390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15" name="Text 13"/>
          <p:cNvSpPr/>
          <p:nvPr/>
        </p:nvSpPr>
        <p:spPr>
          <a:xfrm>
            <a:off x="1152525" y="4089946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1590675" y="4042321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Lokalna baza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sve poruke i troškovi se zapisuju, možemo se vratiti na bilo koji razgovor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52525" y="4706987"/>
            <a:ext cx="76390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18" name="Text 16"/>
          <p:cNvSpPr/>
          <p:nvPr/>
        </p:nvSpPr>
        <p:spPr>
          <a:xfrm>
            <a:off x="1152525" y="4465141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1590675" y="4417516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Sonnet 4.6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kao podrazumijevani AI — možemo prebaciti na drugi bez promjene koda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52525" y="5082183"/>
            <a:ext cx="76390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21" name="Text 19"/>
          <p:cNvSpPr/>
          <p:nvPr/>
        </p:nvSpPr>
        <p:spPr>
          <a:xfrm>
            <a:off x="1152525" y="4840337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1590675" y="4792712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Razumijevanje našeg jezika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radi lokalno na našem serveru — niko spolja ne plaća i ne vidi katalog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52525" y="5457379"/>
            <a:ext cx="76390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525" y="5215533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1590675" y="5167908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Govor (AI čita naglas)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Azure, sa rezervnim besplatnim sistemom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52525" y="5590729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1590675" y="5543104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Slušanje (glas u tekst)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Groq Whisper, sa dvije rezerve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6184999"/>
            <a:ext cx="8115300" cy="1719858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 w="9525">
            <a:solidFill>
              <a:srgbClr val="E8E6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52525" y="6365974"/>
            <a:ext cx="7868221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(ŠTO MI KORISTIMO)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52525" y="6973491"/>
            <a:ext cx="76390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31" name="Text 29"/>
          <p:cNvSpPr/>
          <p:nvPr/>
        </p:nvSpPr>
        <p:spPr>
          <a:xfrm>
            <a:off x="1152525" y="6731645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1590675" y="6684020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React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industrijski standard za moderne dashboarde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52525" y="7348686"/>
            <a:ext cx="76390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34" name="Text 32"/>
          <p:cNvSpPr/>
          <p:nvPr/>
        </p:nvSpPr>
        <p:spPr>
          <a:xfrm>
            <a:off x="1152525" y="7106841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1590675" y="7059216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7 stranica · prijava preko tokena · podaci se sami osvježavaju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52525" y="7482036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25" dirty="0"/>
          </a:p>
        </p:txBody>
      </p:sp>
      <p:sp>
        <p:nvSpPr>
          <p:cNvPr id="37" name="Text 35"/>
          <p:cNvSpPr/>
          <p:nvPr/>
        </p:nvSpPr>
        <p:spPr>
          <a:xfrm>
            <a:off x="1590675" y="7434411"/>
            <a:ext cx="741692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Cijeli dashboard se učita kao jedna mala stranica — brzo i bez čekanja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258300" y="3168104"/>
            <a:ext cx="8115300" cy="5057775"/>
          </a:xfrm>
          <a:prstGeom prst="roundRect">
            <a:avLst>
              <a:gd name="adj" fmla="val 1883"/>
            </a:avLst>
          </a:prstGeom>
          <a:solidFill>
            <a:srgbClr val="0B0D10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15475" y="3368129"/>
            <a:ext cx="7828979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KAKO PUŠTAMO NOVE VERZIJE — BEZ PREKIDA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515475" y="3629025"/>
            <a:ext cx="7828979" cy="4434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/srv/aiasistent/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├──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├──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2026-04-22T08-12-04Z/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├──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2026-04-26T11-04-09Z/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└──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2026-04-29T17-22-41Z/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← latest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├──  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└──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    ├── aiasistent.db · logs/ · .env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└──  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───→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releases/2026-04-29T17-22-41Z/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atomic ln -sfn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memory limit 1.5 GB · restart on-failure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/admin/  → static dist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· /api/    → proxy 127.0.0.1:8000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258300" y="8397329"/>
            <a:ext cx="8115300" cy="975271"/>
          </a:xfrm>
          <a:prstGeom prst="roundRect">
            <a:avLst>
              <a:gd name="adj" fmla="val 9767"/>
            </a:avLst>
          </a:prstGeom>
          <a:solidFill>
            <a:srgbClr val="FFFFFF"/>
          </a:solidFill>
          <a:ln w="9525">
            <a:solidFill>
              <a:srgbClr val="E8E6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96425" y="8559254"/>
            <a:ext cx="7868221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ZNAČI UPDATE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496425" y="8782050"/>
            <a:ext cx="786822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Nova verzija ide u svoj folder. Sistem prebaci pokazivač na nju — korisnici ne osjete prekid. Ako nešto puca, vraćamo se na prethodnu verziju za par sekundi.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1946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5607457" y="342900"/>
            <a:ext cx="2147143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ŠTA NAM JOŠ FALI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4254953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ISKRENO O TOME ŠTA JOŠ NIJE ZATVORENO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09 · ŠTA NAM JOŠ FALI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još nije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spc="-9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zatvoreno.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914400" y="2261146"/>
            <a:ext cx="107918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Iskreno: ovo nije za pitch — ovo su pitanja koja postavljam sebi svakog dana.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2973884"/>
            <a:ext cx="95250" cy="9525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0" name="Text 8"/>
          <p:cNvSpPr/>
          <p:nvPr/>
        </p:nvSpPr>
        <p:spPr>
          <a:xfrm>
            <a:off x="1123950" y="2924919"/>
            <a:ext cx="1789212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105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HITNO · OVE SEDMICE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270647"/>
            <a:ext cx="5334000" cy="5614392"/>
          </a:xfrm>
          <a:prstGeom prst="roundRect">
            <a:avLst>
              <a:gd name="adj" fmla="val 1786"/>
            </a:avLst>
          </a:prstGeom>
          <a:solidFill>
            <a:srgbClr val="161A22"/>
          </a:solidFill>
          <a:ln w="9525">
            <a:solidFill>
              <a:srgbClr val="F87171">
                <a:alpha val="2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1575" y="4916091"/>
            <a:ext cx="48196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171575" y="3708797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1609725" y="3623072"/>
            <a:ext cx="4512945" cy="11977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Provjera više AI modela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testiramo OpenAI, Llamu i DeepSeek na istom test setu da vidimo da li možemo doći do iste kvalitete jeftinije. Odluka kraj sedmice.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1171575" y="6062067"/>
            <a:ext cx="48196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171575" y="5144691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1609725" y="5058966"/>
            <a:ext cx="451294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Postavljanje na pravi server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uputstvo je gotovo, fizičko puštanje na produkcioni server čeka termin.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1171575" y="6290667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1609725" y="6204942"/>
            <a:ext cx="451294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Kompatibilnost sa webshopom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provjeriti da se chat widget ispravno učitava na BitLab sajtu (sigurnosna pravila brauzera).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6477000" y="2973884"/>
            <a:ext cx="95250" cy="9525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686550" y="2924919"/>
            <a:ext cx="333121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105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SLJEDEĆI SPRINT · OSJEĆAJ KORIŠTENJA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77000" y="3270647"/>
            <a:ext cx="5334000" cy="5614392"/>
          </a:xfrm>
          <a:prstGeom prst="roundRect">
            <a:avLst>
              <a:gd name="adj" fmla="val 1786"/>
            </a:avLst>
          </a:prstGeom>
          <a:solidFill>
            <a:srgbClr val="161A22"/>
          </a:solidFill>
          <a:ln w="9525">
            <a:solidFill>
              <a:srgbClr val="FBBF24">
                <a:alpha val="2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34175" y="4626173"/>
            <a:ext cx="48196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34175" y="3708797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7172325" y="3623072"/>
            <a:ext cx="451294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Email — nastavak razgovora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sad svaka poruka počinje od nule. Treba prepoznati da je isti kupac pisao i prije.</a:t>
            </a:r>
            <a:endParaRPr lang="en-US" sz="1575" dirty="0"/>
          </a:p>
        </p:txBody>
      </p:sp>
      <p:sp>
        <p:nvSpPr>
          <p:cNvPr id="26" name="Shape 24"/>
          <p:cNvSpPr/>
          <p:nvPr/>
        </p:nvSpPr>
        <p:spPr>
          <a:xfrm>
            <a:off x="6734175" y="5772150"/>
            <a:ext cx="48196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734175" y="4854773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7172325" y="4769048"/>
            <a:ext cx="451294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Postepeno prikazivanje odgovora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trenutno korisnik vidi </a:t>
            </a:r>
            <a:pPr algn="l" indent="0" marL="0">
              <a:lnSpc>
                <a:spcPct val="145000"/>
              </a:lnSpc>
              <a:buNone/>
            </a:pPr>
            <a:r>
              <a:rPr lang="en-US" sz="1575" i="1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„Razmišljam…“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dok cijeli odgovor ne stigne. Bolje je da se riječi pojavljuju u hodu.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6734175" y="6000750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7172325" y="5915025"/>
            <a:ext cx="451294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Kontrola troškova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ograničenje koliko jedna IP adresa može pitati u toku dana, plus alarm ako mjesečni trošak premasi limit.</a:t>
            </a:r>
            <a:endParaRPr lang="en-US" sz="1575" dirty="0"/>
          </a:p>
        </p:txBody>
      </p:sp>
      <p:sp>
        <p:nvSpPr>
          <p:cNvPr id="31" name="Shape 29"/>
          <p:cNvSpPr/>
          <p:nvPr/>
        </p:nvSpPr>
        <p:spPr>
          <a:xfrm>
            <a:off x="12039600" y="2973884"/>
            <a:ext cx="95250" cy="95250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32" name="Text 30"/>
          <p:cNvSpPr/>
          <p:nvPr/>
        </p:nvSpPr>
        <p:spPr>
          <a:xfrm>
            <a:off x="12249150" y="2924919"/>
            <a:ext cx="2107853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105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GORI · RADITI KASNIJE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2039600" y="3270647"/>
            <a:ext cx="5334000" cy="5614392"/>
          </a:xfrm>
          <a:prstGeom prst="roundRect">
            <a:avLst>
              <a:gd name="adj" fmla="val 1786"/>
            </a:avLst>
          </a:prstGeom>
          <a:solidFill>
            <a:srgbClr val="161A22"/>
          </a:solidFill>
          <a:ln w="9525">
            <a:solidFill>
              <a:srgbClr val="7DD3FC">
                <a:alpha val="2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296775" y="4336256"/>
            <a:ext cx="48196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2296775" y="3708797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12734925" y="3623072"/>
            <a:ext cx="4512945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Backup baze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automatsko pravljenje rezervne kopije nije postavljeno.</a:t>
            </a:r>
            <a:endParaRPr lang="en-US" sz="1575" dirty="0"/>
          </a:p>
        </p:txBody>
      </p:sp>
      <p:sp>
        <p:nvSpPr>
          <p:cNvPr id="37" name="Shape 35"/>
          <p:cNvSpPr/>
          <p:nvPr/>
        </p:nvSpPr>
        <p:spPr>
          <a:xfrm>
            <a:off x="12296775" y="5482233"/>
            <a:ext cx="481965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12296775" y="4564856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75" dirty="0"/>
          </a:p>
        </p:txBody>
      </p:sp>
      <p:sp>
        <p:nvSpPr>
          <p:cNvPr id="39" name="Text 37"/>
          <p:cNvSpPr/>
          <p:nvPr/>
        </p:nvSpPr>
        <p:spPr>
          <a:xfrm>
            <a:off x="12734925" y="4479131"/>
            <a:ext cx="451294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Osvježavanje kataloga u toku dana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kako da AI „vidi“ nove proizvode kad se katalog mijenja više puta dnevno?</a:t>
            </a:r>
            <a:endParaRPr lang="en-US" sz="1575" dirty="0"/>
          </a:p>
        </p:txBody>
      </p:sp>
      <p:sp>
        <p:nvSpPr>
          <p:cNvPr id="40" name="Text 38"/>
          <p:cNvSpPr/>
          <p:nvPr/>
        </p:nvSpPr>
        <p:spPr>
          <a:xfrm>
            <a:off x="12296775" y="5710833"/>
            <a:ext cx="34290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59" kern="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75" dirty="0"/>
          </a:p>
        </p:txBody>
      </p:sp>
      <p:sp>
        <p:nvSpPr>
          <p:cNvPr id="41" name="Text 39"/>
          <p:cNvSpPr/>
          <p:nvPr/>
        </p:nvSpPr>
        <p:spPr>
          <a:xfrm>
            <a:off x="12734925" y="5625108"/>
            <a:ext cx="4512945" cy="9078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75" b="1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Automatski test svakog koda </a:t>
            </a:r>
            <a:pPr algn="l" indent="0" marL="0">
              <a:lnSpc>
                <a:spcPct val="145000"/>
              </a:lnSpc>
              <a:buNone/>
            </a:pPr>
            <a:r>
              <a:rPr lang="en-US" sz="1575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može li 41-pitanje test set da se pokreće nakon svake izmjene?</a:t>
            </a:r>
            <a:endParaRPr lang="en-US" sz="1575" dirty="0"/>
          </a:p>
        </p:txBody>
      </p:sp>
      <p:sp>
        <p:nvSpPr>
          <p:cNvPr id="42" name="Text 40"/>
          <p:cNvSpPr/>
          <p:nvPr/>
        </p:nvSpPr>
        <p:spPr>
          <a:xfrm>
            <a:off x="667512" y="9151739"/>
            <a:ext cx="16952976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spc="48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ctr" indent="0" marL="0">
              <a:lnSpc>
                <a:spcPct val="145000"/>
              </a:lnSpc>
              <a:buNone/>
            </a:pPr>
            <a:r>
              <a:rPr lang="en-US" sz="1200" spc="48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Pošteno reći šta još nije gotovo je vrjednije od lažnog osjećaja da je sve završeno.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2900"/>
            <a:ext cx="2119461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3983444" y="342900"/>
            <a:ext cx="380580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PLAN ZA SLJEDEĆE DVIJE SEDMICE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9695557"/>
            <a:ext cx="446849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TEHNIČKO I KOMERCIJALNO TEKU PARALELNO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094696" y="9695557"/>
            <a:ext cx="659904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047750"/>
            <a:ext cx="169529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10 · PLAN ZA SLJEDEĆE DVIJE SEDMICE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495425"/>
            <a:ext cx="16952976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200" b="1" spc="-84" kern="0" dirty="0">
                <a:solidFill>
                  <a:srgbClr val="1417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Sesija 9 i Sesija 10, </a:t>
            </a:r>
            <a:pPr algn="l" indent="0" marL="0">
              <a:lnSpc>
                <a:spcPct val="104000"/>
              </a:lnSpc>
              <a:buNone/>
            </a:pPr>
            <a:r>
              <a:rPr lang="en-US" sz="4200" b="1" spc="-84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paralelno.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2221557"/>
            <a:ext cx="107918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Tehnički posao i prodajni posao se ne čekaju — idu istovremeno.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2809131"/>
            <a:ext cx="8096250" cy="6563469"/>
          </a:xfrm>
          <a:prstGeom prst="roundRect">
            <a:avLst>
              <a:gd name="adj" fmla="val 145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9363075"/>
            <a:ext cx="80962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2809131"/>
            <a:ext cx="8096250" cy="28575"/>
          </a:xfrm>
          <a:prstGeom prst="rect">
            <a:avLst/>
          </a:prstGeom>
          <a:solidFill>
            <a:srgbClr val="FB6D3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2809131"/>
            <a:ext cx="9525" cy="6563469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13" name="Shape 11"/>
          <p:cNvSpPr/>
          <p:nvPr/>
        </p:nvSpPr>
        <p:spPr>
          <a:xfrm>
            <a:off x="9001125" y="2809131"/>
            <a:ext cx="9525" cy="6563469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14" name="Text 12"/>
          <p:cNvSpPr/>
          <p:nvPr/>
        </p:nvSpPr>
        <p:spPr>
          <a:xfrm>
            <a:off x="1209675" y="3152031"/>
            <a:ext cx="802035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117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SESIJA 09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2087910" y="3066306"/>
            <a:ext cx="1331863" cy="326678"/>
          </a:xfrm>
          <a:prstGeom prst="roundRect">
            <a:avLst>
              <a:gd name="adj" fmla="val 11663"/>
            </a:avLst>
          </a:prstGeom>
          <a:solidFill>
            <a:srgbClr val="FFFFFF"/>
          </a:solidFill>
          <a:ln w="9525">
            <a:solidFill>
              <a:srgbClr val="E8E6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11735" y="3132981"/>
            <a:ext cx="1160413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4A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PRVA SEDMICA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09675" y="3450134"/>
            <a:ext cx="7730871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Poređenje više AI modela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09675" y="3951089"/>
            <a:ext cx="773087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Anthropic, OpenAI, Meta i DeepSeek na istom test setu od 41 pitanja — da vidimo ko je najbolji za naš slučaj i po kojoj cijeni.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1209675" y="4532114"/>
            <a:ext cx="7505700" cy="293787"/>
          </a:xfrm>
          <a:prstGeom prst="roundRect">
            <a:avLst>
              <a:gd name="adj" fmla="val 12969"/>
            </a:avLst>
          </a:prstGeom>
          <a:solidFill>
            <a:srgbClr val="F3F2EC"/>
          </a:solidFill>
          <a:ln/>
        </p:spPr>
      </p:sp>
      <p:sp>
        <p:nvSpPr>
          <p:cNvPr id="20" name="Text 18"/>
          <p:cNvSpPr/>
          <p:nvPr/>
        </p:nvSpPr>
        <p:spPr>
          <a:xfrm>
            <a:off x="1304925" y="4589264"/>
            <a:ext cx="754037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4.6 · Haiku 4.5 · Opus 4.5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209675" y="4883051"/>
            <a:ext cx="7505700" cy="293787"/>
          </a:xfrm>
          <a:prstGeom prst="roundRect">
            <a:avLst>
              <a:gd name="adj" fmla="val 12969"/>
            </a:avLst>
          </a:prstGeom>
          <a:solidFill>
            <a:srgbClr val="F3F2EC"/>
          </a:solidFill>
          <a:ln/>
        </p:spPr>
      </p:sp>
      <p:sp>
        <p:nvSpPr>
          <p:cNvPr id="22" name="Text 20"/>
          <p:cNvSpPr/>
          <p:nvPr/>
        </p:nvSpPr>
        <p:spPr>
          <a:xfrm>
            <a:off x="1304925" y="4940201"/>
            <a:ext cx="754037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GPT-4o-mini · GPT-4.1-mini · GPT-4o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1209675" y="5233988"/>
            <a:ext cx="7505700" cy="293787"/>
          </a:xfrm>
          <a:prstGeom prst="roundRect">
            <a:avLst>
              <a:gd name="adj" fmla="val 12969"/>
            </a:avLst>
          </a:prstGeom>
          <a:solidFill>
            <a:srgbClr val="F3F2EC"/>
          </a:solidFill>
          <a:ln/>
        </p:spPr>
      </p:sp>
      <p:sp>
        <p:nvSpPr>
          <p:cNvPr id="24" name="Text 22"/>
          <p:cNvSpPr/>
          <p:nvPr/>
        </p:nvSpPr>
        <p:spPr>
          <a:xfrm>
            <a:off x="1304925" y="5291138"/>
            <a:ext cx="754037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3.3 70B · Llama 3.1 8B (Groq)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1209675" y="5584924"/>
            <a:ext cx="7505700" cy="293787"/>
          </a:xfrm>
          <a:prstGeom prst="roundRect">
            <a:avLst>
              <a:gd name="adj" fmla="val 12969"/>
            </a:avLst>
          </a:prstGeom>
          <a:solidFill>
            <a:srgbClr val="F3F2EC"/>
          </a:solidFill>
          <a:ln/>
        </p:spPr>
      </p:sp>
      <p:sp>
        <p:nvSpPr>
          <p:cNvPr id="26" name="Text 24"/>
          <p:cNvSpPr/>
          <p:nvPr/>
        </p:nvSpPr>
        <p:spPr>
          <a:xfrm>
            <a:off x="1304925" y="5642074"/>
            <a:ext cx="754037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DeepSeek-V3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1209675" y="8313093"/>
            <a:ext cx="750570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28" name="Text 26"/>
          <p:cNvSpPr/>
          <p:nvPr/>
        </p:nvSpPr>
        <p:spPr>
          <a:xfrm>
            <a:off x="1209675" y="8455968"/>
            <a:ext cx="7730871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TRAŽIMO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209675" y="8678763"/>
            <a:ext cx="13494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417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≥99%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09675" y="8954988"/>
            <a:ext cx="1349425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tačnost, bez izmišljanja</a:t>
            </a:r>
            <a:endParaRPr lang="en-US" sz="975" dirty="0"/>
          </a:p>
        </p:txBody>
      </p:sp>
      <p:sp>
        <p:nvSpPr>
          <p:cNvPr id="31" name="Text 29"/>
          <p:cNvSpPr/>
          <p:nvPr/>
        </p:nvSpPr>
        <p:spPr>
          <a:xfrm>
            <a:off x="2673400" y="8678763"/>
            <a:ext cx="178340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417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≥4.0/5.0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2673400" y="8954988"/>
            <a:ext cx="1783407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ocjena na 15 stvarnih scenarija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9277350" y="2809131"/>
            <a:ext cx="8096250" cy="6563469"/>
          </a:xfrm>
          <a:prstGeom prst="roundRect">
            <a:avLst>
              <a:gd name="adj" fmla="val 1451"/>
            </a:avLst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9277350" y="9363075"/>
            <a:ext cx="809625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77350" y="2809131"/>
            <a:ext cx="8096250" cy="28575"/>
          </a:xfrm>
          <a:prstGeom prst="rect">
            <a:avLst/>
          </a:prstGeom>
          <a:solidFill>
            <a:srgbClr val="FB6D3B"/>
          </a:solidFill>
          <a:ln/>
        </p:spPr>
      </p:sp>
      <p:sp>
        <p:nvSpPr>
          <p:cNvPr id="36" name="Shape 34"/>
          <p:cNvSpPr/>
          <p:nvPr/>
        </p:nvSpPr>
        <p:spPr>
          <a:xfrm>
            <a:off x="9277350" y="2809131"/>
            <a:ext cx="9525" cy="6563469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37" name="Shape 35"/>
          <p:cNvSpPr/>
          <p:nvPr/>
        </p:nvSpPr>
        <p:spPr>
          <a:xfrm>
            <a:off x="17364075" y="2809131"/>
            <a:ext cx="9525" cy="6563469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38" name="Text 36"/>
          <p:cNvSpPr/>
          <p:nvPr/>
        </p:nvSpPr>
        <p:spPr>
          <a:xfrm>
            <a:off x="9572625" y="3152031"/>
            <a:ext cx="802035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spc="117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SESIJA 10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10450860" y="3066306"/>
            <a:ext cx="1366093" cy="326678"/>
          </a:xfrm>
          <a:prstGeom prst="roundRect">
            <a:avLst>
              <a:gd name="adj" fmla="val 11663"/>
            </a:avLst>
          </a:prstGeom>
          <a:solidFill>
            <a:srgbClr val="FFFFFF"/>
          </a:solidFill>
          <a:ln w="9525">
            <a:solidFill>
              <a:srgbClr val="E8E6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574685" y="3132981"/>
            <a:ext cx="1194643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63" kern="0" dirty="0">
                <a:solidFill>
                  <a:srgbClr val="4A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KONTINUIRANO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572625" y="3450134"/>
            <a:ext cx="7730871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Asistent kao alat za rast prodaje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9572625" y="3951089"/>
            <a:ext cx="773087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AI asistent ne mora biti samo podrška. Iz hiljada razgovora znamo šta kupci pitaju — to direktno koristimo za marketing i SEO.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9572625" y="5092005"/>
            <a:ext cx="750570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44" name="Text 42"/>
          <p:cNvSpPr/>
          <p:nvPr/>
        </p:nvSpPr>
        <p:spPr>
          <a:xfrm>
            <a:off x="9572625" y="4636889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25" dirty="0"/>
          </a:p>
        </p:txBody>
      </p:sp>
      <p:sp>
        <p:nvSpPr>
          <p:cNvPr id="45" name="Text 43"/>
          <p:cNvSpPr/>
          <p:nvPr/>
        </p:nvSpPr>
        <p:spPr>
          <a:xfrm>
            <a:off x="10010775" y="4589264"/>
            <a:ext cx="7279577" cy="464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Provjera konkurencije i sajta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(Comtrade, ADM, Kim Tec, Nest, WinWin) — šta oni rade bolje, gdje smo mi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572625" y="5467201"/>
            <a:ext cx="750570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47" name="Text 45"/>
          <p:cNvSpPr/>
          <p:nvPr/>
        </p:nvSpPr>
        <p:spPr>
          <a:xfrm>
            <a:off x="9572625" y="5225355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25" dirty="0"/>
          </a:p>
        </p:txBody>
      </p:sp>
      <p:sp>
        <p:nvSpPr>
          <p:cNvPr id="48" name="Text 46"/>
          <p:cNvSpPr/>
          <p:nvPr/>
        </p:nvSpPr>
        <p:spPr>
          <a:xfrm>
            <a:off x="10010775" y="5177730"/>
            <a:ext cx="727957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Pisanje sadržaja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vodiči po kategorijama i odgovori na najčešća pitanja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572625" y="5842397"/>
            <a:ext cx="750570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50" name="Text 48"/>
          <p:cNvSpPr/>
          <p:nvPr/>
        </p:nvSpPr>
        <p:spPr>
          <a:xfrm>
            <a:off x="9572625" y="5600551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25" dirty="0"/>
          </a:p>
        </p:txBody>
      </p:sp>
      <p:sp>
        <p:nvSpPr>
          <p:cNvPr id="51" name="Text 49"/>
          <p:cNvSpPr/>
          <p:nvPr/>
        </p:nvSpPr>
        <p:spPr>
          <a:xfrm>
            <a:off x="10010775" y="5552926"/>
            <a:ext cx="727957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Vidljivost na Googleu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lokalni katalozi, partneri, PR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572625" y="6217593"/>
            <a:ext cx="750570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53" name="Text 51"/>
          <p:cNvSpPr/>
          <p:nvPr/>
        </p:nvSpPr>
        <p:spPr>
          <a:xfrm>
            <a:off x="9572625" y="5975747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25" dirty="0"/>
          </a:p>
        </p:txBody>
      </p:sp>
      <p:sp>
        <p:nvSpPr>
          <p:cNvPr id="54" name="Text 52"/>
          <p:cNvSpPr/>
          <p:nvPr/>
        </p:nvSpPr>
        <p:spPr>
          <a:xfrm>
            <a:off x="10010775" y="5928122"/>
            <a:ext cx="727957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Automatske reklame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katalog ide pravo u Google Shopping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572625" y="6350943"/>
            <a:ext cx="3429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25" dirty="0"/>
          </a:p>
        </p:txBody>
      </p:sp>
      <p:sp>
        <p:nvSpPr>
          <p:cNvPr id="56" name="Text 54"/>
          <p:cNvSpPr/>
          <p:nvPr/>
        </p:nvSpPr>
        <p:spPr>
          <a:xfrm>
            <a:off x="10010775" y="6303318"/>
            <a:ext cx="7279577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4171C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Asistent skuplja kontakte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06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— newsletter, napuštena korpa, recenzije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572625" y="8313093"/>
            <a:ext cx="7505700" cy="9525"/>
          </a:xfrm>
          <a:prstGeom prst="rect">
            <a:avLst/>
          </a:prstGeom>
          <a:solidFill>
            <a:srgbClr val="E8E6DD"/>
          </a:solidFill>
          <a:ln/>
        </p:spPr>
      </p:sp>
      <p:sp>
        <p:nvSpPr>
          <p:cNvPr id="58" name="Text 56"/>
          <p:cNvSpPr/>
          <p:nvPr/>
        </p:nvSpPr>
        <p:spPr>
          <a:xfrm>
            <a:off x="9572625" y="8455968"/>
            <a:ext cx="7730871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spc="9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CILJ ZA 90 DANA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572625" y="8678763"/>
            <a:ext cx="114329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417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9572625" y="8954988"/>
            <a:ext cx="114329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posjete sa Googlea</a:t>
            </a:r>
            <a:endParaRPr lang="en-US" sz="975" dirty="0"/>
          </a:p>
        </p:txBody>
      </p:sp>
      <p:sp>
        <p:nvSpPr>
          <p:cNvPr id="61" name="Text 59"/>
          <p:cNvSpPr/>
          <p:nvPr/>
        </p:nvSpPr>
        <p:spPr>
          <a:xfrm>
            <a:off x="10906423" y="8678763"/>
            <a:ext cx="191393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417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10906423" y="8954988"/>
            <a:ext cx="191393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7A818D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novih sajtova koji linkuju ka nama</a:t>
            </a:r>
            <a:endParaRPr lang="en-US" sz="9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381446"/>
            <a:ext cx="171450" cy="171450"/>
          </a:xfrm>
          <a:prstGeom prst="ellipse">
            <a:avLst/>
          </a:prstGeom>
          <a:solidFill>
            <a:srgbClr val="FB6D3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2900"/>
            <a:ext cx="1990576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108" kern="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BITLAB AI ASISTENT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7107495" y="342900"/>
            <a:ext cx="64710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9695557"/>
            <a:ext cx="4386325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· BOLJE PITATI NEGO PRETPOSTAVITI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5744230" y="9695557"/>
            <a:ext cx="201037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spc="81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KRAJ PREZENTACIJE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3397597"/>
            <a:ext cx="30217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spc="150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VRIJEME ZA RAZGOVOR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845272"/>
            <a:ext cx="16952976" cy="1847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0" b="1" spc="-300" kern="0" dirty="0">
                <a:solidFill>
                  <a:srgbClr val="E9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Pitanja</a:t>
            </a:r>
            <a:pPr algn="l" indent="0" marL="0">
              <a:lnSpc>
                <a:spcPct val="95000"/>
              </a:lnSpc>
              <a:buNone/>
            </a:pPr>
            <a:r>
              <a:rPr lang="en-US" sz="15000" b="1" spc="-300" kern="0" dirty="0">
                <a:solidFill>
                  <a:srgbClr val="FB6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5000" dirty="0"/>
          </a:p>
        </p:txBody>
      </p:sp>
      <p:sp>
        <p:nvSpPr>
          <p:cNvPr id="10" name="Text 8"/>
          <p:cNvSpPr/>
          <p:nvPr/>
        </p:nvSpPr>
        <p:spPr>
          <a:xfrm>
            <a:off x="914400" y="6359872"/>
            <a:ext cx="107918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B3B9C4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Očekujem da ćemo pričati o brzini, cijeni, sigurnosti podataka i kako će izgledati puštanje na pravi server. Imam pripremljene odgovore — ali bolje pitati nego pretpostaviti.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8281392"/>
            <a:ext cx="1965275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spc="105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8589020"/>
            <a:ext cx="1965275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E9ECF1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Branislav Jovković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930878"/>
            <a:ext cx="1965275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bjovkovic@gmail.com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9151739"/>
            <a:ext cx="1965275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github.com/bitlab/ai-asistent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214402" y="8158311"/>
            <a:ext cx="2159198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050" spc="105" kern="0" dirty="0">
                <a:solidFill>
                  <a:srgbClr val="7A8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DODATNA DOKUMENTACIJA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5214402" y="8465939"/>
            <a:ext cx="2159198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B3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Arhitektura sistema Praćenje razgovora (Sessions) Plan poređenja modela Uputstvo za puštanje na server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2026-05-04T20:44:46Z</dcterms:created>
  <dcterms:modified xsi:type="dcterms:W3CDTF">2026-05-04T20:44:46Z</dcterms:modified>
</cp:coreProperties>
</file>