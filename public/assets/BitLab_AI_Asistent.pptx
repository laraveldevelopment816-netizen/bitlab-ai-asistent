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Predstavljamo BitLab AI Asistenta. Asistent radi na chat-u, glasu i e-mailu, nad cijelim katalogom od pet hiljada dvjesta sedamdeset osam proizvoda. Cilj prezentacije je da za deset minuta pokažem šta sistem radi, kako je provjeren i kako bi krenuo u rad. Brojka 5278 koju vidite desno nije primjer — to je stvarni katalog koji sam već indeksirao.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Krenimo od polazišta. Imate hiljade proizvoda, dnevne upite na više kanala i ograničen prodajni tim. Svaki neodgovoreni upit posle radnog vremena je propušten razgovor. Tri brojke ovdje su jednostavne: katalog, kanali, dostupnost. Sve ostalo što ću pokazati gradi se na ovim brojevima.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Asistent ima tri kanala koji dijele istu bazu znanja. Chat widget na sajtu — korisnik pita, dobije listu proizvoda sa cijenama i linkovima. Voice na materinjem jeziku — priča normalno, na bosanskom, srpskom ili hrvatskom, asistent odgovara glasom, sa pravilnim izgovorom cijena. E-mail auto-reply — klijent pošalje upit, za tridesetak sekundi stiže profesionalan odgovor; ako je B2B sa JIB-om, automatski eskalira na prodaju. Bitno je da sva tri kanala čitaju isti katalog i isti FAQ. Jedan izvor istine.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Devedeset sekundi demoa, tri pitanja. Prvo na chatu — pitanje o SSD-u do 400 maraka, dobijem tri konkretna proizvoda. Drugo, glasom — tražim laptop do 1500 maraka za gaming. Asistent razumije i odgovara glasom. Treće, e-mail — B2B upit za firmu, asistent ne pokušava sam zatvoriti narudžbu, nego eskalira prodaji uz potpis. Mogu uživo pokazati ako želite poslije.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Šta je odlučeno drugačije. Skala — radim nad cijelim katalogom, ne nad uzorkom. Kanali — tri, ne jedan. Jezik — native BCS, ne engleski sa prevodom. Hosting — vaš VPS, ne tuđi cloud. E-mail — automatizacija sa eskalacijom, što obično niko ne pravi. Kvalitet — postoji eval suite. Sigurnost — ključevi nikada ne idu u browser. Cijena rada — poznata unaprijed. Ovo je manje lista superlativa, više lista odluka koje su donesene rano.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Kvalitet je provjeren, ne tvrden. Imam eval suite od osamnaest stvarnih BCS pitanja. Pokrivaju cijene, dostupnost, dostavu, B2B procedure. Ciljani rezultat je sedamnaest od osamnaest tačnih, devedeset četiri posto. Komandu možete pokrenuti i sami — log se piše, slučajevi se mogu reprodukovati. Ako se za tri mjeseca pojavi novo pitanje koje sistem promaši, dodaje se u suite i popravi.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Kratko o tome kako je sastavljeno. Korisnik dolazi kroz jedan od tri kanala. AI mozak donosi odluku — šta da pretraži, kako da odgovori, da li treba eskalirati. Pretraga ide preko lokalne baze koja kombinuje semantiku i ključne riječi, pa razumije i parafrazu i šifru proizvoda. Sve komponente — pretraga, voice, automatizacija — rade lokalno na vašem VPS-u. Nema vendor lock-in-a.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Sigurnost. Sistem radi na vašem serveru, vaši podaci ne odlaze trećim licima. Bez tunela, bez eksternih webhook-ova. API ključevi su isključivo na backend-u. Audit je prošao i otvoreni nalazi su zatvoreni prije produkcije. Ovo je najvažnije za B2B kupce koji pitaju gdje im idu podaci.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Trošak rada. Otprilike trideset maraka mjesečno, manje od jedne narudžbe SSD-a. Razlog je jednostavan — AI tokeni su jedini varijabilni trošak. Hosting je već vaš. Voice, pretraga, automatizacija — sve open source. Cijena je predvidiva i skalira sa stvarnim saobraćajem.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danas. Smart matching radi, eval suite je postavljen, security review prošao, deploy spreman, embed snippet je jedan red u head-u sajta. Sutra može u rad — čekamo zeleno svjetlo.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Hvala. Otvoren sam za demo uživo, pitanja, ili da prođemo bilo koji slajd detaljnije. Kontakt podaci su tu. Pričekamo zeleno svjetlo i krećemo.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5F0"/>
          </a:solidFill>
          <a:ln/>
        </p:spPr>
      </p:sp>
      <p:pic>
        <p:nvPicPr>
          <p:cNvPr id="3" name="Image 0" descr="preencoded.png">    </p:cNvPr>
          <p:cNvPicPr>
            <a:picLocks noChangeAspect="1"/>
          </p:cNvPicPr>
          <p:nvPr/>
        </p:nvPicPr>
        <p:blipFill>
          <a:blip r:embed="rId1"/>
          <a:stretch>
            <a:fillRect/>
          </a:stretch>
        </p:blipFill>
        <p:spPr>
          <a:xfrm>
            <a:off x="1047750" y="952500"/>
            <a:ext cx="1517600" cy="609600"/>
          </a:xfrm>
          <a:prstGeom prst="rect">
            <a:avLst/>
          </a:prstGeom>
        </p:spPr>
      </p:pic>
      <p:sp>
        <p:nvSpPr>
          <p:cNvPr id="4" name="Text 1"/>
          <p:cNvSpPr/>
          <p:nvPr/>
        </p:nvSpPr>
        <p:spPr>
          <a:xfrm>
            <a:off x="7379791" y="1133475"/>
            <a:ext cx="1707059"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webshop.bitlab.rs</a:t>
            </a:r>
            <a:endParaRPr lang="en-US" sz="1650" dirty="0"/>
          </a:p>
        </p:txBody>
      </p:sp>
      <p:sp>
        <p:nvSpPr>
          <p:cNvPr id="5" name="Text 2"/>
          <p:cNvSpPr/>
          <p:nvPr/>
        </p:nvSpPr>
        <p:spPr>
          <a:xfrm>
            <a:off x="1047750" y="3190875"/>
            <a:ext cx="8201787"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PITCH · MAJ 2026</a:t>
            </a:r>
            <a:endParaRPr lang="en-US" sz="1650" dirty="0"/>
          </a:p>
        </p:txBody>
      </p:sp>
      <p:sp>
        <p:nvSpPr>
          <p:cNvPr id="6" name="Text 3"/>
          <p:cNvSpPr/>
          <p:nvPr/>
        </p:nvSpPr>
        <p:spPr>
          <a:xfrm>
            <a:off x="1047750" y="3810000"/>
            <a:ext cx="8201787" cy="1438275"/>
          </a:xfrm>
          <a:prstGeom prst="rect">
            <a:avLst/>
          </a:prstGeom>
          <a:noFill/>
          <a:ln/>
        </p:spPr>
        <p:txBody>
          <a:bodyPr wrap="square" lIns="25400" tIns="25400" rIns="25400" bIns="25400" rtlCol="0" anchor="t">
            <a:normAutofit/>
          </a:bodyPr>
          <a:lstStyle/>
          <a:p>
            <a:pPr algn="l" indent="0" marL="0">
              <a:lnSpc>
                <a:spcPct val="105000"/>
              </a:lnSpc>
              <a:buNone/>
            </a:pPr>
            <a:r>
              <a:rPr lang="en-US" sz="10500" b="1" spc="-262" kern="0" dirty="0">
                <a:solidFill>
                  <a:srgbClr val="1A1A2E"/>
                </a:solidFill>
                <a:latin typeface="Arial" pitchFamily="34" charset="0"/>
                <a:ea typeface="Arial" pitchFamily="34" charset="-122"/>
                <a:cs typeface="Arial" pitchFamily="34" charset="-120"/>
              </a:rPr>
              <a:t>AI Asistent</a:t>
            </a:r>
            <a:pPr algn="l" indent="0" marL="0">
              <a:lnSpc>
                <a:spcPct val="105000"/>
              </a:lnSpc>
              <a:buNone/>
            </a:pPr>
            <a:r>
              <a:rPr lang="en-US" sz="10500" b="1" spc="-262" kern="0" dirty="0">
                <a:solidFill>
                  <a:srgbClr val="FB6D3B"/>
                </a:solidFill>
                <a:latin typeface="Arial" pitchFamily="34" charset="0"/>
                <a:ea typeface="Arial" pitchFamily="34" charset="-122"/>
                <a:cs typeface="Arial" pitchFamily="34" charset="-120"/>
              </a:rPr>
              <a:t>.</a:t>
            </a:r>
            <a:endParaRPr lang="en-US" sz="10500" dirty="0"/>
          </a:p>
        </p:txBody>
      </p:sp>
      <p:sp>
        <p:nvSpPr>
          <p:cNvPr id="7" name="Text 4"/>
          <p:cNvSpPr/>
          <p:nvPr/>
        </p:nvSpPr>
        <p:spPr>
          <a:xfrm>
            <a:off x="1047750" y="5553075"/>
            <a:ext cx="7063740" cy="2133600"/>
          </a:xfrm>
          <a:prstGeom prst="rect">
            <a:avLst/>
          </a:prstGeom>
          <a:noFill/>
          <a:ln/>
        </p:spPr>
        <p:txBody>
          <a:bodyPr wrap="square" lIns="25400" tIns="25400" rIns="25400" bIns="25400" rtlCol="0" anchor="t">
            <a:normAutofit/>
          </a:bodyPr>
          <a:lstStyle/>
          <a:p>
            <a:pPr algn="l" indent="0" marL="0">
              <a:lnSpc>
                <a:spcPct val="125000"/>
              </a:lnSpc>
              <a:buNone/>
            </a:pPr>
            <a:r>
              <a:rPr lang="en-US" sz="3300" dirty="0">
                <a:solidFill>
                  <a:srgbClr val="222222"/>
                </a:solidFill>
                <a:latin typeface="Arial" pitchFamily="34" charset="0"/>
                <a:ea typeface="Arial" pitchFamily="34" charset="-122"/>
                <a:cs typeface="Arial" pitchFamily="34" charset="-120"/>
              </a:rPr>
              <a:t>Asistent za chat, glas i e-mail nad cijelim katalogom — spreman za pokretanje.</a:t>
            </a:r>
            <a:endParaRPr lang="en-US" sz="3300" dirty="0"/>
          </a:p>
        </p:txBody>
      </p:sp>
      <p:sp>
        <p:nvSpPr>
          <p:cNvPr id="8" name="Text 5"/>
          <p:cNvSpPr/>
          <p:nvPr/>
        </p:nvSpPr>
        <p:spPr>
          <a:xfrm>
            <a:off x="1047750" y="9277350"/>
            <a:ext cx="125298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BitLab d.o.o.</a:t>
            </a:r>
            <a:endParaRPr lang="en-US" sz="1650" dirty="0"/>
          </a:p>
        </p:txBody>
      </p:sp>
      <p:sp>
        <p:nvSpPr>
          <p:cNvPr id="9" name="Text 6"/>
          <p:cNvSpPr/>
          <p:nvPr/>
        </p:nvSpPr>
        <p:spPr>
          <a:xfrm>
            <a:off x="2681734" y="9277350"/>
            <a:ext cx="112484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Banja Luka</a:t>
            </a:r>
            <a:endParaRPr lang="en-US" sz="1650" dirty="0"/>
          </a:p>
        </p:txBody>
      </p:sp>
      <p:sp>
        <p:nvSpPr>
          <p:cNvPr id="10" name="Text 7"/>
          <p:cNvSpPr/>
          <p:nvPr/>
        </p:nvSpPr>
        <p:spPr>
          <a:xfrm>
            <a:off x="4187577" y="9277350"/>
            <a:ext cx="542479"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2026</a:t>
            </a:r>
            <a:endParaRPr lang="en-US" sz="1650" dirty="0"/>
          </a:p>
        </p:txBody>
      </p:sp>
      <p:sp>
        <p:nvSpPr>
          <p:cNvPr id="11" name="Shape 8"/>
          <p:cNvSpPr/>
          <p:nvPr/>
        </p:nvSpPr>
        <p:spPr>
          <a:xfrm>
            <a:off x="10058400" y="0"/>
            <a:ext cx="8229600" cy="10287000"/>
          </a:xfrm>
          <a:prstGeom prst="rect">
            <a:avLst/>
          </a:prstGeom>
          <a:solidFill>
            <a:srgbClr val="FFE8DB"/>
          </a:solidFill>
          <a:ln/>
        </p:spPr>
      </p:sp>
      <p:sp>
        <p:nvSpPr>
          <p:cNvPr id="12" name="Text 9"/>
          <p:cNvSpPr/>
          <p:nvPr/>
        </p:nvSpPr>
        <p:spPr>
          <a:xfrm>
            <a:off x="16879193" y="762000"/>
            <a:ext cx="646807" cy="1043583"/>
          </a:xfrm>
          <a:prstGeom prst="rect">
            <a:avLst/>
          </a:prstGeom>
          <a:noFill/>
          <a:ln/>
        </p:spPr>
        <p:txBody>
          <a:bodyPr wrap="square" lIns="25400" tIns="25400" rIns="25400" bIns="25400" rtlCol="0" anchor="t">
            <a:normAutofit/>
          </a:bodyPr>
          <a:lstStyle/>
          <a:p>
            <a:pPr algn="r" indent="0" marL="0">
              <a:lnSpc>
                <a:spcPct val="160000"/>
              </a:lnSpc>
              <a:buNone/>
            </a:pPr>
            <a:r>
              <a:rPr lang="en-US" sz="1650" dirty="0">
                <a:solidFill>
                  <a:srgbClr val="1A1A2E">
                    <a:alpha val="60000"/>
                  </a:srgbClr>
                </a:solidFill>
                <a:latin typeface="Arial" pitchFamily="34" charset="0"/>
                <a:ea typeface="Arial" pitchFamily="34" charset="-122"/>
                <a:cs typeface="Arial" pitchFamily="34" charset="-120"/>
              </a:rPr>
              <a:t>chat voice e-mail</a:t>
            </a:r>
            <a:endParaRPr lang="en-US" sz="1650" dirty="0"/>
          </a:p>
        </p:txBody>
      </p:sp>
      <p:sp>
        <p:nvSpPr>
          <p:cNvPr id="13" name="Text 10"/>
          <p:cNvSpPr/>
          <p:nvPr/>
        </p:nvSpPr>
        <p:spPr>
          <a:xfrm>
            <a:off x="7291289" y="6648450"/>
            <a:ext cx="11377711" cy="4248150"/>
          </a:xfrm>
          <a:prstGeom prst="rect">
            <a:avLst/>
          </a:prstGeom>
          <a:noFill/>
          <a:ln/>
        </p:spPr>
        <p:txBody>
          <a:bodyPr wrap="square" lIns="25400" tIns="25400" rIns="25400" bIns="25400" rtlCol="0" anchor="t">
            <a:normAutofit/>
          </a:bodyPr>
          <a:lstStyle/>
          <a:p>
            <a:pPr algn="r" indent="0" marL="0">
              <a:lnSpc>
                <a:spcPct val="85000"/>
              </a:lnSpc>
              <a:buNone/>
            </a:pPr>
            <a:r>
              <a:rPr lang="en-US" sz="39000" b="1" spc="-2000" kern="0" dirty="0">
                <a:solidFill>
                  <a:srgbClr val="FB6D3B"/>
                </a:solidFill>
                <a:latin typeface="Arial" pitchFamily="34" charset="0"/>
                <a:ea typeface="Arial" pitchFamily="34" charset="-122"/>
                <a:cs typeface="Arial" pitchFamily="34" charset="-120"/>
              </a:rPr>
              <a:t>5278</a:t>
            </a:r>
            <a:endParaRPr lang="en-US" sz="39000" dirty="0"/>
          </a:p>
        </p:txBody>
      </p:sp>
      <p:sp>
        <p:nvSpPr>
          <p:cNvPr id="14" name="Text 11"/>
          <p:cNvSpPr/>
          <p:nvPr/>
        </p:nvSpPr>
        <p:spPr>
          <a:xfrm rot="-5400000">
            <a:off x="7962900" y="2354610"/>
            <a:ext cx="5494020" cy="285750"/>
          </a:xfrm>
          <a:prstGeom prst="rect">
            <a:avLst/>
          </a:prstGeom>
          <a:noFill/>
          <a:ln/>
        </p:spPr>
        <p:txBody>
          <a:bodyPr wrap="square" lIns="25400" tIns="25400" rIns="25400" bIns="25400" rtlCol="0" anchor="t">
            <a:normAutofit/>
          </a:bodyPr>
          <a:lstStyle/>
          <a:p>
            <a:pPr algn="l" indent="0" marL="0">
              <a:buNone/>
            </a:pPr>
            <a:r>
              <a:rPr lang="en-US" sz="1650" spc="495" kern="0" dirty="0">
                <a:solidFill>
                  <a:srgbClr val="1A1A2E"/>
                </a:solidFill>
                <a:latin typeface="Arial" pitchFamily="34" charset="0"/>
                <a:ea typeface="Arial" pitchFamily="34" charset="-122"/>
                <a:cs typeface="Arial" pitchFamily="34" charset="-120"/>
              </a:rPr>
              <a:t>PROIZVODA U REALNOM VREMENU</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01 · POLAZIŠTE</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Polazimo od stvarnih brojeva.</a:t>
            </a:r>
            <a:endParaRPr lang="en-US" sz="4800" dirty="0"/>
          </a:p>
        </p:txBody>
      </p:sp>
      <p:sp>
        <p:nvSpPr>
          <p:cNvPr id="5" name="Shape 3"/>
          <p:cNvSpPr/>
          <p:nvPr/>
        </p:nvSpPr>
        <p:spPr>
          <a:xfrm>
            <a:off x="1047750" y="6345436"/>
            <a:ext cx="16192500" cy="9525"/>
          </a:xfrm>
          <a:prstGeom prst="rect">
            <a:avLst/>
          </a:prstGeom>
          <a:solidFill>
            <a:srgbClr val="E6E6E6"/>
          </a:solidFill>
          <a:ln/>
        </p:spPr>
      </p:sp>
      <p:sp>
        <p:nvSpPr>
          <p:cNvPr id="6" name="Shape 4"/>
          <p:cNvSpPr/>
          <p:nvPr/>
        </p:nvSpPr>
        <p:spPr>
          <a:xfrm>
            <a:off x="1047750" y="3125986"/>
            <a:ext cx="16192500" cy="9525"/>
          </a:xfrm>
          <a:prstGeom prst="rect">
            <a:avLst/>
          </a:prstGeom>
          <a:solidFill>
            <a:srgbClr val="E6E6E6"/>
          </a:solidFill>
          <a:ln/>
        </p:spPr>
      </p:sp>
      <p:sp>
        <p:nvSpPr>
          <p:cNvPr id="7" name="Text 5"/>
          <p:cNvSpPr/>
          <p:nvPr/>
        </p:nvSpPr>
        <p:spPr>
          <a:xfrm>
            <a:off x="1428750" y="3668911"/>
            <a:ext cx="4774463" cy="1181100"/>
          </a:xfrm>
          <a:prstGeom prst="rect">
            <a:avLst/>
          </a:prstGeom>
          <a:noFill/>
          <a:ln/>
        </p:spPr>
        <p:txBody>
          <a:bodyPr wrap="square" lIns="25400" tIns="25400" rIns="25400" bIns="25400" rtlCol="0" anchor="t">
            <a:normAutofit/>
          </a:bodyPr>
          <a:lstStyle/>
          <a:p>
            <a:pPr algn="l" indent="0" marL="0">
              <a:lnSpc>
                <a:spcPct val="100000"/>
              </a:lnSpc>
              <a:buNone/>
            </a:pPr>
            <a:r>
              <a:rPr lang="en-US" sz="9000" b="1" spc="-360" kern="0" dirty="0">
                <a:solidFill>
                  <a:srgbClr val="1A1A2E"/>
                </a:solidFill>
                <a:latin typeface="Arial" pitchFamily="34" charset="0"/>
                <a:ea typeface="Arial" pitchFamily="34" charset="-122"/>
                <a:cs typeface="Arial" pitchFamily="34" charset="-120"/>
              </a:rPr>
              <a:t>5.278</a:t>
            </a:r>
            <a:endParaRPr lang="en-US" sz="9000" dirty="0"/>
          </a:p>
        </p:txBody>
      </p:sp>
      <p:sp>
        <p:nvSpPr>
          <p:cNvPr id="8" name="Text 6"/>
          <p:cNvSpPr/>
          <p:nvPr/>
        </p:nvSpPr>
        <p:spPr>
          <a:xfrm>
            <a:off x="1428750" y="4964311"/>
            <a:ext cx="4774463" cy="428625"/>
          </a:xfrm>
          <a:prstGeom prst="rect">
            <a:avLst/>
          </a:prstGeom>
          <a:noFill/>
          <a:ln/>
        </p:spPr>
        <p:txBody>
          <a:bodyPr wrap="square" lIns="25400" tIns="25400" rIns="25400" bIns="25400" rtlCol="0" anchor="t">
            <a:normAutofit/>
          </a:bodyPr>
          <a:lstStyle/>
          <a:p>
            <a:pPr algn="l" indent="0" marL="0">
              <a:buNone/>
            </a:pPr>
            <a:r>
              <a:rPr lang="en-US" sz="2550" dirty="0">
                <a:solidFill>
                  <a:srgbClr val="222222"/>
                </a:solidFill>
                <a:latin typeface="Arial" pitchFamily="34" charset="0"/>
                <a:ea typeface="Arial" pitchFamily="34" charset="-122"/>
                <a:cs typeface="Arial" pitchFamily="34" charset="-120"/>
              </a:rPr>
              <a:t>proizvoda u katalogu</a:t>
            </a:r>
            <a:endParaRPr lang="en-US" sz="2550" dirty="0"/>
          </a:p>
        </p:txBody>
      </p:sp>
      <p:sp>
        <p:nvSpPr>
          <p:cNvPr id="9" name="Text 7"/>
          <p:cNvSpPr/>
          <p:nvPr/>
        </p:nvSpPr>
        <p:spPr>
          <a:xfrm>
            <a:off x="1428750" y="5507236"/>
            <a:ext cx="4774463"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svaki sa cijenom, slikom i dostupnošću</a:t>
            </a:r>
            <a:endParaRPr lang="en-US" sz="2100" dirty="0"/>
          </a:p>
        </p:txBody>
      </p:sp>
      <p:sp>
        <p:nvSpPr>
          <p:cNvPr id="10" name="Shape 8"/>
          <p:cNvSpPr/>
          <p:nvPr/>
        </p:nvSpPr>
        <p:spPr>
          <a:xfrm>
            <a:off x="6445151" y="3135511"/>
            <a:ext cx="9525" cy="3209925"/>
          </a:xfrm>
          <a:prstGeom prst="rect">
            <a:avLst/>
          </a:prstGeom>
          <a:solidFill>
            <a:srgbClr val="E6E6E6"/>
          </a:solidFill>
          <a:ln/>
        </p:spPr>
      </p:sp>
      <p:sp>
        <p:nvSpPr>
          <p:cNvPr id="11" name="Text 9"/>
          <p:cNvSpPr/>
          <p:nvPr/>
        </p:nvSpPr>
        <p:spPr>
          <a:xfrm>
            <a:off x="6835676" y="3668911"/>
            <a:ext cx="4764805" cy="1181100"/>
          </a:xfrm>
          <a:prstGeom prst="rect">
            <a:avLst/>
          </a:prstGeom>
          <a:noFill/>
          <a:ln/>
        </p:spPr>
        <p:txBody>
          <a:bodyPr wrap="square" lIns="25400" tIns="25400" rIns="25400" bIns="25400" rtlCol="0" anchor="t">
            <a:normAutofit/>
          </a:bodyPr>
          <a:lstStyle/>
          <a:p>
            <a:pPr algn="l" indent="0" marL="0">
              <a:lnSpc>
                <a:spcPct val="100000"/>
              </a:lnSpc>
              <a:buNone/>
            </a:pPr>
            <a:r>
              <a:rPr lang="en-US" sz="9000" b="1" spc="-360" kern="0" dirty="0">
                <a:solidFill>
                  <a:srgbClr val="1A1A2E"/>
                </a:solidFill>
                <a:latin typeface="Arial" pitchFamily="34" charset="0"/>
                <a:ea typeface="Arial" pitchFamily="34" charset="-122"/>
                <a:cs typeface="Arial" pitchFamily="34" charset="-120"/>
              </a:rPr>
              <a:t>3</a:t>
            </a:r>
            <a:endParaRPr lang="en-US" sz="9000" dirty="0"/>
          </a:p>
        </p:txBody>
      </p:sp>
      <p:sp>
        <p:nvSpPr>
          <p:cNvPr id="12" name="Text 10"/>
          <p:cNvSpPr/>
          <p:nvPr/>
        </p:nvSpPr>
        <p:spPr>
          <a:xfrm>
            <a:off x="6835676" y="4964311"/>
            <a:ext cx="4764805" cy="428625"/>
          </a:xfrm>
          <a:prstGeom prst="rect">
            <a:avLst/>
          </a:prstGeom>
          <a:noFill/>
          <a:ln/>
        </p:spPr>
        <p:txBody>
          <a:bodyPr wrap="square" lIns="25400" tIns="25400" rIns="25400" bIns="25400" rtlCol="0" anchor="t">
            <a:normAutofit/>
          </a:bodyPr>
          <a:lstStyle/>
          <a:p>
            <a:pPr algn="l" indent="0" marL="0">
              <a:buNone/>
            </a:pPr>
            <a:r>
              <a:rPr lang="en-US" sz="2550" dirty="0">
                <a:solidFill>
                  <a:srgbClr val="222222"/>
                </a:solidFill>
                <a:latin typeface="Arial" pitchFamily="34" charset="0"/>
                <a:ea typeface="Arial" pitchFamily="34" charset="-122"/>
                <a:cs typeface="Arial" pitchFamily="34" charset="-120"/>
              </a:rPr>
              <a:t>kanala iz iste baze</a:t>
            </a:r>
            <a:endParaRPr lang="en-US" sz="2550" dirty="0"/>
          </a:p>
        </p:txBody>
      </p:sp>
      <p:sp>
        <p:nvSpPr>
          <p:cNvPr id="13" name="Text 11"/>
          <p:cNvSpPr/>
          <p:nvPr/>
        </p:nvSpPr>
        <p:spPr>
          <a:xfrm>
            <a:off x="6835676" y="5507236"/>
            <a:ext cx="4764805"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chat, glas, e-mail</a:t>
            </a:r>
            <a:endParaRPr lang="en-US" sz="2100" dirty="0"/>
          </a:p>
        </p:txBody>
      </p:sp>
      <p:sp>
        <p:nvSpPr>
          <p:cNvPr id="14" name="Shape 12"/>
          <p:cNvSpPr/>
          <p:nvPr/>
        </p:nvSpPr>
        <p:spPr>
          <a:xfrm>
            <a:off x="11842700" y="3135511"/>
            <a:ext cx="9525" cy="3209925"/>
          </a:xfrm>
          <a:prstGeom prst="rect">
            <a:avLst/>
          </a:prstGeom>
          <a:solidFill>
            <a:srgbClr val="E6E6E6"/>
          </a:solidFill>
          <a:ln/>
        </p:spPr>
      </p:sp>
      <p:sp>
        <p:nvSpPr>
          <p:cNvPr id="15" name="Text 13"/>
          <p:cNvSpPr/>
          <p:nvPr/>
        </p:nvSpPr>
        <p:spPr>
          <a:xfrm>
            <a:off x="12233225" y="3668911"/>
            <a:ext cx="4764805" cy="1181100"/>
          </a:xfrm>
          <a:prstGeom prst="rect">
            <a:avLst/>
          </a:prstGeom>
          <a:noFill/>
          <a:ln/>
        </p:spPr>
        <p:txBody>
          <a:bodyPr wrap="square" lIns="25400" tIns="25400" rIns="25400" bIns="25400" rtlCol="0" anchor="t">
            <a:normAutofit/>
          </a:bodyPr>
          <a:lstStyle/>
          <a:p>
            <a:pPr algn="l" indent="0" marL="0">
              <a:lnSpc>
                <a:spcPct val="100000"/>
              </a:lnSpc>
              <a:buNone/>
            </a:pPr>
            <a:r>
              <a:rPr lang="en-US" sz="9000" b="1" spc="-360" kern="0" dirty="0">
                <a:solidFill>
                  <a:srgbClr val="1A1A2E"/>
                </a:solidFill>
                <a:latin typeface="Arial" pitchFamily="34" charset="0"/>
                <a:ea typeface="Arial" pitchFamily="34" charset="-122"/>
                <a:cs typeface="Arial" pitchFamily="34" charset="-120"/>
              </a:rPr>
              <a:t>24/7</a:t>
            </a:r>
            <a:endParaRPr lang="en-US" sz="9000" dirty="0"/>
          </a:p>
        </p:txBody>
      </p:sp>
      <p:sp>
        <p:nvSpPr>
          <p:cNvPr id="16" name="Text 14"/>
          <p:cNvSpPr/>
          <p:nvPr/>
        </p:nvSpPr>
        <p:spPr>
          <a:xfrm>
            <a:off x="12233225" y="4964311"/>
            <a:ext cx="4764805" cy="428625"/>
          </a:xfrm>
          <a:prstGeom prst="rect">
            <a:avLst/>
          </a:prstGeom>
          <a:noFill/>
          <a:ln/>
        </p:spPr>
        <p:txBody>
          <a:bodyPr wrap="square" lIns="25400" tIns="25400" rIns="25400" bIns="25400" rtlCol="0" anchor="t">
            <a:normAutofit/>
          </a:bodyPr>
          <a:lstStyle/>
          <a:p>
            <a:pPr algn="l" indent="0" marL="0">
              <a:buNone/>
            </a:pPr>
            <a:r>
              <a:rPr lang="en-US" sz="2550" dirty="0">
                <a:solidFill>
                  <a:srgbClr val="222222"/>
                </a:solidFill>
                <a:latin typeface="Arial" pitchFamily="34" charset="0"/>
                <a:ea typeface="Arial" pitchFamily="34" charset="-122"/>
                <a:cs typeface="Arial" pitchFamily="34" charset="-120"/>
              </a:rPr>
              <a:t>dostupnost</a:t>
            </a:r>
            <a:endParaRPr lang="en-US" sz="2550" dirty="0"/>
          </a:p>
        </p:txBody>
      </p:sp>
      <p:sp>
        <p:nvSpPr>
          <p:cNvPr id="17" name="Text 15"/>
          <p:cNvSpPr/>
          <p:nvPr/>
        </p:nvSpPr>
        <p:spPr>
          <a:xfrm>
            <a:off x="12233225" y="5507236"/>
            <a:ext cx="4764805"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i van radnog vremena</a:t>
            </a:r>
            <a:endParaRPr lang="en-US" sz="2100" dirty="0"/>
          </a:p>
        </p:txBody>
      </p:sp>
      <p:sp>
        <p:nvSpPr>
          <p:cNvPr id="18" name="Text 16"/>
          <p:cNvSpPr/>
          <p:nvPr/>
        </p:nvSpPr>
        <p:spPr>
          <a:xfrm>
            <a:off x="1047750" y="6926461"/>
            <a:ext cx="10791825" cy="811411"/>
          </a:xfrm>
          <a:prstGeom prst="rect">
            <a:avLst/>
          </a:prstGeom>
          <a:noFill/>
          <a:ln/>
        </p:spPr>
        <p:txBody>
          <a:bodyPr wrap="square" lIns="25400" tIns="25400" rIns="25400" bIns="25400" rtlCol="0" anchor="t">
            <a:normAutofit/>
          </a:bodyPr>
          <a:lstStyle/>
          <a:p>
            <a:pPr algn="l" indent="0" marL="0">
              <a:lnSpc>
                <a:spcPct val="145000"/>
              </a:lnSpc>
              <a:buNone/>
            </a:pPr>
            <a:r>
              <a:rPr lang="en-US" sz="2100" dirty="0">
                <a:solidFill>
                  <a:srgbClr val="666666"/>
                </a:solidFill>
                <a:latin typeface="Arial" pitchFamily="34" charset="0"/>
                <a:ea typeface="Arial" pitchFamily="34" charset="-122"/>
                <a:cs typeface="Arial" pitchFamily="34" charset="-120"/>
              </a:rPr>
              <a:t>Webshop sa hiljadama proizvoda i dnevnim upitima na tri kanala. Svaki kanal je prilika — ili pad u red čekanja.</a:t>
            </a:r>
            <a:endParaRPr lang="en-US" sz="2100" dirty="0"/>
          </a:p>
        </p:txBody>
      </p:sp>
      <p:sp>
        <p:nvSpPr>
          <p:cNvPr id="19" name="Text 17"/>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20" name="Text 18"/>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02/11</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02 · PROIZVOD</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Tri kanala, jedna baza znanja.</a:t>
            </a:r>
            <a:endParaRPr lang="en-US" sz="4800" dirty="0"/>
          </a:p>
        </p:txBody>
      </p:sp>
      <p:sp>
        <p:nvSpPr>
          <p:cNvPr id="5" name="Shape 3"/>
          <p:cNvSpPr/>
          <p:nvPr/>
        </p:nvSpPr>
        <p:spPr>
          <a:xfrm>
            <a:off x="1047750" y="2973586"/>
            <a:ext cx="5245001" cy="5960864"/>
          </a:xfrm>
          <a:prstGeom prst="roundRect">
            <a:avLst>
              <a:gd name="adj" fmla="val 2179"/>
            </a:avLst>
          </a:prstGeom>
          <a:solidFill>
            <a:srgbClr val="FFFFFF"/>
          </a:solidFill>
          <a:ln w="9525">
            <a:solidFill>
              <a:srgbClr val="E6E6E6"/>
            </a:solidFill>
            <a:prstDash val="solid"/>
          </a:ln>
        </p:spPr>
      </p:sp>
      <p:sp>
        <p:nvSpPr>
          <p:cNvPr id="6" name="Shape 4"/>
          <p:cNvSpPr/>
          <p:nvPr/>
        </p:nvSpPr>
        <p:spPr>
          <a:xfrm>
            <a:off x="1400175" y="3440311"/>
            <a:ext cx="95250" cy="95250"/>
          </a:xfrm>
          <a:prstGeom prst="roundRect">
            <a:avLst>
              <a:gd name="adj" fmla="val 20000"/>
            </a:avLst>
          </a:prstGeom>
          <a:solidFill>
            <a:srgbClr val="FB6D3B"/>
          </a:solidFill>
          <a:ln/>
        </p:spPr>
      </p:sp>
      <p:sp>
        <p:nvSpPr>
          <p:cNvPr id="7" name="Text 5"/>
          <p:cNvSpPr/>
          <p:nvPr/>
        </p:nvSpPr>
        <p:spPr>
          <a:xfrm>
            <a:off x="1628775" y="3364111"/>
            <a:ext cx="798761" cy="285750"/>
          </a:xfrm>
          <a:prstGeom prst="rect">
            <a:avLst/>
          </a:prstGeom>
          <a:noFill/>
          <a:ln/>
        </p:spPr>
        <p:txBody>
          <a:bodyPr wrap="square" lIns="25400" tIns="25400" rIns="25400" bIns="25400" rtlCol="0" anchor="t">
            <a:normAutofit/>
          </a:bodyPr>
          <a:lstStyle/>
          <a:p>
            <a:pPr algn="l" indent="0" marL="0">
              <a:buNone/>
            </a:pPr>
            <a:r>
              <a:rPr lang="en-US" sz="1650" spc="330" kern="0" dirty="0">
                <a:solidFill>
                  <a:srgbClr val="666666"/>
                </a:solidFill>
                <a:latin typeface="Arial" pitchFamily="34" charset="0"/>
                <a:ea typeface="Arial" pitchFamily="34" charset="-122"/>
                <a:cs typeface="Arial" pitchFamily="34" charset="-120"/>
              </a:rPr>
              <a:t>CHAT</a:t>
            </a:r>
            <a:endParaRPr lang="en-US" sz="1650" dirty="0"/>
          </a:p>
        </p:txBody>
      </p:sp>
      <p:sp>
        <p:nvSpPr>
          <p:cNvPr id="8" name="Text 6"/>
          <p:cNvSpPr/>
          <p:nvPr/>
        </p:nvSpPr>
        <p:spPr>
          <a:xfrm>
            <a:off x="1400175" y="3840361"/>
            <a:ext cx="4676355" cy="499021"/>
          </a:xfrm>
          <a:prstGeom prst="rect">
            <a:avLst/>
          </a:prstGeom>
          <a:noFill/>
          <a:ln/>
        </p:spPr>
        <p:txBody>
          <a:bodyPr wrap="square" lIns="25400" tIns="25400" rIns="25400" bIns="25400" rtlCol="0" anchor="t">
            <a:normAutofit/>
          </a:bodyPr>
          <a:lstStyle/>
          <a:p>
            <a:pPr algn="l" indent="0" marL="0">
              <a:lnSpc>
                <a:spcPct val="110000"/>
              </a:lnSpc>
              <a:buNone/>
            </a:pPr>
            <a:r>
              <a:rPr lang="en-US" sz="3300" b="1" spc="-66" kern="0" dirty="0">
                <a:solidFill>
                  <a:srgbClr val="1A1A2E"/>
                </a:solidFill>
                <a:latin typeface="Arial" pitchFamily="34" charset="0"/>
                <a:ea typeface="Arial" pitchFamily="34" charset="-122"/>
                <a:cs typeface="Arial" pitchFamily="34" charset="-120"/>
              </a:rPr>
              <a:t>Widget na sajtu</a:t>
            </a:r>
            <a:endParaRPr lang="en-US" sz="3300" dirty="0"/>
          </a:p>
        </p:txBody>
      </p:sp>
      <p:sp>
        <p:nvSpPr>
          <p:cNvPr id="9" name="Shape 7"/>
          <p:cNvSpPr/>
          <p:nvPr/>
        </p:nvSpPr>
        <p:spPr>
          <a:xfrm>
            <a:off x="1400175" y="7035254"/>
            <a:ext cx="4540151" cy="9525"/>
          </a:xfrm>
          <a:prstGeom prst="rect">
            <a:avLst/>
          </a:prstGeom>
          <a:solidFill>
            <a:srgbClr val="E6E6E6"/>
          </a:solidFill>
          <a:ln/>
        </p:spPr>
      </p:sp>
      <p:sp>
        <p:nvSpPr>
          <p:cNvPr id="10" name="Text 8"/>
          <p:cNvSpPr/>
          <p:nvPr/>
        </p:nvSpPr>
        <p:spPr>
          <a:xfrm>
            <a:off x="1400175" y="7311479"/>
            <a:ext cx="4676355" cy="398115"/>
          </a:xfrm>
          <a:prstGeom prst="rect">
            <a:avLst/>
          </a:prstGeom>
          <a:noFill/>
          <a:ln/>
        </p:spPr>
        <p:txBody>
          <a:bodyPr wrap="square" lIns="25400" tIns="25400" rIns="25400" bIns="25400" rtlCol="0" anchor="t">
            <a:normAutofit/>
          </a:bodyPr>
          <a:lstStyle/>
          <a:p>
            <a:pPr algn="l" indent="0" marL="0">
              <a:lnSpc>
                <a:spcPct val="135000"/>
              </a:lnSpc>
              <a:buNone/>
            </a:pPr>
            <a:r>
              <a:rPr lang="en-US" sz="2100" i="1" dirty="0">
                <a:solidFill>
                  <a:srgbClr val="222222"/>
                </a:solidFill>
                <a:latin typeface="Arial" pitchFamily="34" charset="0"/>
                <a:ea typeface="Arial" pitchFamily="34" charset="-122"/>
                <a:cs typeface="Arial" pitchFamily="34" charset="-120"/>
              </a:rPr>
              <a:t>„Imate li SSD 1TB do 400 KM?“</a:t>
            </a:r>
            <a:endParaRPr lang="en-US" sz="2100" dirty="0"/>
          </a:p>
        </p:txBody>
      </p:sp>
      <p:sp>
        <p:nvSpPr>
          <p:cNvPr id="11" name="Text 9"/>
          <p:cNvSpPr/>
          <p:nvPr/>
        </p:nvSpPr>
        <p:spPr>
          <a:xfrm>
            <a:off x="1400175" y="7823895"/>
            <a:ext cx="4676355"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Lista 3 proizvoda · cijene · linkovi → webshop</a:t>
            </a:r>
            <a:endParaRPr lang="en-US" sz="2100" dirty="0"/>
          </a:p>
        </p:txBody>
      </p:sp>
      <p:sp>
        <p:nvSpPr>
          <p:cNvPr id="12" name="Shape 10"/>
          <p:cNvSpPr/>
          <p:nvPr/>
        </p:nvSpPr>
        <p:spPr>
          <a:xfrm>
            <a:off x="6521351" y="2973586"/>
            <a:ext cx="5245150" cy="5960864"/>
          </a:xfrm>
          <a:prstGeom prst="roundRect">
            <a:avLst>
              <a:gd name="adj" fmla="val 2179"/>
            </a:avLst>
          </a:prstGeom>
          <a:solidFill>
            <a:srgbClr val="FFFFFF"/>
          </a:solidFill>
          <a:ln w="9525">
            <a:solidFill>
              <a:srgbClr val="E6E6E6"/>
            </a:solidFill>
            <a:prstDash val="solid"/>
          </a:ln>
        </p:spPr>
      </p:sp>
      <p:sp>
        <p:nvSpPr>
          <p:cNvPr id="13" name="Shape 11"/>
          <p:cNvSpPr/>
          <p:nvPr/>
        </p:nvSpPr>
        <p:spPr>
          <a:xfrm>
            <a:off x="6873776" y="3440311"/>
            <a:ext cx="95250" cy="95250"/>
          </a:xfrm>
          <a:prstGeom prst="roundRect">
            <a:avLst>
              <a:gd name="adj" fmla="val 20000"/>
            </a:avLst>
          </a:prstGeom>
          <a:solidFill>
            <a:srgbClr val="FB6D3B"/>
          </a:solidFill>
          <a:ln/>
        </p:spPr>
      </p:sp>
      <p:sp>
        <p:nvSpPr>
          <p:cNvPr id="14" name="Text 12"/>
          <p:cNvSpPr/>
          <p:nvPr/>
        </p:nvSpPr>
        <p:spPr>
          <a:xfrm>
            <a:off x="7102376" y="3364111"/>
            <a:ext cx="802928" cy="285750"/>
          </a:xfrm>
          <a:prstGeom prst="rect">
            <a:avLst/>
          </a:prstGeom>
          <a:noFill/>
          <a:ln/>
        </p:spPr>
        <p:txBody>
          <a:bodyPr wrap="square" lIns="25400" tIns="25400" rIns="25400" bIns="25400" rtlCol="0" anchor="t">
            <a:normAutofit/>
          </a:bodyPr>
          <a:lstStyle/>
          <a:p>
            <a:pPr algn="l" indent="0" marL="0">
              <a:buNone/>
            </a:pPr>
            <a:r>
              <a:rPr lang="en-US" sz="1650" spc="330" kern="0" dirty="0">
                <a:solidFill>
                  <a:srgbClr val="666666"/>
                </a:solidFill>
                <a:latin typeface="Arial" pitchFamily="34" charset="0"/>
                <a:ea typeface="Arial" pitchFamily="34" charset="-122"/>
                <a:cs typeface="Arial" pitchFamily="34" charset="-120"/>
              </a:rPr>
              <a:t>GLAS</a:t>
            </a:r>
            <a:endParaRPr lang="en-US" sz="1650" dirty="0"/>
          </a:p>
        </p:txBody>
      </p:sp>
      <p:sp>
        <p:nvSpPr>
          <p:cNvPr id="15" name="Text 13"/>
          <p:cNvSpPr/>
          <p:nvPr/>
        </p:nvSpPr>
        <p:spPr>
          <a:xfrm>
            <a:off x="6873776" y="3840361"/>
            <a:ext cx="4676509" cy="499021"/>
          </a:xfrm>
          <a:prstGeom prst="rect">
            <a:avLst/>
          </a:prstGeom>
          <a:noFill/>
          <a:ln/>
        </p:spPr>
        <p:txBody>
          <a:bodyPr wrap="square" lIns="25400" tIns="25400" rIns="25400" bIns="25400" rtlCol="0" anchor="t">
            <a:normAutofit/>
          </a:bodyPr>
          <a:lstStyle/>
          <a:p>
            <a:pPr algn="l" indent="0" marL="0">
              <a:lnSpc>
                <a:spcPct val="110000"/>
              </a:lnSpc>
              <a:buNone/>
            </a:pPr>
            <a:r>
              <a:rPr lang="en-US" sz="3300" b="1" spc="-66" kern="0" dirty="0">
                <a:solidFill>
                  <a:srgbClr val="1A1A2E"/>
                </a:solidFill>
                <a:latin typeface="Arial" pitchFamily="34" charset="0"/>
                <a:ea typeface="Arial" pitchFamily="34" charset="-122"/>
                <a:cs typeface="Arial" pitchFamily="34" charset="-120"/>
              </a:rPr>
              <a:t>Voice na materinjem</a:t>
            </a:r>
            <a:endParaRPr lang="en-US" sz="3300" dirty="0"/>
          </a:p>
        </p:txBody>
      </p:sp>
      <p:sp>
        <p:nvSpPr>
          <p:cNvPr id="16" name="Shape 14"/>
          <p:cNvSpPr/>
          <p:nvPr/>
        </p:nvSpPr>
        <p:spPr>
          <a:xfrm>
            <a:off x="6873776" y="7035254"/>
            <a:ext cx="4540300" cy="9525"/>
          </a:xfrm>
          <a:prstGeom prst="rect">
            <a:avLst/>
          </a:prstGeom>
          <a:solidFill>
            <a:srgbClr val="E6E6E6"/>
          </a:solidFill>
          <a:ln/>
        </p:spPr>
      </p:sp>
      <p:sp>
        <p:nvSpPr>
          <p:cNvPr id="17" name="Text 15"/>
          <p:cNvSpPr/>
          <p:nvPr/>
        </p:nvSpPr>
        <p:spPr>
          <a:xfrm>
            <a:off x="6873776" y="7311479"/>
            <a:ext cx="4676509" cy="398115"/>
          </a:xfrm>
          <a:prstGeom prst="rect">
            <a:avLst/>
          </a:prstGeom>
          <a:noFill/>
          <a:ln/>
        </p:spPr>
        <p:txBody>
          <a:bodyPr wrap="square" lIns="25400" tIns="25400" rIns="25400" bIns="25400" rtlCol="0" anchor="t">
            <a:normAutofit/>
          </a:bodyPr>
          <a:lstStyle/>
          <a:p>
            <a:pPr algn="l" indent="0" marL="0">
              <a:lnSpc>
                <a:spcPct val="135000"/>
              </a:lnSpc>
              <a:buNone/>
            </a:pPr>
            <a:r>
              <a:rPr lang="en-US" sz="2100" i="1" dirty="0">
                <a:solidFill>
                  <a:srgbClr val="222222"/>
                </a:solidFill>
                <a:latin typeface="Arial" pitchFamily="34" charset="0"/>
                <a:ea typeface="Arial" pitchFamily="34" charset="-122"/>
                <a:cs typeface="Arial" pitchFamily="34" charset="-120"/>
              </a:rPr>
              <a:t>„Tražim laptop do 1500 KM, gaming.“</a:t>
            </a:r>
            <a:endParaRPr lang="en-US" sz="2100" dirty="0"/>
          </a:p>
        </p:txBody>
      </p:sp>
      <p:sp>
        <p:nvSpPr>
          <p:cNvPr id="18" name="Text 16"/>
          <p:cNvSpPr/>
          <p:nvPr/>
        </p:nvSpPr>
        <p:spPr>
          <a:xfrm>
            <a:off x="6873776" y="7823895"/>
            <a:ext cx="4676509"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Odgovara glasom · native BCS izgovor cijena</a:t>
            </a:r>
            <a:endParaRPr lang="en-US" sz="2100" dirty="0"/>
          </a:p>
        </p:txBody>
      </p:sp>
      <p:sp>
        <p:nvSpPr>
          <p:cNvPr id="19" name="Shape 17"/>
          <p:cNvSpPr/>
          <p:nvPr/>
        </p:nvSpPr>
        <p:spPr>
          <a:xfrm>
            <a:off x="11995100" y="2973586"/>
            <a:ext cx="5245150" cy="5960864"/>
          </a:xfrm>
          <a:prstGeom prst="roundRect">
            <a:avLst>
              <a:gd name="adj" fmla="val 2179"/>
            </a:avLst>
          </a:prstGeom>
          <a:solidFill>
            <a:srgbClr val="FFFFFF"/>
          </a:solidFill>
          <a:ln w="9525">
            <a:solidFill>
              <a:srgbClr val="E6E6E6"/>
            </a:solidFill>
            <a:prstDash val="solid"/>
          </a:ln>
        </p:spPr>
      </p:sp>
      <p:sp>
        <p:nvSpPr>
          <p:cNvPr id="20" name="Shape 18"/>
          <p:cNvSpPr/>
          <p:nvPr/>
        </p:nvSpPr>
        <p:spPr>
          <a:xfrm>
            <a:off x="12347525" y="3440311"/>
            <a:ext cx="95250" cy="95250"/>
          </a:xfrm>
          <a:prstGeom prst="roundRect">
            <a:avLst>
              <a:gd name="adj" fmla="val 20000"/>
            </a:avLst>
          </a:prstGeom>
          <a:solidFill>
            <a:srgbClr val="FB6D3B"/>
          </a:solidFill>
          <a:ln/>
        </p:spPr>
      </p:sp>
      <p:sp>
        <p:nvSpPr>
          <p:cNvPr id="21" name="Text 19"/>
          <p:cNvSpPr/>
          <p:nvPr/>
        </p:nvSpPr>
        <p:spPr>
          <a:xfrm>
            <a:off x="12576125" y="3364111"/>
            <a:ext cx="1026319" cy="285750"/>
          </a:xfrm>
          <a:prstGeom prst="rect">
            <a:avLst/>
          </a:prstGeom>
          <a:noFill/>
          <a:ln/>
        </p:spPr>
        <p:txBody>
          <a:bodyPr wrap="square" lIns="25400" tIns="25400" rIns="25400" bIns="25400" rtlCol="0" anchor="t">
            <a:normAutofit/>
          </a:bodyPr>
          <a:lstStyle/>
          <a:p>
            <a:pPr algn="l" indent="0" marL="0">
              <a:buNone/>
            </a:pPr>
            <a:r>
              <a:rPr lang="en-US" sz="1650" spc="330" kern="0" dirty="0">
                <a:solidFill>
                  <a:srgbClr val="666666"/>
                </a:solidFill>
                <a:latin typeface="Arial" pitchFamily="34" charset="0"/>
                <a:ea typeface="Arial" pitchFamily="34" charset="-122"/>
                <a:cs typeface="Arial" pitchFamily="34" charset="-120"/>
              </a:rPr>
              <a:t>E-MAIL</a:t>
            </a:r>
            <a:endParaRPr lang="en-US" sz="1650" dirty="0"/>
          </a:p>
        </p:txBody>
      </p:sp>
      <p:sp>
        <p:nvSpPr>
          <p:cNvPr id="22" name="Text 20"/>
          <p:cNvSpPr/>
          <p:nvPr/>
        </p:nvSpPr>
        <p:spPr>
          <a:xfrm>
            <a:off x="12347525" y="3840361"/>
            <a:ext cx="4676509" cy="499021"/>
          </a:xfrm>
          <a:prstGeom prst="rect">
            <a:avLst/>
          </a:prstGeom>
          <a:noFill/>
          <a:ln/>
        </p:spPr>
        <p:txBody>
          <a:bodyPr wrap="square" lIns="25400" tIns="25400" rIns="25400" bIns="25400" rtlCol="0" anchor="t">
            <a:normAutofit/>
          </a:bodyPr>
          <a:lstStyle/>
          <a:p>
            <a:pPr algn="l" indent="0" marL="0">
              <a:lnSpc>
                <a:spcPct val="110000"/>
              </a:lnSpc>
              <a:buNone/>
            </a:pPr>
            <a:r>
              <a:rPr lang="en-US" sz="3300" b="1" spc="-66" kern="0" dirty="0">
                <a:solidFill>
                  <a:srgbClr val="1A1A2E"/>
                </a:solidFill>
                <a:latin typeface="Arial" pitchFamily="34" charset="0"/>
                <a:ea typeface="Arial" pitchFamily="34" charset="-122"/>
                <a:cs typeface="Arial" pitchFamily="34" charset="-120"/>
              </a:rPr>
              <a:t>Auto-reply za 30s</a:t>
            </a:r>
            <a:endParaRPr lang="en-US" sz="3300" dirty="0"/>
          </a:p>
        </p:txBody>
      </p:sp>
      <p:sp>
        <p:nvSpPr>
          <p:cNvPr id="23" name="Shape 21"/>
          <p:cNvSpPr/>
          <p:nvPr/>
        </p:nvSpPr>
        <p:spPr>
          <a:xfrm>
            <a:off x="12347525" y="7035254"/>
            <a:ext cx="4540300" cy="9525"/>
          </a:xfrm>
          <a:prstGeom prst="rect">
            <a:avLst/>
          </a:prstGeom>
          <a:solidFill>
            <a:srgbClr val="E6E6E6"/>
          </a:solidFill>
          <a:ln/>
        </p:spPr>
      </p:sp>
      <p:sp>
        <p:nvSpPr>
          <p:cNvPr id="24" name="Text 22"/>
          <p:cNvSpPr/>
          <p:nvPr/>
        </p:nvSpPr>
        <p:spPr>
          <a:xfrm>
            <a:off x="12347525" y="7311479"/>
            <a:ext cx="4676509" cy="398115"/>
          </a:xfrm>
          <a:prstGeom prst="rect">
            <a:avLst/>
          </a:prstGeom>
          <a:noFill/>
          <a:ln/>
        </p:spPr>
        <p:txBody>
          <a:bodyPr wrap="square" lIns="25400" tIns="25400" rIns="25400" bIns="25400" rtlCol="0" anchor="t">
            <a:normAutofit/>
          </a:bodyPr>
          <a:lstStyle/>
          <a:p>
            <a:pPr algn="l" indent="0" marL="0">
              <a:lnSpc>
                <a:spcPct val="135000"/>
              </a:lnSpc>
              <a:buNone/>
            </a:pPr>
            <a:r>
              <a:rPr lang="en-US" sz="2100" i="1" dirty="0">
                <a:solidFill>
                  <a:srgbClr val="222222"/>
                </a:solidFill>
                <a:latin typeface="Arial" pitchFamily="34" charset="0"/>
                <a:ea typeface="Arial" pitchFamily="34" charset="-122"/>
                <a:cs typeface="Arial" pitchFamily="34" charset="-120"/>
              </a:rPr>
              <a:t>Upit za firmu, JIB 4401234567891</a:t>
            </a:r>
            <a:endParaRPr lang="en-US" sz="2100" dirty="0"/>
          </a:p>
        </p:txBody>
      </p:sp>
      <p:sp>
        <p:nvSpPr>
          <p:cNvPr id="25" name="Text 23"/>
          <p:cNvSpPr/>
          <p:nvPr/>
        </p:nvSpPr>
        <p:spPr>
          <a:xfrm>
            <a:off x="12347525" y="7823895"/>
            <a:ext cx="4676509"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Profesionalan reply · eskalacija na prodaju kad treba</a:t>
            </a:r>
            <a:endParaRPr lang="en-US" sz="2100" dirty="0"/>
          </a:p>
        </p:txBody>
      </p:sp>
      <p:sp>
        <p:nvSpPr>
          <p:cNvPr id="26" name="Text 24"/>
          <p:cNvSpPr/>
          <p:nvPr/>
        </p:nvSpPr>
        <p:spPr>
          <a:xfrm>
            <a:off x="1047750" y="9277350"/>
            <a:ext cx="261520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katalog · FAQ · B2B pravila</a:t>
            </a:r>
            <a:endParaRPr lang="en-US" sz="1650" dirty="0"/>
          </a:p>
        </p:txBody>
      </p:sp>
      <p:sp>
        <p:nvSpPr>
          <p:cNvPr id="27" name="Text 25"/>
          <p:cNvSpPr/>
          <p:nvPr/>
        </p:nvSpPr>
        <p:spPr>
          <a:xfrm>
            <a:off x="3739158" y="9277350"/>
            <a:ext cx="285750" cy="285750"/>
          </a:xfrm>
          <a:prstGeom prst="rect">
            <a:avLst/>
          </a:prstGeom>
          <a:noFill/>
          <a:ln/>
        </p:spPr>
        <p:txBody>
          <a:bodyPr wrap="square" lIns="25400" tIns="25400" rIns="25400" bIns="25400" rtlCol="0" anchor="t">
            <a:normAutofit/>
          </a:bodyPr>
          <a:lstStyle/>
          <a:p>
            <a:pPr algn="l" indent="0" marL="0">
              <a:buNone/>
            </a:pPr>
            <a:r>
              <a:rPr lang="en-US" sz="1650" dirty="0">
                <a:solidFill>
                  <a:srgbClr val="999999"/>
                </a:solidFill>
                <a:latin typeface="Arial" pitchFamily="34" charset="0"/>
                <a:ea typeface="Arial" pitchFamily="34" charset="-122"/>
                <a:cs typeface="Arial" pitchFamily="34" charset="-120"/>
              </a:rPr>
              <a:t>→</a:t>
            </a:r>
            <a:endParaRPr lang="en-US" sz="1650" dirty="0"/>
          </a:p>
        </p:txBody>
      </p:sp>
      <p:sp>
        <p:nvSpPr>
          <p:cNvPr id="28" name="Text 26"/>
          <p:cNvSpPr/>
          <p:nvPr/>
        </p:nvSpPr>
        <p:spPr>
          <a:xfrm>
            <a:off x="4101108" y="9277350"/>
            <a:ext cx="1637109"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jedan izvor istine</a:t>
            </a:r>
            <a:endParaRPr lang="en-US" sz="1650" dirty="0"/>
          </a:p>
        </p:txBody>
      </p:sp>
      <p:sp>
        <p:nvSpPr>
          <p:cNvPr id="29" name="Text 27"/>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30" name="Text 28"/>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03/11</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AFAFA"/>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03 · 90-SEKUNDNI DEMO</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Jedan minut, tri pitanja.</a:t>
            </a:r>
            <a:endParaRPr lang="en-US" sz="4800" dirty="0"/>
          </a:p>
        </p:txBody>
      </p:sp>
      <p:sp>
        <p:nvSpPr>
          <p:cNvPr id="5" name="Shape 3"/>
          <p:cNvSpPr/>
          <p:nvPr/>
        </p:nvSpPr>
        <p:spPr>
          <a:xfrm>
            <a:off x="1047750" y="2897386"/>
            <a:ext cx="5219700" cy="6246614"/>
          </a:xfrm>
          <a:prstGeom prst="roundRect">
            <a:avLst>
              <a:gd name="adj" fmla="val 2190"/>
            </a:avLst>
          </a:prstGeom>
          <a:solidFill>
            <a:srgbClr val="FFFFFF"/>
          </a:solidFill>
          <a:ln w="9525">
            <a:solidFill>
              <a:srgbClr val="E6E6E6"/>
            </a:solidFill>
            <a:prstDash val="solid"/>
          </a:ln>
          <a:effectLst>
            <a:outerShdw sx="100000" sy="100000" kx="0" ky="0" algn="bl" rotWithShape="0" blurRad="101600" dist="9525" dir="5400000">
              <a:srgbClr val="1A1A2E">
                <a:alpha val="4000"/>
              </a:srgbClr>
            </a:outerShdw>
          </a:effectLst>
        </p:spPr>
      </p:sp>
      <p:sp>
        <p:nvSpPr>
          <p:cNvPr id="6" name="Shape 4"/>
          <p:cNvSpPr/>
          <p:nvPr/>
        </p:nvSpPr>
        <p:spPr>
          <a:xfrm>
            <a:off x="1228725" y="3125986"/>
            <a:ext cx="95250" cy="95250"/>
          </a:xfrm>
          <a:prstGeom prst="ellipse">
            <a:avLst/>
          </a:prstGeom>
          <a:solidFill>
            <a:srgbClr val="FB6D3B"/>
          </a:solidFill>
          <a:ln/>
        </p:spPr>
      </p:sp>
      <p:sp>
        <p:nvSpPr>
          <p:cNvPr id="7" name="Text 5"/>
          <p:cNvSpPr/>
          <p:nvPr/>
        </p:nvSpPr>
        <p:spPr>
          <a:xfrm>
            <a:off x="1400175" y="3078361"/>
            <a:ext cx="730895" cy="228600"/>
          </a:xfrm>
          <a:prstGeom prst="rect">
            <a:avLst/>
          </a:prstGeom>
          <a:noFill/>
          <a:ln/>
        </p:spPr>
        <p:txBody>
          <a:bodyPr wrap="square" lIns="25400" tIns="25400" rIns="25400" bIns="25400" rtlCol="0" anchor="t">
            <a:normAutofit/>
          </a:bodyPr>
          <a:lstStyle/>
          <a:p>
            <a:pPr algn="l" indent="0" marL="0">
              <a:buNone/>
            </a:pPr>
            <a:r>
              <a:rPr lang="en-US" sz="1200" b="1" dirty="0">
                <a:solidFill>
                  <a:srgbClr val="1A1A2E"/>
                </a:solidFill>
                <a:latin typeface="Arial" pitchFamily="34" charset="0"/>
                <a:ea typeface="Arial" pitchFamily="34" charset="-122"/>
                <a:cs typeface="Arial" pitchFamily="34" charset="-120"/>
              </a:rPr>
              <a:t>BitLab AI</a:t>
            </a:r>
            <a:endParaRPr lang="en-US" sz="1200" dirty="0"/>
          </a:p>
        </p:txBody>
      </p:sp>
      <p:sp>
        <p:nvSpPr>
          <p:cNvPr id="8" name="Text 6"/>
          <p:cNvSpPr/>
          <p:nvPr/>
        </p:nvSpPr>
        <p:spPr>
          <a:xfrm>
            <a:off x="5646688" y="3102173"/>
            <a:ext cx="515987" cy="180975"/>
          </a:xfrm>
          <a:prstGeom prst="rect">
            <a:avLst/>
          </a:prstGeom>
          <a:noFill/>
          <a:ln/>
        </p:spPr>
        <p:txBody>
          <a:bodyPr wrap="square" lIns="25400" tIns="25400" rIns="25400" bIns="25400" rtlCol="0" anchor="t">
            <a:normAutofit/>
          </a:bodyPr>
          <a:lstStyle/>
          <a:p>
            <a:pPr algn="l" indent="0" marL="0">
              <a:buNone/>
            </a:pPr>
            <a:r>
              <a:rPr lang="en-US" sz="975" dirty="0">
                <a:solidFill>
                  <a:srgbClr val="27AE60"/>
                </a:solidFill>
                <a:latin typeface="Arial" pitchFamily="34" charset="0"/>
                <a:ea typeface="Arial" pitchFamily="34" charset="-122"/>
                <a:cs typeface="Arial" pitchFamily="34" charset="-120"/>
              </a:rPr>
              <a:t>● online</a:t>
            </a:r>
            <a:endParaRPr lang="en-US" sz="975" dirty="0"/>
          </a:p>
        </p:txBody>
      </p:sp>
      <p:sp>
        <p:nvSpPr>
          <p:cNvPr id="9" name="Shape 7"/>
          <p:cNvSpPr/>
          <p:nvPr/>
        </p:nvSpPr>
        <p:spPr>
          <a:xfrm>
            <a:off x="3786783" y="3383161"/>
            <a:ext cx="2299692" cy="361950"/>
          </a:xfrm>
          <a:prstGeom prst="roundRect">
            <a:avLst>
              <a:gd name="adj" fmla="val 36842"/>
            </a:avLst>
          </a:prstGeom>
          <a:solidFill>
            <a:srgbClr val="FB6D3B"/>
          </a:solidFill>
          <a:ln/>
        </p:spPr>
      </p:sp>
      <p:sp>
        <p:nvSpPr>
          <p:cNvPr id="10" name="Text 8"/>
          <p:cNvSpPr/>
          <p:nvPr/>
        </p:nvSpPr>
        <p:spPr>
          <a:xfrm>
            <a:off x="3920133" y="3478411"/>
            <a:ext cx="2109192" cy="209550"/>
          </a:xfrm>
          <a:prstGeom prst="rect">
            <a:avLst/>
          </a:prstGeom>
          <a:noFill/>
          <a:ln/>
        </p:spPr>
        <p:txBody>
          <a:bodyPr wrap="square" lIns="25400" tIns="25400" rIns="25400" bIns="25400" rtlCol="0" anchor="t">
            <a:normAutofit/>
          </a:bodyPr>
          <a:lstStyle/>
          <a:p>
            <a:pPr algn="l" indent="0" marL="0">
              <a:buNone/>
            </a:pPr>
            <a:r>
              <a:rPr lang="en-US" sz="1200" dirty="0">
                <a:solidFill>
                  <a:srgbClr val="FFFFFF"/>
                </a:solidFill>
                <a:latin typeface="Arial" pitchFamily="34" charset="0"/>
                <a:ea typeface="Arial" pitchFamily="34" charset="-122"/>
                <a:cs typeface="Arial" pitchFamily="34" charset="-120"/>
              </a:rPr>
              <a:t>Imate li SSD 1TB do 400 KM?</a:t>
            </a:r>
            <a:endParaRPr lang="en-US" sz="1200" dirty="0"/>
          </a:p>
        </p:txBody>
      </p:sp>
      <p:sp>
        <p:nvSpPr>
          <p:cNvPr id="11" name="Shape 9"/>
          <p:cNvSpPr/>
          <p:nvPr/>
        </p:nvSpPr>
        <p:spPr>
          <a:xfrm>
            <a:off x="1228725" y="3859411"/>
            <a:ext cx="4857750" cy="790575"/>
          </a:xfrm>
          <a:prstGeom prst="roundRect">
            <a:avLst>
              <a:gd name="adj" fmla="val 16867"/>
            </a:avLst>
          </a:prstGeom>
          <a:solidFill>
            <a:srgbClr val="F4F4F6"/>
          </a:solidFill>
          <a:ln/>
        </p:spPr>
      </p:sp>
      <p:sp>
        <p:nvSpPr>
          <p:cNvPr id="12" name="Text 10"/>
          <p:cNvSpPr/>
          <p:nvPr/>
        </p:nvSpPr>
        <p:spPr>
          <a:xfrm>
            <a:off x="1362075" y="3954661"/>
            <a:ext cx="4736783" cy="638175"/>
          </a:xfrm>
          <a:prstGeom prst="rect">
            <a:avLst/>
          </a:prstGeom>
          <a:noFill/>
          <a:ln/>
        </p:spPr>
        <p:txBody>
          <a:bodyPr wrap="square" lIns="25400" tIns="25400" rIns="25400" bIns="25400" rtlCol="0" anchor="t">
            <a:normAutofit/>
          </a:bodyPr>
          <a:lstStyle/>
          <a:p>
            <a:pPr algn="l" indent="0" marL="0">
              <a:lnSpc>
                <a:spcPct val="140000"/>
              </a:lnSpc>
              <a:buNone/>
            </a:pPr>
            <a:r>
              <a:rPr lang="en-US" sz="1125" dirty="0">
                <a:solidFill>
                  <a:srgbClr val="222222"/>
                </a:solidFill>
                <a:latin typeface="Arial" pitchFamily="34" charset="0"/>
                <a:ea typeface="Arial" pitchFamily="34" charset="-122"/>
                <a:cs typeface="Arial" pitchFamily="34" charset="-120"/>
              </a:rPr>
              <a:t>Da. Imam 3 modela: </a:t>
            </a:r>
            <a:pPr algn="l" indent="0" marL="0">
              <a:lnSpc>
                <a:spcPct val="140000"/>
              </a:lnSpc>
              <a:buNone/>
            </a:pPr>
            <a:r>
              <a:rPr lang="en-US" sz="1125" b="1" dirty="0">
                <a:solidFill>
                  <a:srgbClr val="222222"/>
                </a:solidFill>
                <a:latin typeface="Arial" pitchFamily="34" charset="0"/>
                <a:ea typeface="Arial" pitchFamily="34" charset="-122"/>
                <a:cs typeface="Arial" pitchFamily="34" charset="-120"/>
              </a:rPr>
              <a:t>Patriot P210 1TB</a:t>
            </a:r>
            <a:pPr algn="l" indent="0" marL="0">
              <a:lnSpc>
                <a:spcPct val="140000"/>
              </a:lnSpc>
              <a:buNone/>
            </a:pPr>
            <a:r>
              <a:rPr lang="en-US" sz="1125" dirty="0">
                <a:solidFill>
                  <a:srgbClr val="222222"/>
                </a:solidFill>
                <a:latin typeface="Arial" pitchFamily="34" charset="0"/>
                <a:ea typeface="Arial" pitchFamily="34" charset="-122"/>
                <a:cs typeface="Arial" pitchFamily="34" charset="-120"/>
              </a:rPr>
              <a:t>— 369 KM </a:t>
            </a:r>
            <a:pPr algn="l" indent="0" marL="0">
              <a:lnSpc>
                <a:spcPct val="140000"/>
              </a:lnSpc>
              <a:buNone/>
            </a:pPr>
            <a:r>
              <a:rPr lang="en-US" sz="1125" b="1" dirty="0">
                <a:solidFill>
                  <a:srgbClr val="222222"/>
                </a:solidFill>
                <a:latin typeface="Arial" pitchFamily="34" charset="0"/>
                <a:ea typeface="Arial" pitchFamily="34" charset="-122"/>
                <a:cs typeface="Arial" pitchFamily="34" charset="-120"/>
              </a:rPr>
              <a:t>Kingston A400</a:t>
            </a:r>
            <a:pPr algn="l" indent="0" marL="0">
              <a:lnSpc>
                <a:spcPct val="140000"/>
              </a:lnSpc>
              <a:buNone/>
            </a:pPr>
            <a:r>
              <a:rPr lang="en-US" sz="1125" dirty="0">
                <a:solidFill>
                  <a:srgbClr val="222222"/>
                </a:solidFill>
                <a:latin typeface="Arial" pitchFamily="34" charset="0"/>
                <a:ea typeface="Arial" pitchFamily="34" charset="-122"/>
                <a:cs typeface="Arial" pitchFamily="34" charset="-120"/>
              </a:rPr>
              <a:t>— 389 KM</a:t>
            </a:r>
            <a:endParaRPr lang="en-US" sz="1125" dirty="0"/>
          </a:p>
        </p:txBody>
      </p:sp>
      <p:sp>
        <p:nvSpPr>
          <p:cNvPr id="13" name="Text 11"/>
          <p:cNvSpPr/>
          <p:nvPr/>
        </p:nvSpPr>
        <p:spPr>
          <a:xfrm>
            <a:off x="1047750" y="9277350"/>
            <a:ext cx="472380"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chat</a:t>
            </a:r>
            <a:endParaRPr lang="en-US" sz="1650" dirty="0"/>
          </a:p>
        </p:txBody>
      </p:sp>
      <p:sp>
        <p:nvSpPr>
          <p:cNvPr id="14" name="Text 12"/>
          <p:cNvSpPr/>
          <p:nvPr/>
        </p:nvSpPr>
        <p:spPr>
          <a:xfrm>
            <a:off x="4892576" y="9277350"/>
            <a:ext cx="145107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00:00 — 00:30</a:t>
            </a:r>
            <a:endParaRPr lang="en-US" sz="1650" dirty="0"/>
          </a:p>
        </p:txBody>
      </p:sp>
      <p:sp>
        <p:nvSpPr>
          <p:cNvPr id="15" name="Shape 13"/>
          <p:cNvSpPr/>
          <p:nvPr/>
        </p:nvSpPr>
        <p:spPr>
          <a:xfrm>
            <a:off x="6534150" y="2897386"/>
            <a:ext cx="5219700" cy="6246614"/>
          </a:xfrm>
          <a:prstGeom prst="roundRect">
            <a:avLst>
              <a:gd name="adj" fmla="val 2190"/>
            </a:avLst>
          </a:prstGeom>
          <a:solidFill>
            <a:srgbClr val="1A1A2E"/>
          </a:solidFill>
          <a:ln/>
        </p:spPr>
      </p:sp>
      <p:sp>
        <p:nvSpPr>
          <p:cNvPr id="16" name="Shape 14"/>
          <p:cNvSpPr/>
          <p:nvPr/>
        </p:nvSpPr>
        <p:spPr>
          <a:xfrm>
            <a:off x="6762750" y="3149798"/>
            <a:ext cx="114300" cy="114300"/>
          </a:xfrm>
          <a:prstGeom prst="ellipse">
            <a:avLst/>
          </a:prstGeom>
          <a:solidFill>
            <a:srgbClr val="FB6D3B"/>
          </a:solidFill>
          <a:ln/>
          <a:effectLst>
            <a:outerShdw sx="100000" sy="100000" kx="0" ky="0" algn="bl" rotWithShape="0" blurRad="101600" dist="50800" dir="16200000">
              <a:srgbClr val="FB6D3B">
                <a:alpha val="20000"/>
              </a:srgbClr>
            </a:outerShdw>
          </a:effectLst>
        </p:spPr>
      </p:sp>
      <p:sp>
        <p:nvSpPr>
          <p:cNvPr id="17" name="Text 15"/>
          <p:cNvSpPr/>
          <p:nvPr/>
        </p:nvSpPr>
        <p:spPr>
          <a:xfrm>
            <a:off x="6972300" y="3125986"/>
            <a:ext cx="880170" cy="200025"/>
          </a:xfrm>
          <a:prstGeom prst="rect">
            <a:avLst/>
          </a:prstGeom>
          <a:noFill/>
          <a:ln/>
        </p:spPr>
        <p:txBody>
          <a:bodyPr wrap="square" lIns="25400" tIns="25400" rIns="25400" bIns="25400" rtlCol="0" anchor="t">
            <a:normAutofit/>
          </a:bodyPr>
          <a:lstStyle/>
          <a:p>
            <a:pPr algn="l" indent="0" marL="0">
              <a:buNone/>
            </a:pPr>
            <a:r>
              <a:rPr lang="en-US" sz="1050" spc="105" kern="0" dirty="0">
                <a:solidFill>
                  <a:srgbClr val="FFFFFF">
                    <a:alpha val="70000"/>
                  </a:srgbClr>
                </a:solidFill>
                <a:latin typeface="Arial" pitchFamily="34" charset="0"/>
                <a:ea typeface="Arial" pitchFamily="34" charset="-122"/>
                <a:cs typeface="Arial" pitchFamily="34" charset="-120"/>
              </a:rPr>
              <a:t>SLUŠAM...</a:t>
            </a:r>
            <a:endParaRPr lang="en-US" sz="1050" dirty="0"/>
          </a:p>
        </p:txBody>
      </p:sp>
      <p:sp>
        <p:nvSpPr>
          <p:cNvPr id="18" name="Shape 16"/>
          <p:cNvSpPr/>
          <p:nvPr/>
        </p:nvSpPr>
        <p:spPr>
          <a:xfrm>
            <a:off x="6762750" y="3640336"/>
            <a:ext cx="38100" cy="171450"/>
          </a:xfrm>
          <a:prstGeom prst="roundRect">
            <a:avLst>
              <a:gd name="adj" fmla="val 50000"/>
            </a:avLst>
          </a:prstGeom>
          <a:solidFill>
            <a:srgbClr val="FB6D3B"/>
          </a:solidFill>
          <a:ln/>
        </p:spPr>
      </p:sp>
      <p:sp>
        <p:nvSpPr>
          <p:cNvPr id="19" name="Shape 17"/>
          <p:cNvSpPr/>
          <p:nvPr/>
        </p:nvSpPr>
        <p:spPr>
          <a:xfrm>
            <a:off x="6838950" y="3573661"/>
            <a:ext cx="38100" cy="304800"/>
          </a:xfrm>
          <a:prstGeom prst="roundRect">
            <a:avLst>
              <a:gd name="adj" fmla="val 50000"/>
            </a:avLst>
          </a:prstGeom>
          <a:solidFill>
            <a:srgbClr val="FFFFFF">
              <a:alpha val="50000"/>
            </a:srgbClr>
          </a:solidFill>
          <a:ln/>
        </p:spPr>
      </p:sp>
      <p:sp>
        <p:nvSpPr>
          <p:cNvPr id="20" name="Shape 18"/>
          <p:cNvSpPr/>
          <p:nvPr/>
        </p:nvSpPr>
        <p:spPr>
          <a:xfrm>
            <a:off x="6915150" y="3497461"/>
            <a:ext cx="38100" cy="457200"/>
          </a:xfrm>
          <a:prstGeom prst="roundRect">
            <a:avLst>
              <a:gd name="adj" fmla="val 50000"/>
            </a:avLst>
          </a:prstGeom>
          <a:solidFill>
            <a:srgbClr val="FFFFFF">
              <a:alpha val="50000"/>
            </a:srgbClr>
          </a:solidFill>
          <a:ln/>
        </p:spPr>
      </p:sp>
      <p:sp>
        <p:nvSpPr>
          <p:cNvPr id="21" name="Shape 19"/>
          <p:cNvSpPr/>
          <p:nvPr/>
        </p:nvSpPr>
        <p:spPr>
          <a:xfrm>
            <a:off x="6991350" y="3602236"/>
            <a:ext cx="38100" cy="247650"/>
          </a:xfrm>
          <a:prstGeom prst="roundRect">
            <a:avLst>
              <a:gd name="adj" fmla="val 50000"/>
            </a:avLst>
          </a:prstGeom>
          <a:solidFill>
            <a:srgbClr val="FB6D3B"/>
          </a:solidFill>
          <a:ln/>
        </p:spPr>
      </p:sp>
      <p:sp>
        <p:nvSpPr>
          <p:cNvPr id="22" name="Shape 20"/>
          <p:cNvSpPr/>
          <p:nvPr/>
        </p:nvSpPr>
        <p:spPr>
          <a:xfrm>
            <a:off x="7067550" y="3478411"/>
            <a:ext cx="38100" cy="495300"/>
          </a:xfrm>
          <a:prstGeom prst="roundRect">
            <a:avLst>
              <a:gd name="adj" fmla="val 50000"/>
            </a:avLst>
          </a:prstGeom>
          <a:solidFill>
            <a:srgbClr val="FFFFFF">
              <a:alpha val="50000"/>
            </a:srgbClr>
          </a:solidFill>
          <a:ln/>
        </p:spPr>
      </p:sp>
      <p:sp>
        <p:nvSpPr>
          <p:cNvPr id="23" name="Shape 21"/>
          <p:cNvSpPr/>
          <p:nvPr/>
        </p:nvSpPr>
        <p:spPr>
          <a:xfrm>
            <a:off x="7143750" y="3545086"/>
            <a:ext cx="38100" cy="361950"/>
          </a:xfrm>
          <a:prstGeom prst="roundRect">
            <a:avLst>
              <a:gd name="adj" fmla="val 50000"/>
            </a:avLst>
          </a:prstGeom>
          <a:solidFill>
            <a:srgbClr val="FFFFFF">
              <a:alpha val="50000"/>
            </a:srgbClr>
          </a:solidFill>
          <a:ln/>
        </p:spPr>
      </p:sp>
      <p:sp>
        <p:nvSpPr>
          <p:cNvPr id="24" name="Shape 22"/>
          <p:cNvSpPr/>
          <p:nvPr/>
        </p:nvSpPr>
        <p:spPr>
          <a:xfrm>
            <a:off x="7219950" y="3621286"/>
            <a:ext cx="38100" cy="209550"/>
          </a:xfrm>
          <a:prstGeom prst="roundRect">
            <a:avLst>
              <a:gd name="adj" fmla="val 50000"/>
            </a:avLst>
          </a:prstGeom>
          <a:solidFill>
            <a:srgbClr val="FB6D3B"/>
          </a:solidFill>
          <a:ln/>
        </p:spPr>
      </p:sp>
      <p:sp>
        <p:nvSpPr>
          <p:cNvPr id="25" name="Shape 23"/>
          <p:cNvSpPr/>
          <p:nvPr/>
        </p:nvSpPr>
        <p:spPr>
          <a:xfrm>
            <a:off x="7296150" y="3516511"/>
            <a:ext cx="38100" cy="419100"/>
          </a:xfrm>
          <a:prstGeom prst="roundRect">
            <a:avLst>
              <a:gd name="adj" fmla="val 50000"/>
            </a:avLst>
          </a:prstGeom>
          <a:solidFill>
            <a:srgbClr val="FFFFFF">
              <a:alpha val="50000"/>
            </a:srgbClr>
          </a:solidFill>
          <a:ln/>
        </p:spPr>
      </p:sp>
      <p:sp>
        <p:nvSpPr>
          <p:cNvPr id="26" name="Shape 24"/>
          <p:cNvSpPr/>
          <p:nvPr/>
        </p:nvSpPr>
        <p:spPr>
          <a:xfrm>
            <a:off x="7372350" y="3583186"/>
            <a:ext cx="38100" cy="285750"/>
          </a:xfrm>
          <a:prstGeom prst="roundRect">
            <a:avLst>
              <a:gd name="adj" fmla="val 50000"/>
            </a:avLst>
          </a:prstGeom>
          <a:solidFill>
            <a:srgbClr val="FFFFFF">
              <a:alpha val="50000"/>
            </a:srgbClr>
          </a:solidFill>
          <a:ln/>
        </p:spPr>
      </p:sp>
      <p:sp>
        <p:nvSpPr>
          <p:cNvPr id="27" name="Shape 25"/>
          <p:cNvSpPr/>
          <p:nvPr/>
        </p:nvSpPr>
        <p:spPr>
          <a:xfrm>
            <a:off x="7448550" y="3487936"/>
            <a:ext cx="38100" cy="476250"/>
          </a:xfrm>
          <a:prstGeom prst="roundRect">
            <a:avLst>
              <a:gd name="adj" fmla="val 50000"/>
            </a:avLst>
          </a:prstGeom>
          <a:solidFill>
            <a:srgbClr val="FB6D3B"/>
          </a:solidFill>
          <a:ln/>
        </p:spPr>
      </p:sp>
      <p:sp>
        <p:nvSpPr>
          <p:cNvPr id="28" name="Shape 26"/>
          <p:cNvSpPr/>
          <p:nvPr/>
        </p:nvSpPr>
        <p:spPr>
          <a:xfrm>
            <a:off x="7524750" y="3554611"/>
            <a:ext cx="38100" cy="342900"/>
          </a:xfrm>
          <a:prstGeom prst="roundRect">
            <a:avLst>
              <a:gd name="adj" fmla="val 50000"/>
            </a:avLst>
          </a:prstGeom>
          <a:solidFill>
            <a:srgbClr val="FFFFFF">
              <a:alpha val="50000"/>
            </a:srgbClr>
          </a:solidFill>
          <a:ln/>
        </p:spPr>
      </p:sp>
      <p:sp>
        <p:nvSpPr>
          <p:cNvPr id="29" name="Shape 27"/>
          <p:cNvSpPr/>
          <p:nvPr/>
        </p:nvSpPr>
        <p:spPr>
          <a:xfrm>
            <a:off x="7600950" y="3611761"/>
            <a:ext cx="38100" cy="228600"/>
          </a:xfrm>
          <a:prstGeom prst="roundRect">
            <a:avLst>
              <a:gd name="adj" fmla="val 50000"/>
            </a:avLst>
          </a:prstGeom>
          <a:solidFill>
            <a:srgbClr val="FFFFFF">
              <a:alpha val="50000"/>
            </a:srgbClr>
          </a:solidFill>
          <a:ln/>
        </p:spPr>
      </p:sp>
      <p:sp>
        <p:nvSpPr>
          <p:cNvPr id="30" name="Shape 28"/>
          <p:cNvSpPr/>
          <p:nvPr/>
        </p:nvSpPr>
        <p:spPr>
          <a:xfrm>
            <a:off x="7677150" y="3526036"/>
            <a:ext cx="38100" cy="400050"/>
          </a:xfrm>
          <a:prstGeom prst="roundRect">
            <a:avLst>
              <a:gd name="adj" fmla="val 50000"/>
            </a:avLst>
          </a:prstGeom>
          <a:solidFill>
            <a:srgbClr val="FB6D3B"/>
          </a:solidFill>
          <a:ln/>
        </p:spPr>
      </p:sp>
      <p:sp>
        <p:nvSpPr>
          <p:cNvPr id="31" name="Shape 29"/>
          <p:cNvSpPr/>
          <p:nvPr/>
        </p:nvSpPr>
        <p:spPr>
          <a:xfrm>
            <a:off x="7753350" y="3592711"/>
            <a:ext cx="38100" cy="266700"/>
          </a:xfrm>
          <a:prstGeom prst="roundRect">
            <a:avLst>
              <a:gd name="adj" fmla="val 50000"/>
            </a:avLst>
          </a:prstGeom>
          <a:solidFill>
            <a:srgbClr val="FFFFFF">
              <a:alpha val="50000"/>
            </a:srgbClr>
          </a:solidFill>
          <a:ln/>
        </p:spPr>
      </p:sp>
      <p:sp>
        <p:nvSpPr>
          <p:cNvPr id="32" name="Shape 30"/>
          <p:cNvSpPr/>
          <p:nvPr/>
        </p:nvSpPr>
        <p:spPr>
          <a:xfrm>
            <a:off x="7829550" y="3506986"/>
            <a:ext cx="38100" cy="438150"/>
          </a:xfrm>
          <a:prstGeom prst="roundRect">
            <a:avLst>
              <a:gd name="adj" fmla="val 50000"/>
            </a:avLst>
          </a:prstGeom>
          <a:solidFill>
            <a:srgbClr val="FFFFFF">
              <a:alpha val="50000"/>
            </a:srgbClr>
          </a:solidFill>
          <a:ln/>
        </p:spPr>
      </p:sp>
      <p:sp>
        <p:nvSpPr>
          <p:cNvPr id="33" name="Shape 31"/>
          <p:cNvSpPr/>
          <p:nvPr/>
        </p:nvSpPr>
        <p:spPr>
          <a:xfrm>
            <a:off x="7905750" y="3564136"/>
            <a:ext cx="38100" cy="323850"/>
          </a:xfrm>
          <a:prstGeom prst="roundRect">
            <a:avLst>
              <a:gd name="adj" fmla="val 50000"/>
            </a:avLst>
          </a:prstGeom>
          <a:solidFill>
            <a:srgbClr val="FB6D3B"/>
          </a:solidFill>
          <a:ln/>
        </p:spPr>
      </p:sp>
      <p:sp>
        <p:nvSpPr>
          <p:cNvPr id="34" name="Shape 32"/>
          <p:cNvSpPr/>
          <p:nvPr/>
        </p:nvSpPr>
        <p:spPr>
          <a:xfrm>
            <a:off x="7981950" y="3630811"/>
            <a:ext cx="38100" cy="190500"/>
          </a:xfrm>
          <a:prstGeom prst="roundRect">
            <a:avLst>
              <a:gd name="adj" fmla="val 50000"/>
            </a:avLst>
          </a:prstGeom>
          <a:solidFill>
            <a:srgbClr val="FFFFFF">
              <a:alpha val="50000"/>
            </a:srgbClr>
          </a:solidFill>
          <a:ln/>
        </p:spPr>
      </p:sp>
      <p:sp>
        <p:nvSpPr>
          <p:cNvPr id="35" name="Text 33"/>
          <p:cNvSpPr/>
          <p:nvPr/>
        </p:nvSpPr>
        <p:spPr>
          <a:xfrm>
            <a:off x="6762750" y="4164211"/>
            <a:ext cx="4905375" cy="264765"/>
          </a:xfrm>
          <a:prstGeom prst="rect">
            <a:avLst/>
          </a:prstGeom>
          <a:noFill/>
          <a:ln/>
        </p:spPr>
        <p:txBody>
          <a:bodyPr wrap="square" lIns="25400" tIns="25400" rIns="25400" bIns="25400" rtlCol="0" anchor="t">
            <a:normAutofit/>
          </a:bodyPr>
          <a:lstStyle/>
          <a:p>
            <a:pPr algn="l" indent="0" marL="0">
              <a:lnSpc>
                <a:spcPct val="140000"/>
              </a:lnSpc>
              <a:buNone/>
            </a:pPr>
            <a:r>
              <a:rPr lang="en-US" sz="1275" i="1" dirty="0">
                <a:solidFill>
                  <a:srgbClr val="FFFFFF">
                    <a:alpha val="95000"/>
                  </a:srgbClr>
                </a:solidFill>
                <a:latin typeface="Arial" pitchFamily="34" charset="0"/>
                <a:ea typeface="Arial" pitchFamily="34" charset="-122"/>
                <a:cs typeface="Arial" pitchFamily="34" charset="-120"/>
              </a:rPr>
              <a:t>„Tražim laptop do hiljadu petsto maraka, za gaming.“</a:t>
            </a:r>
            <a:endParaRPr lang="en-US" sz="1275" dirty="0"/>
          </a:p>
        </p:txBody>
      </p:sp>
      <p:sp>
        <p:nvSpPr>
          <p:cNvPr id="36" name="Text 34"/>
          <p:cNvSpPr/>
          <p:nvPr/>
        </p:nvSpPr>
        <p:spPr>
          <a:xfrm>
            <a:off x="6762750" y="8772525"/>
            <a:ext cx="4905375" cy="180975"/>
          </a:xfrm>
          <a:prstGeom prst="rect">
            <a:avLst/>
          </a:prstGeom>
          <a:noFill/>
          <a:ln/>
        </p:spPr>
        <p:txBody>
          <a:bodyPr wrap="square" lIns="25400" tIns="25400" rIns="25400" bIns="25400" rtlCol="0" anchor="t">
            <a:normAutofit/>
          </a:bodyPr>
          <a:lstStyle/>
          <a:p>
            <a:pPr algn="l" indent="0" marL="0">
              <a:buNone/>
            </a:pPr>
            <a:r>
              <a:rPr lang="en-US" sz="975" dirty="0">
                <a:solidFill>
                  <a:srgbClr val="FB6D3B">
                    <a:alpha val="85000"/>
                  </a:srgbClr>
                </a:solidFill>
                <a:latin typeface="Arial" pitchFamily="34" charset="0"/>
                <a:ea typeface="Arial" pitchFamily="34" charset="-122"/>
                <a:cs typeface="Arial" pitchFamily="34" charset="-120"/>
              </a:rPr>
              <a:t>bcs · native voice</a:t>
            </a:r>
            <a:endParaRPr lang="en-US" sz="975" dirty="0"/>
          </a:p>
        </p:txBody>
      </p:sp>
      <p:sp>
        <p:nvSpPr>
          <p:cNvPr id="37" name="Text 35"/>
          <p:cNvSpPr/>
          <p:nvPr/>
        </p:nvSpPr>
        <p:spPr>
          <a:xfrm>
            <a:off x="6534150" y="9277350"/>
            <a:ext cx="565398"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voice</a:t>
            </a:r>
            <a:endParaRPr lang="en-US" sz="1650" dirty="0"/>
          </a:p>
        </p:txBody>
      </p:sp>
      <p:sp>
        <p:nvSpPr>
          <p:cNvPr id="38" name="Text 36"/>
          <p:cNvSpPr/>
          <p:nvPr/>
        </p:nvSpPr>
        <p:spPr>
          <a:xfrm>
            <a:off x="10378976" y="9277350"/>
            <a:ext cx="145107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00:30 — 00:50</a:t>
            </a:r>
            <a:endParaRPr lang="en-US" sz="1650" dirty="0"/>
          </a:p>
        </p:txBody>
      </p:sp>
      <p:sp>
        <p:nvSpPr>
          <p:cNvPr id="39" name="Shape 37"/>
          <p:cNvSpPr/>
          <p:nvPr/>
        </p:nvSpPr>
        <p:spPr>
          <a:xfrm>
            <a:off x="12020550" y="2897386"/>
            <a:ext cx="5219700" cy="6246614"/>
          </a:xfrm>
          <a:prstGeom prst="roundRect">
            <a:avLst>
              <a:gd name="adj" fmla="val 2190"/>
            </a:avLst>
          </a:prstGeom>
          <a:solidFill>
            <a:srgbClr val="FFFFFF"/>
          </a:solidFill>
          <a:ln w="9525">
            <a:solidFill>
              <a:srgbClr val="E6E6E6"/>
            </a:solidFill>
            <a:prstDash val="solid"/>
          </a:ln>
        </p:spPr>
      </p:sp>
      <p:sp>
        <p:nvSpPr>
          <p:cNvPr id="40" name="Text 38"/>
          <p:cNvSpPr/>
          <p:nvPr/>
        </p:nvSpPr>
        <p:spPr>
          <a:xfrm>
            <a:off x="12239625" y="3116461"/>
            <a:ext cx="4924997" cy="215205"/>
          </a:xfrm>
          <a:prstGeom prst="rect">
            <a:avLst/>
          </a:prstGeom>
          <a:noFill/>
          <a:ln/>
        </p:spPr>
        <p:txBody>
          <a:bodyPr wrap="square" lIns="25400" tIns="25400" rIns="25400" bIns="25400" rtlCol="0" anchor="t">
            <a:normAutofit/>
          </a:bodyPr>
          <a:lstStyle/>
          <a:p>
            <a:pPr algn="l" indent="0" marL="0">
              <a:lnSpc>
                <a:spcPct val="155000"/>
              </a:lnSpc>
              <a:buNone/>
            </a:pPr>
            <a:r>
              <a:rPr lang="en-US" sz="900" dirty="0">
                <a:solidFill>
                  <a:srgbClr val="999999"/>
                </a:solidFill>
                <a:latin typeface="Arial" pitchFamily="34" charset="0"/>
                <a:ea typeface="Arial" pitchFamily="34" charset="-122"/>
                <a:cs typeface="Arial" pitchFamily="34" charset="-120"/>
              </a:rPr>
              <a:t>From: prodaja@bitlab.rs</a:t>
            </a:r>
            <a:endParaRPr lang="en-US" sz="900" dirty="0"/>
          </a:p>
        </p:txBody>
      </p:sp>
      <p:sp>
        <p:nvSpPr>
          <p:cNvPr id="41" name="Text 39"/>
          <p:cNvSpPr/>
          <p:nvPr/>
        </p:nvSpPr>
        <p:spPr>
          <a:xfrm>
            <a:off x="12239625" y="3426916"/>
            <a:ext cx="4924997" cy="215205"/>
          </a:xfrm>
          <a:prstGeom prst="rect">
            <a:avLst/>
          </a:prstGeom>
          <a:noFill/>
          <a:ln/>
        </p:spPr>
        <p:txBody>
          <a:bodyPr wrap="square" lIns="25400" tIns="25400" rIns="25400" bIns="25400" rtlCol="0" anchor="t">
            <a:normAutofit/>
          </a:bodyPr>
          <a:lstStyle/>
          <a:p>
            <a:pPr algn="l" indent="0" marL="0">
              <a:lnSpc>
                <a:spcPct val="155000"/>
              </a:lnSpc>
              <a:buNone/>
            </a:pPr>
            <a:r>
              <a:rPr lang="en-US" sz="900" dirty="0">
                <a:solidFill>
                  <a:srgbClr val="999999"/>
                </a:solidFill>
                <a:latin typeface="Arial" pitchFamily="34" charset="0"/>
                <a:ea typeface="Arial" pitchFamily="34" charset="-122"/>
                <a:cs typeface="Arial" pitchFamily="34" charset="-120"/>
              </a:rPr>
              <a:t>Subject: Re: Ponuda za 5 SSD-ova</a:t>
            </a:r>
            <a:endParaRPr lang="en-US" sz="900" dirty="0"/>
          </a:p>
        </p:txBody>
      </p:sp>
      <p:sp>
        <p:nvSpPr>
          <p:cNvPr id="42" name="Shape 40"/>
          <p:cNvSpPr/>
          <p:nvPr/>
        </p:nvSpPr>
        <p:spPr>
          <a:xfrm>
            <a:off x="12239625" y="3737372"/>
            <a:ext cx="4781550" cy="9525"/>
          </a:xfrm>
          <a:prstGeom prst="rect">
            <a:avLst/>
          </a:prstGeom>
          <a:solidFill>
            <a:srgbClr val="F0F0F0"/>
          </a:solidFill>
          <a:ln/>
        </p:spPr>
      </p:sp>
      <p:sp>
        <p:nvSpPr>
          <p:cNvPr id="43" name="Text 41"/>
          <p:cNvSpPr/>
          <p:nvPr/>
        </p:nvSpPr>
        <p:spPr>
          <a:xfrm>
            <a:off x="12239625" y="3880247"/>
            <a:ext cx="4924997" cy="923925"/>
          </a:xfrm>
          <a:prstGeom prst="rect">
            <a:avLst/>
          </a:prstGeom>
          <a:noFill/>
          <a:ln/>
        </p:spPr>
        <p:txBody>
          <a:bodyPr wrap="square" lIns="25400" tIns="25400" rIns="25400" bIns="25400" rtlCol="0" anchor="t">
            <a:normAutofit/>
          </a:bodyPr>
          <a:lstStyle/>
          <a:p>
            <a:pPr algn="l" indent="0" marL="0">
              <a:lnSpc>
                <a:spcPct val="155000"/>
              </a:lnSpc>
              <a:buNone/>
            </a:pPr>
            <a:r>
              <a:rPr lang="en-US" sz="1125" dirty="0">
                <a:solidFill>
                  <a:srgbClr val="222222"/>
                </a:solidFill>
                <a:latin typeface="Arial" pitchFamily="34" charset="0"/>
                <a:ea typeface="Arial" pitchFamily="34" charset="-122"/>
                <a:cs typeface="Arial" pitchFamily="34" charset="-120"/>
              </a:rPr>
              <a:t>Poštovani, zahvaljujemo na upitu. Pošto se radi o B2B narudžbi sa JIB-om, proslijedio sam zahtjev našem prodajnom timu — javiće Vam se u toku dana.</a:t>
            </a:r>
            <a:endParaRPr lang="en-US" sz="1125" dirty="0"/>
          </a:p>
        </p:txBody>
      </p:sp>
      <p:sp>
        <p:nvSpPr>
          <p:cNvPr id="44" name="Shape 42"/>
          <p:cNvSpPr/>
          <p:nvPr/>
        </p:nvSpPr>
        <p:spPr>
          <a:xfrm>
            <a:off x="12239625" y="8557320"/>
            <a:ext cx="4781550" cy="367605"/>
          </a:xfrm>
          <a:prstGeom prst="roundRect">
            <a:avLst>
              <a:gd name="adj" fmla="val 15547"/>
            </a:avLst>
          </a:prstGeom>
          <a:solidFill>
            <a:srgbClr val="F0FBF3"/>
          </a:solidFill>
          <a:ln/>
        </p:spPr>
      </p:sp>
      <p:sp>
        <p:nvSpPr>
          <p:cNvPr id="45" name="Text 43"/>
          <p:cNvSpPr/>
          <p:nvPr/>
        </p:nvSpPr>
        <p:spPr>
          <a:xfrm>
            <a:off x="12353925" y="8652570"/>
            <a:ext cx="4696397" cy="215205"/>
          </a:xfrm>
          <a:prstGeom prst="rect">
            <a:avLst/>
          </a:prstGeom>
          <a:noFill/>
          <a:ln/>
        </p:spPr>
        <p:txBody>
          <a:bodyPr wrap="square" lIns="25400" tIns="25400" rIns="25400" bIns="25400" rtlCol="0" anchor="t">
            <a:normAutofit/>
          </a:bodyPr>
          <a:lstStyle/>
          <a:p>
            <a:pPr algn="l" indent="0" marL="0">
              <a:lnSpc>
                <a:spcPct val="155000"/>
              </a:lnSpc>
              <a:buNone/>
            </a:pPr>
            <a:r>
              <a:rPr lang="en-US" sz="900" dirty="0">
                <a:solidFill>
                  <a:srgbClr val="27AE60"/>
                </a:solidFill>
                <a:latin typeface="Arial" pitchFamily="34" charset="0"/>
                <a:ea typeface="Arial" pitchFamily="34" charset="-122"/>
                <a:cs typeface="Arial" pitchFamily="34" charset="-120"/>
              </a:rPr>
              <a:t>✓ auto-reply · 28s · eskalirano prodaji</a:t>
            </a:r>
            <a:endParaRPr lang="en-US" sz="900" dirty="0"/>
          </a:p>
        </p:txBody>
      </p:sp>
      <p:sp>
        <p:nvSpPr>
          <p:cNvPr id="46" name="Text 44"/>
          <p:cNvSpPr/>
          <p:nvPr/>
        </p:nvSpPr>
        <p:spPr>
          <a:xfrm>
            <a:off x="12020550" y="9277350"/>
            <a:ext cx="646807"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e-mail</a:t>
            </a:r>
            <a:endParaRPr lang="en-US" sz="1650" dirty="0"/>
          </a:p>
        </p:txBody>
      </p:sp>
      <p:sp>
        <p:nvSpPr>
          <p:cNvPr id="47" name="Text 45"/>
          <p:cNvSpPr/>
          <p:nvPr/>
        </p:nvSpPr>
        <p:spPr>
          <a:xfrm>
            <a:off x="15865376" y="9277350"/>
            <a:ext cx="1451074"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00:50 — 01:30</a:t>
            </a:r>
            <a:endParaRPr lang="en-US" sz="1650" dirty="0"/>
          </a:p>
        </p:txBody>
      </p:sp>
      <p:sp>
        <p:nvSpPr>
          <p:cNvPr id="48" name="Text 46"/>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49" name="Text 47"/>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04/11</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04 · PRISTUP</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Šta je odlučeno drugačije.</a:t>
            </a:r>
            <a:endParaRPr lang="en-US" sz="4800" dirty="0"/>
          </a:p>
        </p:txBody>
      </p:sp>
      <p:sp>
        <p:nvSpPr>
          <p:cNvPr id="5" name="Shape 3"/>
          <p:cNvSpPr/>
          <p:nvPr/>
        </p:nvSpPr>
        <p:spPr>
          <a:xfrm>
            <a:off x="2762250" y="3523655"/>
            <a:ext cx="7239000" cy="9525"/>
          </a:xfrm>
          <a:prstGeom prst="rect">
            <a:avLst/>
          </a:prstGeom>
          <a:solidFill>
            <a:srgbClr val="E6E6E6"/>
          </a:solidFill>
          <a:ln/>
        </p:spPr>
      </p:sp>
      <p:sp>
        <p:nvSpPr>
          <p:cNvPr id="6" name="Text 4"/>
          <p:cNvSpPr/>
          <p:nvPr/>
        </p:nvSpPr>
        <p:spPr>
          <a:xfrm>
            <a:off x="3028950" y="3030736"/>
            <a:ext cx="6922770" cy="397669"/>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999999"/>
                </a:solidFill>
                <a:latin typeface="Arial" pitchFamily="34" charset="0"/>
                <a:ea typeface="Arial" pitchFamily="34" charset="-122"/>
                <a:cs typeface="Arial" pitchFamily="34" charset="-120"/>
              </a:rPr>
              <a:t>TIPIČNI PRISTUP</a:t>
            </a:r>
            <a:endParaRPr lang="en-US" sz="1650" dirty="0"/>
          </a:p>
        </p:txBody>
      </p:sp>
      <p:sp>
        <p:nvSpPr>
          <p:cNvPr id="7" name="Shape 5"/>
          <p:cNvSpPr/>
          <p:nvPr/>
        </p:nvSpPr>
        <p:spPr>
          <a:xfrm>
            <a:off x="10001250" y="3514130"/>
            <a:ext cx="7239000" cy="19050"/>
          </a:xfrm>
          <a:prstGeom prst="rect">
            <a:avLst/>
          </a:prstGeom>
          <a:solidFill>
            <a:srgbClr val="FB6D3B"/>
          </a:solidFill>
          <a:ln/>
        </p:spPr>
      </p:sp>
      <p:sp>
        <p:nvSpPr>
          <p:cNvPr id="8" name="Text 6"/>
          <p:cNvSpPr/>
          <p:nvPr/>
        </p:nvSpPr>
        <p:spPr>
          <a:xfrm>
            <a:off x="10267950" y="3030736"/>
            <a:ext cx="6922770" cy="388144"/>
          </a:xfrm>
          <a:prstGeom prst="rect">
            <a:avLst/>
          </a:prstGeom>
          <a:noFill/>
          <a:ln/>
        </p:spPr>
        <p:txBody>
          <a:bodyPr wrap="square" lIns="25400" tIns="25400" rIns="25400" bIns="25400" rtlCol="0" anchor="t">
            <a:normAutofit/>
          </a:bodyPr>
          <a:lstStyle/>
          <a:p>
            <a:pPr algn="l" indent="0" marL="0">
              <a:buNone/>
            </a:pPr>
            <a:r>
              <a:rPr lang="en-US" sz="1650" b="1" spc="297" kern="0" dirty="0">
                <a:solidFill>
                  <a:srgbClr val="FB6D3B"/>
                </a:solidFill>
                <a:latin typeface="Arial" pitchFamily="34" charset="0"/>
                <a:ea typeface="Arial" pitchFamily="34" charset="-122"/>
                <a:cs typeface="Arial" pitchFamily="34" charset="-120"/>
              </a:rPr>
              <a:t>OVAJ PROJEKAT</a:t>
            </a:r>
            <a:endParaRPr lang="en-US" sz="1650" dirty="0"/>
          </a:p>
        </p:txBody>
      </p:sp>
      <p:sp>
        <p:nvSpPr>
          <p:cNvPr id="9" name="Shape 7"/>
          <p:cNvSpPr/>
          <p:nvPr/>
        </p:nvSpPr>
        <p:spPr>
          <a:xfrm>
            <a:off x="1047750" y="4273748"/>
            <a:ext cx="1714500" cy="9525"/>
          </a:xfrm>
          <a:prstGeom prst="rect">
            <a:avLst/>
          </a:prstGeom>
          <a:solidFill>
            <a:srgbClr val="F0F0F0"/>
          </a:solidFill>
          <a:ln/>
        </p:spPr>
      </p:sp>
      <p:sp>
        <p:nvSpPr>
          <p:cNvPr id="10" name="Text 8"/>
          <p:cNvSpPr/>
          <p:nvPr/>
        </p:nvSpPr>
        <p:spPr>
          <a:xfrm>
            <a:off x="1047750" y="3779639"/>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01</a:t>
            </a:r>
            <a:endParaRPr lang="en-US" sz="1650" dirty="0"/>
          </a:p>
        </p:txBody>
      </p:sp>
      <p:sp>
        <p:nvSpPr>
          <p:cNvPr id="11" name="Text 9"/>
          <p:cNvSpPr/>
          <p:nvPr/>
        </p:nvSpPr>
        <p:spPr>
          <a:xfrm>
            <a:off x="1301800" y="3779639"/>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12" name="Text 10"/>
          <p:cNvSpPr/>
          <p:nvPr/>
        </p:nvSpPr>
        <p:spPr>
          <a:xfrm>
            <a:off x="1382167" y="3779639"/>
            <a:ext cx="652909"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Skala</a:t>
            </a:r>
            <a:endParaRPr lang="en-US" sz="1650" dirty="0"/>
          </a:p>
        </p:txBody>
      </p:sp>
      <p:sp>
        <p:nvSpPr>
          <p:cNvPr id="13" name="Shape 11"/>
          <p:cNvSpPr/>
          <p:nvPr/>
        </p:nvSpPr>
        <p:spPr>
          <a:xfrm>
            <a:off x="2762250" y="4273748"/>
            <a:ext cx="7239000" cy="9525"/>
          </a:xfrm>
          <a:prstGeom prst="rect">
            <a:avLst/>
          </a:prstGeom>
          <a:solidFill>
            <a:srgbClr val="F0F0F0"/>
          </a:solidFill>
          <a:ln/>
        </p:spPr>
      </p:sp>
      <p:sp>
        <p:nvSpPr>
          <p:cNvPr id="14" name="Text 12"/>
          <p:cNvSpPr/>
          <p:nvPr/>
        </p:nvSpPr>
        <p:spPr>
          <a:xfrm>
            <a:off x="3028950" y="3704630"/>
            <a:ext cx="6922770" cy="435769"/>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10–50 fake proizvoda</a:t>
            </a:r>
            <a:endParaRPr lang="en-US" sz="2100" dirty="0"/>
          </a:p>
        </p:txBody>
      </p:sp>
      <p:sp>
        <p:nvSpPr>
          <p:cNvPr id="15" name="Shape 13"/>
          <p:cNvSpPr/>
          <p:nvPr/>
        </p:nvSpPr>
        <p:spPr>
          <a:xfrm>
            <a:off x="10001250" y="4273748"/>
            <a:ext cx="7239000" cy="9525"/>
          </a:xfrm>
          <a:prstGeom prst="rect">
            <a:avLst/>
          </a:prstGeom>
          <a:solidFill>
            <a:srgbClr val="F0F0F0"/>
          </a:solidFill>
          <a:ln/>
        </p:spPr>
      </p:sp>
      <p:sp>
        <p:nvSpPr>
          <p:cNvPr id="16" name="Text 14"/>
          <p:cNvSpPr/>
          <p:nvPr/>
        </p:nvSpPr>
        <p:spPr>
          <a:xfrm>
            <a:off x="10267950" y="3760589"/>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7" name="Text 15"/>
          <p:cNvSpPr/>
          <p:nvPr/>
        </p:nvSpPr>
        <p:spPr>
          <a:xfrm>
            <a:off x="10558314" y="3741539"/>
            <a:ext cx="3369993"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5.278 stvarnih iz kataloga</a:t>
            </a:r>
            <a:endParaRPr lang="en-US" sz="2100" dirty="0"/>
          </a:p>
        </p:txBody>
      </p:sp>
      <p:sp>
        <p:nvSpPr>
          <p:cNvPr id="18" name="Shape 16"/>
          <p:cNvSpPr/>
          <p:nvPr/>
        </p:nvSpPr>
        <p:spPr>
          <a:xfrm>
            <a:off x="1047750" y="5023842"/>
            <a:ext cx="1714500" cy="9525"/>
          </a:xfrm>
          <a:prstGeom prst="rect">
            <a:avLst/>
          </a:prstGeom>
          <a:solidFill>
            <a:srgbClr val="F0F0F0"/>
          </a:solidFill>
          <a:ln/>
        </p:spPr>
      </p:sp>
      <p:sp>
        <p:nvSpPr>
          <p:cNvPr id="19" name="Text 17"/>
          <p:cNvSpPr/>
          <p:nvPr/>
        </p:nvSpPr>
        <p:spPr>
          <a:xfrm>
            <a:off x="1047750" y="4529733"/>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02</a:t>
            </a:r>
            <a:endParaRPr lang="en-US" sz="1650" dirty="0"/>
          </a:p>
        </p:txBody>
      </p:sp>
      <p:sp>
        <p:nvSpPr>
          <p:cNvPr id="20" name="Text 18"/>
          <p:cNvSpPr/>
          <p:nvPr/>
        </p:nvSpPr>
        <p:spPr>
          <a:xfrm>
            <a:off x="1301800" y="4529733"/>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21" name="Text 19"/>
          <p:cNvSpPr/>
          <p:nvPr/>
        </p:nvSpPr>
        <p:spPr>
          <a:xfrm>
            <a:off x="1382167" y="4529733"/>
            <a:ext cx="721668"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Kanali</a:t>
            </a:r>
            <a:endParaRPr lang="en-US" sz="1650" dirty="0"/>
          </a:p>
        </p:txBody>
      </p:sp>
      <p:sp>
        <p:nvSpPr>
          <p:cNvPr id="22" name="Shape 20"/>
          <p:cNvSpPr/>
          <p:nvPr/>
        </p:nvSpPr>
        <p:spPr>
          <a:xfrm>
            <a:off x="2762250" y="5023842"/>
            <a:ext cx="7239000" cy="9525"/>
          </a:xfrm>
          <a:prstGeom prst="rect">
            <a:avLst/>
          </a:prstGeom>
          <a:solidFill>
            <a:srgbClr val="F0F0F0"/>
          </a:solidFill>
          <a:ln/>
        </p:spPr>
      </p:sp>
      <p:sp>
        <p:nvSpPr>
          <p:cNvPr id="23" name="Text 21"/>
          <p:cNvSpPr/>
          <p:nvPr/>
        </p:nvSpPr>
        <p:spPr>
          <a:xfrm>
            <a:off x="3028950" y="4454723"/>
            <a:ext cx="6922770" cy="435769"/>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samo chat</a:t>
            </a:r>
            <a:endParaRPr lang="en-US" sz="2100" dirty="0"/>
          </a:p>
        </p:txBody>
      </p:sp>
      <p:sp>
        <p:nvSpPr>
          <p:cNvPr id="24" name="Shape 22"/>
          <p:cNvSpPr/>
          <p:nvPr/>
        </p:nvSpPr>
        <p:spPr>
          <a:xfrm>
            <a:off x="10001250" y="5023842"/>
            <a:ext cx="7239000" cy="9525"/>
          </a:xfrm>
          <a:prstGeom prst="rect">
            <a:avLst/>
          </a:prstGeom>
          <a:solidFill>
            <a:srgbClr val="F0F0F0"/>
          </a:solidFill>
          <a:ln/>
        </p:spPr>
      </p:sp>
      <p:sp>
        <p:nvSpPr>
          <p:cNvPr id="25" name="Text 23"/>
          <p:cNvSpPr/>
          <p:nvPr/>
        </p:nvSpPr>
        <p:spPr>
          <a:xfrm>
            <a:off x="10267950" y="4510683"/>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26" name="Text 24"/>
          <p:cNvSpPr/>
          <p:nvPr/>
        </p:nvSpPr>
        <p:spPr>
          <a:xfrm>
            <a:off x="10558314" y="4491633"/>
            <a:ext cx="2261592"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chat, glas, e-mail</a:t>
            </a:r>
            <a:endParaRPr lang="en-US" sz="2100" dirty="0"/>
          </a:p>
        </p:txBody>
      </p:sp>
      <p:sp>
        <p:nvSpPr>
          <p:cNvPr id="27" name="Shape 25"/>
          <p:cNvSpPr/>
          <p:nvPr/>
        </p:nvSpPr>
        <p:spPr>
          <a:xfrm>
            <a:off x="1047750" y="5773936"/>
            <a:ext cx="1714500" cy="9525"/>
          </a:xfrm>
          <a:prstGeom prst="rect">
            <a:avLst/>
          </a:prstGeom>
          <a:solidFill>
            <a:srgbClr val="F0F0F0"/>
          </a:solidFill>
          <a:ln/>
        </p:spPr>
      </p:sp>
      <p:sp>
        <p:nvSpPr>
          <p:cNvPr id="28" name="Text 26"/>
          <p:cNvSpPr/>
          <p:nvPr/>
        </p:nvSpPr>
        <p:spPr>
          <a:xfrm>
            <a:off x="1047750" y="5279827"/>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03</a:t>
            </a:r>
            <a:endParaRPr lang="en-US" sz="1650" dirty="0"/>
          </a:p>
        </p:txBody>
      </p:sp>
      <p:sp>
        <p:nvSpPr>
          <p:cNvPr id="29" name="Text 27"/>
          <p:cNvSpPr/>
          <p:nvPr/>
        </p:nvSpPr>
        <p:spPr>
          <a:xfrm>
            <a:off x="1301800" y="5279827"/>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30" name="Text 28"/>
          <p:cNvSpPr/>
          <p:nvPr/>
        </p:nvSpPr>
        <p:spPr>
          <a:xfrm>
            <a:off x="1382167" y="5279827"/>
            <a:ext cx="606028"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Jezik</a:t>
            </a:r>
            <a:endParaRPr lang="en-US" sz="1650" dirty="0"/>
          </a:p>
        </p:txBody>
      </p:sp>
      <p:sp>
        <p:nvSpPr>
          <p:cNvPr id="31" name="Shape 29"/>
          <p:cNvSpPr/>
          <p:nvPr/>
        </p:nvSpPr>
        <p:spPr>
          <a:xfrm>
            <a:off x="2762250" y="5773936"/>
            <a:ext cx="7239000" cy="9525"/>
          </a:xfrm>
          <a:prstGeom prst="rect">
            <a:avLst/>
          </a:prstGeom>
          <a:solidFill>
            <a:srgbClr val="F0F0F0"/>
          </a:solidFill>
          <a:ln/>
        </p:spPr>
      </p:sp>
      <p:sp>
        <p:nvSpPr>
          <p:cNvPr id="32" name="Text 30"/>
          <p:cNvSpPr/>
          <p:nvPr/>
        </p:nvSpPr>
        <p:spPr>
          <a:xfrm>
            <a:off x="3028950" y="5204817"/>
            <a:ext cx="6922770" cy="435769"/>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engleski + auto-prevod</a:t>
            </a:r>
            <a:endParaRPr lang="en-US" sz="2100" dirty="0"/>
          </a:p>
        </p:txBody>
      </p:sp>
      <p:sp>
        <p:nvSpPr>
          <p:cNvPr id="33" name="Shape 31"/>
          <p:cNvSpPr/>
          <p:nvPr/>
        </p:nvSpPr>
        <p:spPr>
          <a:xfrm>
            <a:off x="10001250" y="5773936"/>
            <a:ext cx="7239000" cy="9525"/>
          </a:xfrm>
          <a:prstGeom prst="rect">
            <a:avLst/>
          </a:prstGeom>
          <a:solidFill>
            <a:srgbClr val="F0F0F0"/>
          </a:solidFill>
          <a:ln/>
        </p:spPr>
      </p:sp>
      <p:sp>
        <p:nvSpPr>
          <p:cNvPr id="34" name="Text 32"/>
          <p:cNvSpPr/>
          <p:nvPr/>
        </p:nvSpPr>
        <p:spPr>
          <a:xfrm>
            <a:off x="10267950" y="5260777"/>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35" name="Text 33"/>
          <p:cNvSpPr/>
          <p:nvPr/>
        </p:nvSpPr>
        <p:spPr>
          <a:xfrm>
            <a:off x="10558314" y="5241727"/>
            <a:ext cx="2578894"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BCS-native, latinica</a:t>
            </a:r>
            <a:endParaRPr lang="en-US" sz="2100" dirty="0"/>
          </a:p>
        </p:txBody>
      </p:sp>
      <p:sp>
        <p:nvSpPr>
          <p:cNvPr id="36" name="Shape 34"/>
          <p:cNvSpPr/>
          <p:nvPr/>
        </p:nvSpPr>
        <p:spPr>
          <a:xfrm>
            <a:off x="1047750" y="6524030"/>
            <a:ext cx="1714500" cy="9525"/>
          </a:xfrm>
          <a:prstGeom prst="rect">
            <a:avLst/>
          </a:prstGeom>
          <a:solidFill>
            <a:srgbClr val="F0F0F0"/>
          </a:solidFill>
          <a:ln/>
        </p:spPr>
      </p:sp>
      <p:sp>
        <p:nvSpPr>
          <p:cNvPr id="37" name="Text 35"/>
          <p:cNvSpPr/>
          <p:nvPr/>
        </p:nvSpPr>
        <p:spPr>
          <a:xfrm>
            <a:off x="1047750" y="6029920"/>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04</a:t>
            </a:r>
            <a:endParaRPr lang="en-US" sz="1650" dirty="0"/>
          </a:p>
        </p:txBody>
      </p:sp>
      <p:sp>
        <p:nvSpPr>
          <p:cNvPr id="38" name="Text 36"/>
          <p:cNvSpPr/>
          <p:nvPr/>
        </p:nvSpPr>
        <p:spPr>
          <a:xfrm>
            <a:off x="1301800" y="6029920"/>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39" name="Text 37"/>
          <p:cNvSpPr/>
          <p:nvPr/>
        </p:nvSpPr>
        <p:spPr>
          <a:xfrm>
            <a:off x="1382167" y="6029920"/>
            <a:ext cx="860078"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Hosting</a:t>
            </a:r>
            <a:endParaRPr lang="en-US" sz="1650" dirty="0"/>
          </a:p>
        </p:txBody>
      </p:sp>
      <p:sp>
        <p:nvSpPr>
          <p:cNvPr id="40" name="Shape 38"/>
          <p:cNvSpPr/>
          <p:nvPr/>
        </p:nvSpPr>
        <p:spPr>
          <a:xfrm>
            <a:off x="2762250" y="6524030"/>
            <a:ext cx="7239000" cy="9525"/>
          </a:xfrm>
          <a:prstGeom prst="rect">
            <a:avLst/>
          </a:prstGeom>
          <a:solidFill>
            <a:srgbClr val="F0F0F0"/>
          </a:solidFill>
          <a:ln/>
        </p:spPr>
      </p:sp>
      <p:sp>
        <p:nvSpPr>
          <p:cNvPr id="41" name="Text 39"/>
          <p:cNvSpPr/>
          <p:nvPr/>
        </p:nvSpPr>
        <p:spPr>
          <a:xfrm>
            <a:off x="3028950" y="5954911"/>
            <a:ext cx="6922770" cy="435769"/>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tuđi cloud</a:t>
            </a:r>
            <a:endParaRPr lang="en-US" sz="2100" dirty="0"/>
          </a:p>
        </p:txBody>
      </p:sp>
      <p:sp>
        <p:nvSpPr>
          <p:cNvPr id="42" name="Shape 40"/>
          <p:cNvSpPr/>
          <p:nvPr/>
        </p:nvSpPr>
        <p:spPr>
          <a:xfrm>
            <a:off x="10001250" y="6524030"/>
            <a:ext cx="7239000" cy="9525"/>
          </a:xfrm>
          <a:prstGeom prst="rect">
            <a:avLst/>
          </a:prstGeom>
          <a:solidFill>
            <a:srgbClr val="F0F0F0"/>
          </a:solidFill>
          <a:ln/>
        </p:spPr>
      </p:sp>
      <p:sp>
        <p:nvSpPr>
          <p:cNvPr id="43" name="Text 41"/>
          <p:cNvSpPr/>
          <p:nvPr/>
        </p:nvSpPr>
        <p:spPr>
          <a:xfrm>
            <a:off x="10267950" y="601087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44" name="Text 42"/>
          <p:cNvSpPr/>
          <p:nvPr/>
        </p:nvSpPr>
        <p:spPr>
          <a:xfrm>
            <a:off x="10558314" y="5991820"/>
            <a:ext cx="2010221"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već BitLab VPS</a:t>
            </a:r>
            <a:endParaRPr lang="en-US" sz="2100" dirty="0"/>
          </a:p>
        </p:txBody>
      </p:sp>
      <p:sp>
        <p:nvSpPr>
          <p:cNvPr id="45" name="Shape 43"/>
          <p:cNvSpPr/>
          <p:nvPr/>
        </p:nvSpPr>
        <p:spPr>
          <a:xfrm>
            <a:off x="1047750" y="7274272"/>
            <a:ext cx="1714500" cy="9525"/>
          </a:xfrm>
          <a:prstGeom prst="rect">
            <a:avLst/>
          </a:prstGeom>
          <a:solidFill>
            <a:srgbClr val="F0F0F0"/>
          </a:solidFill>
          <a:ln/>
        </p:spPr>
      </p:sp>
      <p:sp>
        <p:nvSpPr>
          <p:cNvPr id="46" name="Text 44"/>
          <p:cNvSpPr/>
          <p:nvPr/>
        </p:nvSpPr>
        <p:spPr>
          <a:xfrm>
            <a:off x="1047750" y="6780014"/>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05</a:t>
            </a:r>
            <a:endParaRPr lang="en-US" sz="1650" dirty="0"/>
          </a:p>
        </p:txBody>
      </p:sp>
      <p:sp>
        <p:nvSpPr>
          <p:cNvPr id="47" name="Text 45"/>
          <p:cNvSpPr/>
          <p:nvPr/>
        </p:nvSpPr>
        <p:spPr>
          <a:xfrm>
            <a:off x="1301800" y="6780014"/>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48" name="Text 46"/>
          <p:cNvSpPr/>
          <p:nvPr/>
        </p:nvSpPr>
        <p:spPr>
          <a:xfrm>
            <a:off x="1382167" y="6780014"/>
            <a:ext cx="73283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E-mail</a:t>
            </a:r>
            <a:endParaRPr lang="en-US" sz="1650" dirty="0"/>
          </a:p>
        </p:txBody>
      </p:sp>
      <p:sp>
        <p:nvSpPr>
          <p:cNvPr id="49" name="Shape 47"/>
          <p:cNvSpPr/>
          <p:nvPr/>
        </p:nvSpPr>
        <p:spPr>
          <a:xfrm>
            <a:off x="2762250" y="7274272"/>
            <a:ext cx="7239000" cy="9525"/>
          </a:xfrm>
          <a:prstGeom prst="rect">
            <a:avLst/>
          </a:prstGeom>
          <a:solidFill>
            <a:srgbClr val="F0F0F0"/>
          </a:solidFill>
          <a:ln/>
        </p:spPr>
      </p:sp>
      <p:sp>
        <p:nvSpPr>
          <p:cNvPr id="50" name="Text 48"/>
          <p:cNvSpPr/>
          <p:nvPr/>
        </p:nvSpPr>
        <p:spPr>
          <a:xfrm>
            <a:off x="3028950" y="6705005"/>
            <a:ext cx="6922770" cy="435918"/>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a:t>
            </a:r>
            <a:endParaRPr lang="en-US" sz="2100" dirty="0"/>
          </a:p>
        </p:txBody>
      </p:sp>
      <p:sp>
        <p:nvSpPr>
          <p:cNvPr id="51" name="Shape 49"/>
          <p:cNvSpPr/>
          <p:nvPr/>
        </p:nvSpPr>
        <p:spPr>
          <a:xfrm>
            <a:off x="10001250" y="7274272"/>
            <a:ext cx="7239000" cy="9525"/>
          </a:xfrm>
          <a:prstGeom prst="rect">
            <a:avLst/>
          </a:prstGeom>
          <a:solidFill>
            <a:srgbClr val="F0F0F0"/>
          </a:solidFill>
          <a:ln/>
        </p:spPr>
      </p:sp>
      <p:sp>
        <p:nvSpPr>
          <p:cNvPr id="52" name="Text 50"/>
          <p:cNvSpPr/>
          <p:nvPr/>
        </p:nvSpPr>
        <p:spPr>
          <a:xfrm>
            <a:off x="10267950" y="6760964"/>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53" name="Text 51"/>
          <p:cNvSpPr/>
          <p:nvPr/>
        </p:nvSpPr>
        <p:spPr>
          <a:xfrm>
            <a:off x="10558314" y="6741914"/>
            <a:ext cx="336754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auto-reply sa eskalacijom</a:t>
            </a:r>
            <a:endParaRPr lang="en-US" sz="2100" dirty="0"/>
          </a:p>
        </p:txBody>
      </p:sp>
      <p:sp>
        <p:nvSpPr>
          <p:cNvPr id="54" name="Shape 52"/>
          <p:cNvSpPr/>
          <p:nvPr/>
        </p:nvSpPr>
        <p:spPr>
          <a:xfrm>
            <a:off x="1047750" y="8024515"/>
            <a:ext cx="1714500" cy="9525"/>
          </a:xfrm>
          <a:prstGeom prst="rect">
            <a:avLst/>
          </a:prstGeom>
          <a:solidFill>
            <a:srgbClr val="F0F0F0"/>
          </a:solidFill>
          <a:ln/>
        </p:spPr>
      </p:sp>
      <p:sp>
        <p:nvSpPr>
          <p:cNvPr id="55" name="Text 53"/>
          <p:cNvSpPr/>
          <p:nvPr/>
        </p:nvSpPr>
        <p:spPr>
          <a:xfrm>
            <a:off x="1047750" y="7530257"/>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06</a:t>
            </a:r>
            <a:endParaRPr lang="en-US" sz="1650" dirty="0"/>
          </a:p>
        </p:txBody>
      </p:sp>
      <p:sp>
        <p:nvSpPr>
          <p:cNvPr id="56" name="Text 54"/>
          <p:cNvSpPr/>
          <p:nvPr/>
        </p:nvSpPr>
        <p:spPr>
          <a:xfrm>
            <a:off x="1301800" y="7530257"/>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57" name="Text 55"/>
          <p:cNvSpPr/>
          <p:nvPr/>
        </p:nvSpPr>
        <p:spPr>
          <a:xfrm>
            <a:off x="1382167" y="7530257"/>
            <a:ext cx="847279"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Kvalitet</a:t>
            </a:r>
            <a:endParaRPr lang="en-US" sz="1650" dirty="0"/>
          </a:p>
        </p:txBody>
      </p:sp>
      <p:sp>
        <p:nvSpPr>
          <p:cNvPr id="58" name="Shape 56"/>
          <p:cNvSpPr/>
          <p:nvPr/>
        </p:nvSpPr>
        <p:spPr>
          <a:xfrm>
            <a:off x="2762250" y="8024515"/>
            <a:ext cx="7239000" cy="9525"/>
          </a:xfrm>
          <a:prstGeom prst="rect">
            <a:avLst/>
          </a:prstGeom>
          <a:solidFill>
            <a:srgbClr val="F0F0F0"/>
          </a:solidFill>
          <a:ln/>
        </p:spPr>
      </p:sp>
      <p:sp>
        <p:nvSpPr>
          <p:cNvPr id="59" name="Text 57"/>
          <p:cNvSpPr/>
          <p:nvPr/>
        </p:nvSpPr>
        <p:spPr>
          <a:xfrm>
            <a:off x="3028950" y="7455247"/>
            <a:ext cx="6922770" cy="435918"/>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"izgleda da radi"</a:t>
            </a:r>
            <a:endParaRPr lang="en-US" sz="2100" dirty="0"/>
          </a:p>
        </p:txBody>
      </p:sp>
      <p:sp>
        <p:nvSpPr>
          <p:cNvPr id="60" name="Shape 58"/>
          <p:cNvSpPr/>
          <p:nvPr/>
        </p:nvSpPr>
        <p:spPr>
          <a:xfrm>
            <a:off x="10001250" y="8024515"/>
            <a:ext cx="7239000" cy="9525"/>
          </a:xfrm>
          <a:prstGeom prst="rect">
            <a:avLst/>
          </a:prstGeom>
          <a:solidFill>
            <a:srgbClr val="F0F0F0"/>
          </a:solidFill>
          <a:ln/>
        </p:spPr>
      </p:sp>
      <p:sp>
        <p:nvSpPr>
          <p:cNvPr id="61" name="Text 59"/>
          <p:cNvSpPr/>
          <p:nvPr/>
        </p:nvSpPr>
        <p:spPr>
          <a:xfrm>
            <a:off x="10267950" y="7511207"/>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62" name="Text 60"/>
          <p:cNvSpPr/>
          <p:nvPr/>
        </p:nvSpPr>
        <p:spPr>
          <a:xfrm>
            <a:off x="10558314" y="7492157"/>
            <a:ext cx="3061107"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eval suite · ciljano 17/18</a:t>
            </a:r>
            <a:endParaRPr lang="en-US" sz="2100" dirty="0"/>
          </a:p>
        </p:txBody>
      </p:sp>
      <p:sp>
        <p:nvSpPr>
          <p:cNvPr id="63" name="Shape 61"/>
          <p:cNvSpPr/>
          <p:nvPr/>
        </p:nvSpPr>
        <p:spPr>
          <a:xfrm>
            <a:off x="1047750" y="8774757"/>
            <a:ext cx="1714500" cy="9525"/>
          </a:xfrm>
          <a:prstGeom prst="rect">
            <a:avLst/>
          </a:prstGeom>
          <a:solidFill>
            <a:srgbClr val="F0F0F0"/>
          </a:solidFill>
          <a:ln/>
        </p:spPr>
      </p:sp>
      <p:sp>
        <p:nvSpPr>
          <p:cNvPr id="64" name="Text 62"/>
          <p:cNvSpPr/>
          <p:nvPr/>
        </p:nvSpPr>
        <p:spPr>
          <a:xfrm>
            <a:off x="1047750" y="8280499"/>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07</a:t>
            </a:r>
            <a:endParaRPr lang="en-US" sz="1650" dirty="0"/>
          </a:p>
        </p:txBody>
      </p:sp>
      <p:sp>
        <p:nvSpPr>
          <p:cNvPr id="65" name="Text 63"/>
          <p:cNvSpPr/>
          <p:nvPr/>
        </p:nvSpPr>
        <p:spPr>
          <a:xfrm>
            <a:off x="1301800" y="8280499"/>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66" name="Text 64"/>
          <p:cNvSpPr/>
          <p:nvPr/>
        </p:nvSpPr>
        <p:spPr>
          <a:xfrm>
            <a:off x="1382167" y="8280499"/>
            <a:ext cx="1055787"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Sigurnost</a:t>
            </a:r>
            <a:endParaRPr lang="en-US" sz="1650" dirty="0"/>
          </a:p>
        </p:txBody>
      </p:sp>
      <p:sp>
        <p:nvSpPr>
          <p:cNvPr id="67" name="Shape 65"/>
          <p:cNvSpPr/>
          <p:nvPr/>
        </p:nvSpPr>
        <p:spPr>
          <a:xfrm>
            <a:off x="2762250" y="8774757"/>
            <a:ext cx="7239000" cy="9525"/>
          </a:xfrm>
          <a:prstGeom prst="rect">
            <a:avLst/>
          </a:prstGeom>
          <a:solidFill>
            <a:srgbClr val="F0F0F0"/>
          </a:solidFill>
          <a:ln/>
        </p:spPr>
      </p:sp>
      <p:sp>
        <p:nvSpPr>
          <p:cNvPr id="68" name="Text 66"/>
          <p:cNvSpPr/>
          <p:nvPr/>
        </p:nvSpPr>
        <p:spPr>
          <a:xfrm>
            <a:off x="3028950" y="8205490"/>
            <a:ext cx="6922770" cy="435918"/>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ključovi u browseru</a:t>
            </a:r>
            <a:endParaRPr lang="en-US" sz="2100" dirty="0"/>
          </a:p>
        </p:txBody>
      </p:sp>
      <p:sp>
        <p:nvSpPr>
          <p:cNvPr id="69" name="Shape 67"/>
          <p:cNvSpPr/>
          <p:nvPr/>
        </p:nvSpPr>
        <p:spPr>
          <a:xfrm>
            <a:off x="10001250" y="8774757"/>
            <a:ext cx="7239000" cy="9525"/>
          </a:xfrm>
          <a:prstGeom prst="rect">
            <a:avLst/>
          </a:prstGeom>
          <a:solidFill>
            <a:srgbClr val="F0F0F0"/>
          </a:solidFill>
          <a:ln/>
        </p:spPr>
      </p:sp>
      <p:sp>
        <p:nvSpPr>
          <p:cNvPr id="70" name="Text 68"/>
          <p:cNvSpPr/>
          <p:nvPr/>
        </p:nvSpPr>
        <p:spPr>
          <a:xfrm>
            <a:off x="10267950" y="8261449"/>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71" name="Text 69"/>
          <p:cNvSpPr/>
          <p:nvPr/>
        </p:nvSpPr>
        <p:spPr>
          <a:xfrm>
            <a:off x="10558314" y="8242399"/>
            <a:ext cx="3681637"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ključovi samo na backend-u</a:t>
            </a:r>
            <a:endParaRPr lang="en-US" sz="2100" dirty="0"/>
          </a:p>
        </p:txBody>
      </p:sp>
      <p:sp>
        <p:nvSpPr>
          <p:cNvPr id="72" name="Text 70"/>
          <p:cNvSpPr/>
          <p:nvPr/>
        </p:nvSpPr>
        <p:spPr>
          <a:xfrm>
            <a:off x="1047750" y="9030742"/>
            <a:ext cx="330250"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08</a:t>
            </a:r>
            <a:endParaRPr lang="en-US" sz="1650" dirty="0"/>
          </a:p>
        </p:txBody>
      </p:sp>
      <p:sp>
        <p:nvSpPr>
          <p:cNvPr id="73" name="Text 71"/>
          <p:cNvSpPr/>
          <p:nvPr/>
        </p:nvSpPr>
        <p:spPr>
          <a:xfrm>
            <a:off x="1301800" y="9030742"/>
            <a:ext cx="156567" cy="285750"/>
          </a:xfrm>
          <a:prstGeom prst="rect">
            <a:avLst/>
          </a:prstGeom>
          <a:noFill/>
          <a:ln/>
        </p:spPr>
        <p:txBody>
          <a:bodyPr wrap="square" lIns="25400" tIns="25400" rIns="25400" bIns="2540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a:t>
            </a:r>
            <a:endParaRPr lang="en-US" sz="1650" dirty="0"/>
          </a:p>
        </p:txBody>
      </p:sp>
      <p:sp>
        <p:nvSpPr>
          <p:cNvPr id="74" name="Text 72"/>
          <p:cNvSpPr/>
          <p:nvPr/>
        </p:nvSpPr>
        <p:spPr>
          <a:xfrm>
            <a:off x="1382167" y="9030742"/>
            <a:ext cx="1263253" cy="276225"/>
          </a:xfrm>
          <a:prstGeom prst="rect">
            <a:avLst/>
          </a:prstGeom>
          <a:noFill/>
          <a:ln/>
        </p:spPr>
        <p:txBody>
          <a:bodyPr wrap="square" lIns="0" tIns="0" rIns="0" bIns="0" rtlCol="0" anchor="t">
            <a:normAutofit/>
          </a:bodyPr>
          <a:lstStyle/>
          <a:p>
            <a:pPr algn="l" indent="0" marL="0">
              <a:buNone/>
            </a:pPr>
            <a:r>
              <a:rPr lang="en-US" sz="1650" spc="83" kern="0" dirty="0">
                <a:solidFill>
                  <a:srgbClr val="666666"/>
                </a:solidFill>
                <a:latin typeface="Arial" pitchFamily="34" charset="0"/>
                <a:ea typeface="Arial" pitchFamily="34" charset="-122"/>
                <a:cs typeface="Arial" pitchFamily="34" charset="-120"/>
              </a:rPr>
              <a:t>Cijena rada</a:t>
            </a:r>
            <a:endParaRPr lang="en-US" sz="1650" dirty="0"/>
          </a:p>
        </p:txBody>
      </p:sp>
      <p:sp>
        <p:nvSpPr>
          <p:cNvPr id="75" name="Text 73"/>
          <p:cNvSpPr/>
          <p:nvPr/>
        </p:nvSpPr>
        <p:spPr>
          <a:xfrm>
            <a:off x="3028950" y="8955732"/>
            <a:ext cx="6922770" cy="435918"/>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nepoznata</a:t>
            </a:r>
            <a:endParaRPr lang="en-US" sz="2100" dirty="0"/>
          </a:p>
        </p:txBody>
      </p:sp>
      <p:sp>
        <p:nvSpPr>
          <p:cNvPr id="76" name="Text 74"/>
          <p:cNvSpPr/>
          <p:nvPr/>
        </p:nvSpPr>
        <p:spPr>
          <a:xfrm>
            <a:off x="10267950" y="9011692"/>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77" name="Text 75"/>
          <p:cNvSpPr/>
          <p:nvPr/>
        </p:nvSpPr>
        <p:spPr>
          <a:xfrm>
            <a:off x="10558314" y="8992642"/>
            <a:ext cx="2396579"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~30 KM mjesečno</a:t>
            </a:r>
            <a:endParaRPr lang="en-US" sz="2100" dirty="0"/>
          </a:p>
        </p:txBody>
      </p:sp>
      <p:sp>
        <p:nvSpPr>
          <p:cNvPr id="78" name="Text 76"/>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79" name="Text 77"/>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05/11</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A1A2E"/>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05 · PROVJERA</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FFFFFF"/>
                </a:solidFill>
                <a:latin typeface="Arial" pitchFamily="34" charset="0"/>
                <a:ea typeface="Arial" pitchFamily="34" charset="-122"/>
                <a:cs typeface="Arial" pitchFamily="34" charset="-120"/>
              </a:rPr>
              <a:t>Mjereno, a ne samo tvrđeno.</a:t>
            </a:r>
            <a:endParaRPr lang="en-US" sz="4800" dirty="0"/>
          </a:p>
        </p:txBody>
      </p:sp>
      <p:sp>
        <p:nvSpPr>
          <p:cNvPr id="5" name="Text 3"/>
          <p:cNvSpPr/>
          <p:nvPr/>
        </p:nvSpPr>
        <p:spPr>
          <a:xfrm>
            <a:off x="1047750" y="4142482"/>
            <a:ext cx="8776022" cy="2720280"/>
          </a:xfrm>
          <a:prstGeom prst="rect">
            <a:avLst/>
          </a:prstGeom>
          <a:noFill/>
          <a:ln/>
        </p:spPr>
        <p:txBody>
          <a:bodyPr wrap="square" lIns="25400" tIns="25400" rIns="25400" bIns="25400" rtlCol="0" anchor="t">
            <a:normAutofit/>
          </a:bodyPr>
          <a:lstStyle/>
          <a:p>
            <a:pPr algn="l" indent="0" marL="0">
              <a:lnSpc>
                <a:spcPct val="88000"/>
              </a:lnSpc>
              <a:buNone/>
            </a:pPr>
            <a:r>
              <a:rPr lang="en-US" sz="24000" b="1" spc="-1200" kern="0" dirty="0">
                <a:solidFill>
                  <a:srgbClr val="FFFFFF"/>
                </a:solidFill>
                <a:latin typeface="Arial" pitchFamily="34" charset="0"/>
                <a:ea typeface="Arial" pitchFamily="34" charset="-122"/>
                <a:cs typeface="Arial" pitchFamily="34" charset="-120"/>
              </a:rPr>
              <a:t>17</a:t>
            </a:r>
            <a:pPr algn="l" indent="0" marL="0">
              <a:lnSpc>
                <a:spcPct val="88000"/>
              </a:lnSpc>
              <a:buNone/>
            </a:pPr>
            <a:r>
              <a:rPr lang="en-US" sz="24000" b="1" spc="-1200" kern="0" dirty="0">
                <a:solidFill>
                  <a:srgbClr val="FB6D3B"/>
                </a:solidFill>
                <a:latin typeface="Arial" pitchFamily="34" charset="0"/>
                <a:ea typeface="Arial" pitchFamily="34" charset="-122"/>
                <a:cs typeface="Arial" pitchFamily="34" charset="-120"/>
              </a:rPr>
              <a:t>/</a:t>
            </a:r>
            <a:pPr algn="l" indent="0" marL="0">
              <a:lnSpc>
                <a:spcPct val="88000"/>
              </a:lnSpc>
              <a:buNone/>
            </a:pPr>
            <a:r>
              <a:rPr lang="en-US" sz="24000" b="1" spc="-1200" kern="0" dirty="0">
                <a:solidFill>
                  <a:srgbClr val="FFFFFF"/>
                </a:solidFill>
                <a:latin typeface="Arial" pitchFamily="34" charset="0"/>
                <a:ea typeface="Arial" pitchFamily="34" charset="-122"/>
                <a:cs typeface="Arial" pitchFamily="34" charset="-120"/>
              </a:rPr>
              <a:t>18</a:t>
            </a:r>
            <a:endParaRPr lang="en-US" sz="24000" dirty="0"/>
          </a:p>
        </p:txBody>
      </p:sp>
      <p:sp>
        <p:nvSpPr>
          <p:cNvPr id="6" name="Text 4"/>
          <p:cNvSpPr/>
          <p:nvPr/>
        </p:nvSpPr>
        <p:spPr>
          <a:xfrm>
            <a:off x="1047750" y="7053263"/>
            <a:ext cx="5690235" cy="1398091"/>
          </a:xfrm>
          <a:prstGeom prst="rect">
            <a:avLst/>
          </a:prstGeom>
          <a:noFill/>
          <a:ln/>
        </p:spPr>
        <p:txBody>
          <a:bodyPr wrap="square" lIns="25400" tIns="25400" rIns="25400" bIns="25400" rtlCol="0" anchor="t">
            <a:normAutofit/>
          </a:bodyPr>
          <a:lstStyle/>
          <a:p>
            <a:pPr algn="l" indent="0" marL="0">
              <a:lnSpc>
                <a:spcPct val="140000"/>
              </a:lnSpc>
              <a:buNone/>
            </a:pPr>
            <a:r>
              <a:rPr lang="en-US" sz="2550" dirty="0">
                <a:solidFill>
                  <a:srgbClr val="FFFFFF">
                    <a:alpha val="75000"/>
                  </a:srgbClr>
                </a:solidFill>
                <a:latin typeface="Arial" pitchFamily="34" charset="0"/>
                <a:ea typeface="Arial" pitchFamily="34" charset="-122"/>
                <a:cs typeface="Arial" pitchFamily="34" charset="-120"/>
              </a:rPr>
              <a:t>Ciljani skor na eval setu od 18 stvarnih BCS pitanja — cijene, dostupnost, dostava, B2B procedura.</a:t>
            </a:r>
            <a:endParaRPr lang="en-US" sz="2550" dirty="0"/>
          </a:p>
        </p:txBody>
      </p:sp>
      <p:sp>
        <p:nvSpPr>
          <p:cNvPr id="7" name="Shape 5"/>
          <p:cNvSpPr/>
          <p:nvPr/>
        </p:nvSpPr>
        <p:spPr>
          <a:xfrm>
            <a:off x="10139660" y="3826669"/>
            <a:ext cx="7100590" cy="4902398"/>
          </a:xfrm>
          <a:prstGeom prst="roundRect">
            <a:avLst>
              <a:gd name="adj" fmla="val 1554"/>
            </a:avLst>
          </a:prstGeom>
          <a:solidFill>
            <a:srgbClr val="FFFFFF">
              <a:alpha val="4000"/>
            </a:srgbClr>
          </a:solidFill>
          <a:ln w="9525">
            <a:solidFill>
              <a:srgbClr val="FFFFFF">
                <a:alpha val="10000"/>
              </a:srgbClr>
            </a:solidFill>
            <a:prstDash val="solid"/>
          </a:ln>
        </p:spPr>
      </p:sp>
      <p:sp>
        <p:nvSpPr>
          <p:cNvPr id="8" name="Text 6"/>
          <p:cNvSpPr/>
          <p:nvPr/>
        </p:nvSpPr>
        <p:spPr>
          <a:xfrm>
            <a:off x="10453985" y="4102894"/>
            <a:ext cx="6666098"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40000"/>
                  </a:srgbClr>
                </a:solidFill>
                <a:latin typeface="Arial" pitchFamily="34" charset="0"/>
                <a:ea typeface="Arial" pitchFamily="34" charset="-122"/>
                <a:cs typeface="Arial" pitchFamily="34" charset="-120"/>
              </a:rPr>
              <a:t>$ python evals/run.py</a:t>
            </a:r>
            <a:endParaRPr lang="en-US" sz="1650" dirty="0"/>
          </a:p>
        </p:txBody>
      </p:sp>
      <p:sp>
        <p:nvSpPr>
          <p:cNvPr id="9" name="Text 7"/>
          <p:cNvSpPr/>
          <p:nvPr/>
        </p:nvSpPr>
        <p:spPr>
          <a:xfrm>
            <a:off x="10453985" y="4619030"/>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0" name="Text 8"/>
          <p:cNvSpPr/>
          <p:nvPr/>
        </p:nvSpPr>
        <p:spPr>
          <a:xfrm>
            <a:off x="10796885" y="4619030"/>
            <a:ext cx="2172891"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SSD pretraga po cijeni</a:t>
            </a:r>
            <a:endParaRPr lang="en-US" sz="1650" dirty="0"/>
          </a:p>
        </p:txBody>
      </p:sp>
      <p:sp>
        <p:nvSpPr>
          <p:cNvPr id="11" name="Text 9"/>
          <p:cNvSpPr/>
          <p:nvPr/>
        </p:nvSpPr>
        <p:spPr>
          <a:xfrm>
            <a:off x="10453985" y="5058966"/>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2" name="Text 10"/>
          <p:cNvSpPr/>
          <p:nvPr/>
        </p:nvSpPr>
        <p:spPr>
          <a:xfrm>
            <a:off x="10796885" y="5058966"/>
            <a:ext cx="1182886"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SKU lookup</a:t>
            </a:r>
            <a:endParaRPr lang="en-US" sz="1650" dirty="0"/>
          </a:p>
        </p:txBody>
      </p:sp>
      <p:sp>
        <p:nvSpPr>
          <p:cNvPr id="13" name="Text 11"/>
          <p:cNvSpPr/>
          <p:nvPr/>
        </p:nvSpPr>
        <p:spPr>
          <a:xfrm>
            <a:off x="10453985" y="5498902"/>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4" name="Text 12"/>
          <p:cNvSpPr/>
          <p:nvPr/>
        </p:nvSpPr>
        <p:spPr>
          <a:xfrm>
            <a:off x="10796885" y="5498902"/>
            <a:ext cx="2720184"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Parafraza "brzi disk" → SSD</a:t>
            </a:r>
            <a:endParaRPr lang="en-US" sz="1650" dirty="0"/>
          </a:p>
        </p:txBody>
      </p:sp>
      <p:sp>
        <p:nvSpPr>
          <p:cNvPr id="15" name="Text 13"/>
          <p:cNvSpPr/>
          <p:nvPr/>
        </p:nvSpPr>
        <p:spPr>
          <a:xfrm>
            <a:off x="10453985" y="5938838"/>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6" name="Text 14"/>
          <p:cNvSpPr/>
          <p:nvPr/>
        </p:nvSpPr>
        <p:spPr>
          <a:xfrm>
            <a:off x="10796885" y="5938838"/>
            <a:ext cx="1811834"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Halucinacija cijene</a:t>
            </a:r>
            <a:endParaRPr lang="en-US" sz="1650" dirty="0"/>
          </a:p>
        </p:txBody>
      </p:sp>
      <p:sp>
        <p:nvSpPr>
          <p:cNvPr id="17" name="Text 15"/>
          <p:cNvSpPr/>
          <p:nvPr/>
        </p:nvSpPr>
        <p:spPr>
          <a:xfrm>
            <a:off x="10453985" y="6378773"/>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8" name="Text 16"/>
          <p:cNvSpPr/>
          <p:nvPr/>
        </p:nvSpPr>
        <p:spPr>
          <a:xfrm>
            <a:off x="10796885" y="6378773"/>
            <a:ext cx="2288828"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Dostava Mostar — FAQ</a:t>
            </a:r>
            <a:endParaRPr lang="en-US" sz="1650" dirty="0"/>
          </a:p>
        </p:txBody>
      </p:sp>
      <p:sp>
        <p:nvSpPr>
          <p:cNvPr id="19" name="Text 17"/>
          <p:cNvSpPr/>
          <p:nvPr/>
        </p:nvSpPr>
        <p:spPr>
          <a:xfrm>
            <a:off x="10453985" y="6818709"/>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20" name="Text 18"/>
          <p:cNvSpPr/>
          <p:nvPr/>
        </p:nvSpPr>
        <p:spPr>
          <a:xfrm>
            <a:off x="10796885" y="6818709"/>
            <a:ext cx="2079427"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B2B JIB — eskalacija</a:t>
            </a:r>
            <a:endParaRPr lang="en-US" sz="1650" dirty="0"/>
          </a:p>
        </p:txBody>
      </p:sp>
      <p:sp>
        <p:nvSpPr>
          <p:cNvPr id="21" name="Text 19"/>
          <p:cNvSpPr/>
          <p:nvPr/>
        </p:nvSpPr>
        <p:spPr>
          <a:xfrm>
            <a:off x="10453985" y="7258645"/>
            <a:ext cx="266700"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E74C3C"/>
                </a:solidFill>
                <a:latin typeface="Arial" pitchFamily="34" charset="0"/>
                <a:ea typeface="Arial" pitchFamily="34" charset="-122"/>
                <a:cs typeface="Arial" pitchFamily="34" charset="-120"/>
              </a:rPr>
              <a:t>✗</a:t>
            </a:r>
            <a:endParaRPr lang="en-US" sz="1650" dirty="0"/>
          </a:p>
        </p:txBody>
      </p:sp>
      <p:sp>
        <p:nvSpPr>
          <p:cNvPr id="22" name="Text 20"/>
          <p:cNvSpPr/>
          <p:nvPr/>
        </p:nvSpPr>
        <p:spPr>
          <a:xfrm>
            <a:off x="10796885" y="7258645"/>
            <a:ext cx="2056061"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FFFFF">
                    <a:alpha val="85000"/>
                  </a:srgbClr>
                </a:solidFill>
                <a:latin typeface="Arial" pitchFamily="34" charset="0"/>
                <a:ea typeface="Arial" pitchFamily="34" charset="-122"/>
                <a:cs typeface="Arial" pitchFamily="34" charset="-120"/>
              </a:rPr>
              <a:t>Out-of-stock kontekst</a:t>
            </a:r>
            <a:endParaRPr lang="en-US" sz="1650" dirty="0"/>
          </a:p>
        </p:txBody>
      </p:sp>
      <p:sp>
        <p:nvSpPr>
          <p:cNvPr id="23" name="Shape 21"/>
          <p:cNvSpPr/>
          <p:nvPr/>
        </p:nvSpPr>
        <p:spPr>
          <a:xfrm>
            <a:off x="10453985" y="7850981"/>
            <a:ext cx="6471940" cy="9525"/>
          </a:xfrm>
          <a:prstGeom prst="rect">
            <a:avLst/>
          </a:prstGeom>
          <a:solidFill>
            <a:srgbClr val="FFFFFF">
              <a:alpha val="10000"/>
            </a:srgbClr>
          </a:solidFill>
          <a:ln/>
        </p:spPr>
      </p:sp>
      <p:sp>
        <p:nvSpPr>
          <p:cNvPr id="24" name="Text 22"/>
          <p:cNvSpPr/>
          <p:nvPr/>
        </p:nvSpPr>
        <p:spPr>
          <a:xfrm>
            <a:off x="10453985" y="8012906"/>
            <a:ext cx="6666098" cy="478036"/>
          </a:xfrm>
          <a:prstGeom prst="rect">
            <a:avLst/>
          </a:prstGeom>
          <a:noFill/>
          <a:ln/>
        </p:spPr>
        <p:txBody>
          <a:bodyPr wrap="square" lIns="25400" tIns="25400" rIns="25400" bIns="25400" rtlCol="0" anchor="t">
            <a:normAutofit/>
          </a:bodyPr>
          <a:lstStyle/>
          <a:p>
            <a:pPr algn="l" indent="0" marL="0">
              <a:lnSpc>
                <a:spcPct val="210000"/>
              </a:lnSpc>
              <a:buNone/>
            </a:pPr>
            <a:r>
              <a:rPr lang="en-US" sz="1650" dirty="0">
                <a:solidFill>
                  <a:srgbClr val="FB6D3B"/>
                </a:solidFill>
                <a:latin typeface="Arial" pitchFamily="34" charset="0"/>
                <a:ea typeface="Arial" pitchFamily="34" charset="-122"/>
                <a:cs typeface="Arial" pitchFamily="34" charset="-120"/>
              </a:rPr>
              <a:t>── passed: 17/18 · 94%</a:t>
            </a:r>
            <a:endParaRPr lang="en-US" sz="1650" dirty="0"/>
          </a:p>
        </p:txBody>
      </p:sp>
      <p:sp>
        <p:nvSpPr>
          <p:cNvPr id="25" name="Text 23"/>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FFFFFF">
                    <a:alpha val="50000"/>
                  </a:srgbClr>
                </a:solidFill>
                <a:latin typeface="Arial" pitchFamily="34" charset="0"/>
                <a:ea typeface="Arial" pitchFamily="34" charset="-122"/>
                <a:cs typeface="Arial" pitchFamily="34" charset="-120"/>
              </a:rPr>
              <a:t>BitLab AI Asistent</a:t>
            </a:r>
            <a:endParaRPr lang="en-US" sz="1650" dirty="0"/>
          </a:p>
        </p:txBody>
      </p:sp>
      <p:sp>
        <p:nvSpPr>
          <p:cNvPr id="26" name="Text 24"/>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FFFFFF">
                    <a:alpha val="50000"/>
                  </a:srgbClr>
                </a:solidFill>
                <a:latin typeface="Arial" pitchFamily="34" charset="0"/>
                <a:ea typeface="Arial" pitchFamily="34" charset="-122"/>
                <a:cs typeface="Arial" pitchFamily="34" charset="-120"/>
              </a:rPr>
              <a:t>06/11</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06 · KAKO JE SASTAVLJENO</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Sve lokalno, bez vendor lock-in-a.</a:t>
            </a:r>
            <a:endParaRPr lang="en-US" sz="4800" dirty="0"/>
          </a:p>
        </p:txBody>
      </p:sp>
      <p:sp>
        <p:nvSpPr>
          <p:cNvPr id="5" name="Shape 3"/>
          <p:cNvSpPr/>
          <p:nvPr/>
        </p:nvSpPr>
        <p:spPr>
          <a:xfrm>
            <a:off x="1047750" y="3125986"/>
            <a:ext cx="4048125" cy="19050"/>
          </a:xfrm>
          <a:prstGeom prst="rect">
            <a:avLst/>
          </a:prstGeom>
          <a:solidFill>
            <a:srgbClr val="1A1A2E"/>
          </a:solidFill>
          <a:ln/>
        </p:spPr>
      </p:sp>
      <p:sp>
        <p:nvSpPr>
          <p:cNvPr id="6" name="Shape 4"/>
          <p:cNvSpPr/>
          <p:nvPr/>
        </p:nvSpPr>
        <p:spPr>
          <a:xfrm>
            <a:off x="5086350" y="3125986"/>
            <a:ext cx="9525" cy="2417266"/>
          </a:xfrm>
          <a:prstGeom prst="rect">
            <a:avLst/>
          </a:prstGeom>
          <a:solidFill>
            <a:srgbClr val="F0F0F0"/>
          </a:solidFill>
          <a:ln/>
        </p:spPr>
      </p:sp>
      <p:sp>
        <p:nvSpPr>
          <p:cNvPr id="7" name="Text 5"/>
          <p:cNvSpPr/>
          <p:nvPr/>
        </p:nvSpPr>
        <p:spPr>
          <a:xfrm>
            <a:off x="1314450" y="3526036"/>
            <a:ext cx="3610356" cy="285750"/>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1A1A2E"/>
                </a:solidFill>
                <a:latin typeface="Arial" pitchFamily="34" charset="0"/>
                <a:ea typeface="Arial" pitchFamily="34" charset="-122"/>
                <a:cs typeface="Arial" pitchFamily="34" charset="-120"/>
              </a:rPr>
              <a:t>01</a:t>
            </a:r>
            <a:endParaRPr lang="en-US" sz="1650" dirty="0"/>
          </a:p>
        </p:txBody>
      </p:sp>
      <p:sp>
        <p:nvSpPr>
          <p:cNvPr id="8" name="Text 6"/>
          <p:cNvSpPr/>
          <p:nvPr/>
        </p:nvSpPr>
        <p:spPr>
          <a:xfrm>
            <a:off x="1314450" y="3887986"/>
            <a:ext cx="3610356" cy="478036"/>
          </a:xfrm>
          <a:prstGeom prst="rect">
            <a:avLst/>
          </a:prstGeom>
          <a:noFill/>
          <a:ln/>
        </p:spPr>
        <p:txBody>
          <a:bodyPr wrap="square" lIns="25400" tIns="25400" rIns="25400" bIns="25400" rtlCol="0" anchor="t">
            <a:normAutofit/>
          </a:bodyPr>
          <a:lstStyle/>
          <a:p>
            <a:pPr algn="l" indent="0" marL="0">
              <a:lnSpc>
                <a:spcPct val="105000"/>
              </a:lnSpc>
              <a:buNone/>
            </a:pPr>
            <a:r>
              <a:rPr lang="en-US" sz="3300" b="1" spc="-66" kern="0" dirty="0">
                <a:solidFill>
                  <a:srgbClr val="1A1A2E"/>
                </a:solidFill>
                <a:latin typeface="Arial" pitchFamily="34" charset="0"/>
                <a:ea typeface="Arial" pitchFamily="34" charset="-122"/>
                <a:cs typeface="Arial" pitchFamily="34" charset="-120"/>
              </a:rPr>
              <a:t>Korisnik</a:t>
            </a:r>
            <a:endParaRPr lang="en-US" sz="3300" dirty="0"/>
          </a:p>
        </p:txBody>
      </p:sp>
      <p:sp>
        <p:nvSpPr>
          <p:cNvPr id="9" name="Text 7"/>
          <p:cNvSpPr/>
          <p:nvPr/>
        </p:nvSpPr>
        <p:spPr>
          <a:xfrm>
            <a:off x="1314450" y="4442222"/>
            <a:ext cx="3610356"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chat, glas</a:t>
            </a:r>
            <a:endParaRPr lang="en-US" sz="2100" dirty="0"/>
          </a:p>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ili e-mail</a:t>
            </a:r>
            <a:endParaRPr lang="en-US" sz="2100" dirty="0"/>
          </a:p>
        </p:txBody>
      </p:sp>
      <p:sp>
        <p:nvSpPr>
          <p:cNvPr id="10" name="Shape 8"/>
          <p:cNvSpPr/>
          <p:nvPr/>
        </p:nvSpPr>
        <p:spPr>
          <a:xfrm>
            <a:off x="4991100" y="3449836"/>
            <a:ext cx="190500" cy="304800"/>
          </a:xfrm>
          <a:prstGeom prst="rect">
            <a:avLst/>
          </a:prstGeom>
          <a:solidFill>
            <a:srgbClr val="FFFFFF"/>
          </a:solidFill>
          <a:ln/>
        </p:spPr>
      </p:sp>
      <p:sp>
        <p:nvSpPr>
          <p:cNvPr id="11" name="Text 9"/>
          <p:cNvSpPr/>
          <p:nvPr/>
        </p:nvSpPr>
        <p:spPr>
          <a:xfrm>
            <a:off x="4953000" y="3449836"/>
            <a:ext cx="266700" cy="342900"/>
          </a:xfrm>
          <a:prstGeom prst="rect">
            <a:avLst/>
          </a:prstGeom>
          <a:noFill/>
          <a:ln/>
        </p:spPr>
        <p:txBody>
          <a:bodyPr wrap="square" lIns="25400" tIns="25400" rIns="25400" bIns="25400" rtlCol="0" anchor="t">
            <a:normAutofit/>
          </a:bodyPr>
          <a:lstStyle/>
          <a:p>
            <a:pPr algn="ctr" indent="0" marL="0">
              <a:buNone/>
            </a:pPr>
            <a:r>
              <a:rPr lang="en-US" sz="2100" dirty="0">
                <a:solidFill>
                  <a:srgbClr val="999999"/>
                </a:solidFill>
                <a:latin typeface="Arial" pitchFamily="34" charset="0"/>
                <a:ea typeface="Arial" pitchFamily="34" charset="-122"/>
                <a:cs typeface="Arial" pitchFamily="34" charset="-120"/>
              </a:rPr>
              <a:t>→</a:t>
            </a:r>
            <a:endParaRPr lang="en-US" sz="2100" dirty="0"/>
          </a:p>
        </p:txBody>
      </p:sp>
      <p:sp>
        <p:nvSpPr>
          <p:cNvPr id="12" name="Shape 10"/>
          <p:cNvSpPr/>
          <p:nvPr/>
        </p:nvSpPr>
        <p:spPr>
          <a:xfrm>
            <a:off x="5095875" y="3125986"/>
            <a:ext cx="4048125" cy="19050"/>
          </a:xfrm>
          <a:prstGeom prst="rect">
            <a:avLst/>
          </a:prstGeom>
          <a:solidFill>
            <a:srgbClr val="1A1A2E"/>
          </a:solidFill>
          <a:ln/>
        </p:spPr>
      </p:sp>
      <p:sp>
        <p:nvSpPr>
          <p:cNvPr id="13" name="Shape 11"/>
          <p:cNvSpPr/>
          <p:nvPr/>
        </p:nvSpPr>
        <p:spPr>
          <a:xfrm>
            <a:off x="9134475" y="3125986"/>
            <a:ext cx="9525" cy="2417266"/>
          </a:xfrm>
          <a:prstGeom prst="rect">
            <a:avLst/>
          </a:prstGeom>
          <a:solidFill>
            <a:srgbClr val="F0F0F0"/>
          </a:solidFill>
          <a:ln/>
        </p:spPr>
      </p:sp>
      <p:sp>
        <p:nvSpPr>
          <p:cNvPr id="14" name="Text 12"/>
          <p:cNvSpPr/>
          <p:nvPr/>
        </p:nvSpPr>
        <p:spPr>
          <a:xfrm>
            <a:off x="5362575" y="3526036"/>
            <a:ext cx="3610356" cy="285750"/>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1A1A2E"/>
                </a:solidFill>
                <a:latin typeface="Arial" pitchFamily="34" charset="0"/>
                <a:ea typeface="Arial" pitchFamily="34" charset="-122"/>
                <a:cs typeface="Arial" pitchFamily="34" charset="-120"/>
              </a:rPr>
              <a:t>02</a:t>
            </a:r>
            <a:endParaRPr lang="en-US" sz="1650" dirty="0"/>
          </a:p>
        </p:txBody>
      </p:sp>
      <p:sp>
        <p:nvSpPr>
          <p:cNvPr id="15" name="Text 13"/>
          <p:cNvSpPr/>
          <p:nvPr/>
        </p:nvSpPr>
        <p:spPr>
          <a:xfrm>
            <a:off x="5362575" y="3887986"/>
            <a:ext cx="3610356" cy="478036"/>
          </a:xfrm>
          <a:prstGeom prst="rect">
            <a:avLst/>
          </a:prstGeom>
          <a:noFill/>
          <a:ln/>
        </p:spPr>
        <p:txBody>
          <a:bodyPr wrap="square" lIns="25400" tIns="25400" rIns="25400" bIns="25400" rtlCol="0" anchor="t">
            <a:normAutofit/>
          </a:bodyPr>
          <a:lstStyle/>
          <a:p>
            <a:pPr algn="l" indent="0" marL="0">
              <a:lnSpc>
                <a:spcPct val="105000"/>
              </a:lnSpc>
              <a:buNone/>
            </a:pPr>
            <a:r>
              <a:rPr lang="en-US" sz="3300" b="1" spc="-66" kern="0" dirty="0">
                <a:solidFill>
                  <a:srgbClr val="1A1A2E"/>
                </a:solidFill>
                <a:latin typeface="Arial" pitchFamily="34" charset="0"/>
                <a:ea typeface="Arial" pitchFamily="34" charset="-122"/>
                <a:cs typeface="Arial" pitchFamily="34" charset="-120"/>
              </a:rPr>
              <a:t>3 kanala</a:t>
            </a:r>
            <a:endParaRPr lang="en-US" sz="3300" dirty="0"/>
          </a:p>
        </p:txBody>
      </p:sp>
      <p:sp>
        <p:nvSpPr>
          <p:cNvPr id="16" name="Text 14"/>
          <p:cNvSpPr/>
          <p:nvPr/>
        </p:nvSpPr>
        <p:spPr>
          <a:xfrm>
            <a:off x="5362575" y="4442222"/>
            <a:ext cx="3610356"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jedan ulaz</a:t>
            </a:r>
            <a:endParaRPr lang="en-US" sz="2100" dirty="0"/>
          </a:p>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u sistem</a:t>
            </a:r>
            <a:endParaRPr lang="en-US" sz="2100" dirty="0"/>
          </a:p>
        </p:txBody>
      </p:sp>
      <p:sp>
        <p:nvSpPr>
          <p:cNvPr id="17" name="Shape 15"/>
          <p:cNvSpPr/>
          <p:nvPr/>
        </p:nvSpPr>
        <p:spPr>
          <a:xfrm>
            <a:off x="9039225" y="3449836"/>
            <a:ext cx="190500" cy="304800"/>
          </a:xfrm>
          <a:prstGeom prst="rect">
            <a:avLst/>
          </a:prstGeom>
          <a:solidFill>
            <a:srgbClr val="FFFFFF"/>
          </a:solidFill>
          <a:ln/>
        </p:spPr>
      </p:sp>
      <p:sp>
        <p:nvSpPr>
          <p:cNvPr id="18" name="Text 16"/>
          <p:cNvSpPr/>
          <p:nvPr/>
        </p:nvSpPr>
        <p:spPr>
          <a:xfrm>
            <a:off x="9001125" y="3449836"/>
            <a:ext cx="266700" cy="342900"/>
          </a:xfrm>
          <a:prstGeom prst="rect">
            <a:avLst/>
          </a:prstGeom>
          <a:noFill/>
          <a:ln/>
        </p:spPr>
        <p:txBody>
          <a:bodyPr wrap="square" lIns="25400" tIns="25400" rIns="25400" bIns="25400" rtlCol="0" anchor="t">
            <a:normAutofit/>
          </a:bodyPr>
          <a:lstStyle/>
          <a:p>
            <a:pPr algn="ctr" indent="0" marL="0">
              <a:buNone/>
            </a:pPr>
            <a:r>
              <a:rPr lang="en-US" sz="2100" dirty="0">
                <a:solidFill>
                  <a:srgbClr val="999999"/>
                </a:solidFill>
                <a:latin typeface="Arial" pitchFamily="34" charset="0"/>
                <a:ea typeface="Arial" pitchFamily="34" charset="-122"/>
                <a:cs typeface="Arial" pitchFamily="34" charset="-120"/>
              </a:rPr>
              <a:t>→</a:t>
            </a:r>
            <a:endParaRPr lang="en-US" sz="2100" dirty="0"/>
          </a:p>
        </p:txBody>
      </p:sp>
      <p:sp>
        <p:nvSpPr>
          <p:cNvPr id="19" name="Shape 17"/>
          <p:cNvSpPr/>
          <p:nvPr/>
        </p:nvSpPr>
        <p:spPr>
          <a:xfrm>
            <a:off x="9144000" y="3125986"/>
            <a:ext cx="4048125" cy="19050"/>
          </a:xfrm>
          <a:prstGeom prst="rect">
            <a:avLst/>
          </a:prstGeom>
          <a:solidFill>
            <a:srgbClr val="FB6D3B"/>
          </a:solidFill>
          <a:ln/>
        </p:spPr>
      </p:sp>
      <p:sp>
        <p:nvSpPr>
          <p:cNvPr id="20" name="Shape 18"/>
          <p:cNvSpPr/>
          <p:nvPr/>
        </p:nvSpPr>
        <p:spPr>
          <a:xfrm>
            <a:off x="13182600" y="3125986"/>
            <a:ext cx="9525" cy="2417266"/>
          </a:xfrm>
          <a:prstGeom prst="rect">
            <a:avLst/>
          </a:prstGeom>
          <a:solidFill>
            <a:srgbClr val="F0F0F0"/>
          </a:solidFill>
          <a:ln/>
        </p:spPr>
      </p:sp>
      <p:sp>
        <p:nvSpPr>
          <p:cNvPr id="21" name="Text 19"/>
          <p:cNvSpPr/>
          <p:nvPr/>
        </p:nvSpPr>
        <p:spPr>
          <a:xfrm>
            <a:off x="9410700" y="3526036"/>
            <a:ext cx="3610356" cy="285750"/>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03</a:t>
            </a:r>
            <a:endParaRPr lang="en-US" sz="1650" dirty="0"/>
          </a:p>
        </p:txBody>
      </p:sp>
      <p:sp>
        <p:nvSpPr>
          <p:cNvPr id="22" name="Text 20"/>
          <p:cNvSpPr/>
          <p:nvPr/>
        </p:nvSpPr>
        <p:spPr>
          <a:xfrm>
            <a:off x="9410700" y="3887986"/>
            <a:ext cx="3610356" cy="478036"/>
          </a:xfrm>
          <a:prstGeom prst="rect">
            <a:avLst/>
          </a:prstGeom>
          <a:noFill/>
          <a:ln/>
        </p:spPr>
        <p:txBody>
          <a:bodyPr wrap="square" lIns="25400" tIns="25400" rIns="25400" bIns="25400" rtlCol="0" anchor="t">
            <a:normAutofit/>
          </a:bodyPr>
          <a:lstStyle/>
          <a:p>
            <a:pPr algn="l" indent="0" marL="0">
              <a:lnSpc>
                <a:spcPct val="105000"/>
              </a:lnSpc>
              <a:buNone/>
            </a:pPr>
            <a:r>
              <a:rPr lang="en-US" sz="3300" b="1" spc="-66" kern="0" dirty="0">
                <a:solidFill>
                  <a:srgbClr val="1A1A2E"/>
                </a:solidFill>
                <a:latin typeface="Arial" pitchFamily="34" charset="0"/>
                <a:ea typeface="Arial" pitchFamily="34" charset="-122"/>
                <a:cs typeface="Arial" pitchFamily="34" charset="-120"/>
              </a:rPr>
              <a:t>AI mozak</a:t>
            </a:r>
            <a:endParaRPr lang="en-US" sz="3300" dirty="0"/>
          </a:p>
        </p:txBody>
      </p:sp>
      <p:sp>
        <p:nvSpPr>
          <p:cNvPr id="23" name="Text 21"/>
          <p:cNvSpPr/>
          <p:nvPr/>
        </p:nvSpPr>
        <p:spPr>
          <a:xfrm>
            <a:off x="9410700" y="4442222"/>
            <a:ext cx="3610356"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odlučujue šta</a:t>
            </a:r>
            <a:endParaRPr lang="en-US" sz="2100" dirty="0"/>
          </a:p>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radi i kako</a:t>
            </a:r>
            <a:endParaRPr lang="en-US" sz="2100" dirty="0"/>
          </a:p>
        </p:txBody>
      </p:sp>
      <p:sp>
        <p:nvSpPr>
          <p:cNvPr id="24" name="Shape 22"/>
          <p:cNvSpPr/>
          <p:nvPr/>
        </p:nvSpPr>
        <p:spPr>
          <a:xfrm>
            <a:off x="13087350" y="3449836"/>
            <a:ext cx="190500" cy="304800"/>
          </a:xfrm>
          <a:prstGeom prst="rect">
            <a:avLst/>
          </a:prstGeom>
          <a:solidFill>
            <a:srgbClr val="FFFFFF"/>
          </a:solidFill>
          <a:ln/>
        </p:spPr>
      </p:sp>
      <p:sp>
        <p:nvSpPr>
          <p:cNvPr id="25" name="Text 23"/>
          <p:cNvSpPr/>
          <p:nvPr/>
        </p:nvSpPr>
        <p:spPr>
          <a:xfrm>
            <a:off x="13049250" y="3449836"/>
            <a:ext cx="266700" cy="342900"/>
          </a:xfrm>
          <a:prstGeom prst="rect">
            <a:avLst/>
          </a:prstGeom>
          <a:noFill/>
          <a:ln/>
        </p:spPr>
        <p:txBody>
          <a:bodyPr wrap="square" lIns="25400" tIns="25400" rIns="25400" bIns="25400" rtlCol="0" anchor="t">
            <a:normAutofit/>
          </a:bodyPr>
          <a:lstStyle/>
          <a:p>
            <a:pPr algn="ctr" indent="0" marL="0">
              <a:buNone/>
            </a:pPr>
            <a:r>
              <a:rPr lang="en-US" sz="2100" dirty="0">
                <a:solidFill>
                  <a:srgbClr val="999999"/>
                </a:solidFill>
                <a:latin typeface="Arial" pitchFamily="34" charset="0"/>
                <a:ea typeface="Arial" pitchFamily="34" charset="-122"/>
                <a:cs typeface="Arial" pitchFamily="34" charset="-120"/>
              </a:rPr>
              <a:t>→</a:t>
            </a:r>
            <a:endParaRPr lang="en-US" sz="2100" dirty="0"/>
          </a:p>
        </p:txBody>
      </p:sp>
      <p:sp>
        <p:nvSpPr>
          <p:cNvPr id="26" name="Shape 24"/>
          <p:cNvSpPr/>
          <p:nvPr/>
        </p:nvSpPr>
        <p:spPr>
          <a:xfrm>
            <a:off x="13192125" y="3125986"/>
            <a:ext cx="4048125" cy="19050"/>
          </a:xfrm>
          <a:prstGeom prst="rect">
            <a:avLst/>
          </a:prstGeom>
          <a:solidFill>
            <a:srgbClr val="1A1A2E"/>
          </a:solidFill>
          <a:ln/>
        </p:spPr>
      </p:sp>
      <p:sp>
        <p:nvSpPr>
          <p:cNvPr id="27" name="Text 25"/>
          <p:cNvSpPr/>
          <p:nvPr/>
        </p:nvSpPr>
        <p:spPr>
          <a:xfrm>
            <a:off x="13458825" y="3526036"/>
            <a:ext cx="3620167" cy="285750"/>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1A1A2E"/>
                </a:solidFill>
                <a:latin typeface="Arial" pitchFamily="34" charset="0"/>
                <a:ea typeface="Arial" pitchFamily="34" charset="-122"/>
                <a:cs typeface="Arial" pitchFamily="34" charset="-120"/>
              </a:rPr>
              <a:t>04</a:t>
            </a:r>
            <a:endParaRPr lang="en-US" sz="1650" dirty="0"/>
          </a:p>
        </p:txBody>
      </p:sp>
      <p:sp>
        <p:nvSpPr>
          <p:cNvPr id="28" name="Text 26"/>
          <p:cNvSpPr/>
          <p:nvPr/>
        </p:nvSpPr>
        <p:spPr>
          <a:xfrm>
            <a:off x="13458825" y="3887986"/>
            <a:ext cx="3620167" cy="478036"/>
          </a:xfrm>
          <a:prstGeom prst="rect">
            <a:avLst/>
          </a:prstGeom>
          <a:noFill/>
          <a:ln/>
        </p:spPr>
        <p:txBody>
          <a:bodyPr wrap="square" lIns="25400" tIns="25400" rIns="25400" bIns="25400" rtlCol="0" anchor="t">
            <a:normAutofit/>
          </a:bodyPr>
          <a:lstStyle/>
          <a:p>
            <a:pPr algn="l" indent="0" marL="0">
              <a:lnSpc>
                <a:spcPct val="105000"/>
              </a:lnSpc>
              <a:buNone/>
            </a:pPr>
            <a:r>
              <a:rPr lang="en-US" sz="3300" b="1" spc="-66" kern="0" dirty="0">
                <a:solidFill>
                  <a:srgbClr val="1A1A2E"/>
                </a:solidFill>
                <a:latin typeface="Arial" pitchFamily="34" charset="0"/>
                <a:ea typeface="Arial" pitchFamily="34" charset="-122"/>
                <a:cs typeface="Arial" pitchFamily="34" charset="-120"/>
              </a:rPr>
              <a:t>Katalog + FAQ</a:t>
            </a:r>
            <a:endParaRPr lang="en-US" sz="3300" dirty="0"/>
          </a:p>
        </p:txBody>
      </p:sp>
      <p:sp>
        <p:nvSpPr>
          <p:cNvPr id="29" name="Text 27"/>
          <p:cNvSpPr/>
          <p:nvPr/>
        </p:nvSpPr>
        <p:spPr>
          <a:xfrm>
            <a:off x="13458825" y="4442222"/>
            <a:ext cx="362016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5.278 proizvoda</a:t>
            </a:r>
            <a:endParaRPr lang="en-US" sz="2100" dirty="0"/>
          </a:p>
          <a:p>
            <a:pPr algn="l" indent="0" marL="0">
              <a:lnSpc>
                <a:spcPct val="135000"/>
              </a:lnSpc>
              <a:buNone/>
            </a:pPr>
            <a:r>
              <a:rPr lang="en-US" sz="2100" dirty="0">
                <a:solidFill>
                  <a:srgbClr val="666666"/>
                </a:solidFill>
                <a:latin typeface="Arial" pitchFamily="34" charset="0"/>
                <a:ea typeface="Arial" pitchFamily="34" charset="-122"/>
                <a:cs typeface="Arial" pitchFamily="34" charset="-120"/>
              </a:rPr>
              <a:t>hibridna pretraga</a:t>
            </a:r>
            <a:endParaRPr lang="en-US" sz="2100" dirty="0"/>
          </a:p>
        </p:txBody>
      </p:sp>
      <p:sp>
        <p:nvSpPr>
          <p:cNvPr id="30" name="Text 28"/>
          <p:cNvSpPr/>
          <p:nvPr/>
        </p:nvSpPr>
        <p:spPr>
          <a:xfrm>
            <a:off x="1047750" y="6152852"/>
            <a:ext cx="3963543" cy="352425"/>
          </a:xfrm>
          <a:prstGeom prst="rect">
            <a:avLst/>
          </a:prstGeom>
          <a:noFill/>
          <a:ln/>
        </p:spPr>
        <p:txBody>
          <a:bodyPr wrap="square" lIns="25400" tIns="25400" rIns="25400" bIns="25400" rtlCol="0" anchor="t">
            <a:normAutofit/>
          </a:bodyPr>
          <a:lstStyle/>
          <a:p>
            <a:pPr algn="l" indent="0" marL="0">
              <a:lnSpc>
                <a:spcPct val="150000"/>
              </a:lnSpc>
              <a:buNone/>
            </a:pPr>
            <a:r>
              <a:rPr lang="en-US" sz="1650" spc="330" kern="0" dirty="0">
                <a:solidFill>
                  <a:srgbClr val="FB6D3B"/>
                </a:solidFill>
                <a:latin typeface="Arial" pitchFamily="34" charset="0"/>
                <a:ea typeface="Arial" pitchFamily="34" charset="-122"/>
                <a:cs typeface="Arial" pitchFamily="34" charset="-120"/>
              </a:rPr>
              <a:t>AI</a:t>
            </a:r>
            <a:endParaRPr lang="en-US" sz="1650" dirty="0"/>
          </a:p>
        </p:txBody>
      </p:sp>
      <p:sp>
        <p:nvSpPr>
          <p:cNvPr id="31" name="Text 29"/>
          <p:cNvSpPr/>
          <p:nvPr/>
        </p:nvSpPr>
        <p:spPr>
          <a:xfrm>
            <a:off x="1047750" y="6543377"/>
            <a:ext cx="3963543" cy="666750"/>
          </a:xfrm>
          <a:prstGeom prst="rect">
            <a:avLst/>
          </a:prstGeom>
          <a:noFill/>
          <a:ln/>
        </p:spPr>
        <p:txBody>
          <a:bodyPr wrap="square" lIns="25400" tIns="25400" rIns="25400" bIns="25400" rtlCol="0" anchor="t">
            <a:normAutofit/>
          </a:bodyPr>
          <a:lstStyle/>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frontier modeli</a:t>
            </a:r>
            <a:endParaRPr lang="en-US" sz="1650" dirty="0"/>
          </a:p>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za odluke i e-mail</a:t>
            </a:r>
            <a:endParaRPr lang="en-US" sz="1650" dirty="0"/>
          </a:p>
        </p:txBody>
      </p:sp>
      <p:sp>
        <p:nvSpPr>
          <p:cNvPr id="32" name="Text 30"/>
          <p:cNvSpPr/>
          <p:nvPr/>
        </p:nvSpPr>
        <p:spPr>
          <a:xfrm>
            <a:off x="5162550" y="6152852"/>
            <a:ext cx="3963543" cy="352425"/>
          </a:xfrm>
          <a:prstGeom prst="rect">
            <a:avLst/>
          </a:prstGeom>
          <a:noFill/>
          <a:ln/>
        </p:spPr>
        <p:txBody>
          <a:bodyPr wrap="square" lIns="25400" tIns="25400" rIns="25400" bIns="25400" rtlCol="0" anchor="t">
            <a:normAutofit/>
          </a:bodyPr>
          <a:lstStyle/>
          <a:p>
            <a:pPr algn="l" indent="0" marL="0">
              <a:lnSpc>
                <a:spcPct val="150000"/>
              </a:lnSpc>
              <a:buNone/>
            </a:pPr>
            <a:r>
              <a:rPr lang="en-US" sz="1650" spc="330" kern="0" dirty="0">
                <a:solidFill>
                  <a:srgbClr val="FB6D3B"/>
                </a:solidFill>
                <a:latin typeface="Arial" pitchFamily="34" charset="0"/>
                <a:ea typeface="Arial" pitchFamily="34" charset="-122"/>
                <a:cs typeface="Arial" pitchFamily="34" charset="-120"/>
              </a:rPr>
              <a:t>PRETRAGA</a:t>
            </a:r>
            <a:endParaRPr lang="en-US" sz="1650" dirty="0"/>
          </a:p>
        </p:txBody>
      </p:sp>
      <p:sp>
        <p:nvSpPr>
          <p:cNvPr id="33" name="Text 31"/>
          <p:cNvSpPr/>
          <p:nvPr/>
        </p:nvSpPr>
        <p:spPr>
          <a:xfrm>
            <a:off x="5162550" y="6543377"/>
            <a:ext cx="3963543" cy="666750"/>
          </a:xfrm>
          <a:prstGeom prst="rect">
            <a:avLst/>
          </a:prstGeom>
          <a:noFill/>
          <a:ln/>
        </p:spPr>
        <p:txBody>
          <a:bodyPr wrap="square" lIns="25400" tIns="25400" rIns="25400" bIns="25400" rtlCol="0" anchor="t">
            <a:normAutofit/>
          </a:bodyPr>
          <a:lstStyle/>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lokalna vektorska</a:t>
            </a:r>
            <a:endParaRPr lang="en-US" sz="1650" dirty="0"/>
          </a:p>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 keyword fusion</a:t>
            </a:r>
            <a:endParaRPr lang="en-US" sz="1650" dirty="0"/>
          </a:p>
        </p:txBody>
      </p:sp>
      <p:sp>
        <p:nvSpPr>
          <p:cNvPr id="34" name="Text 32"/>
          <p:cNvSpPr/>
          <p:nvPr/>
        </p:nvSpPr>
        <p:spPr>
          <a:xfrm>
            <a:off x="9277350" y="6152852"/>
            <a:ext cx="3963543" cy="352425"/>
          </a:xfrm>
          <a:prstGeom prst="rect">
            <a:avLst/>
          </a:prstGeom>
          <a:noFill/>
          <a:ln/>
        </p:spPr>
        <p:txBody>
          <a:bodyPr wrap="square" lIns="25400" tIns="25400" rIns="25400" bIns="25400" rtlCol="0" anchor="t">
            <a:normAutofit/>
          </a:bodyPr>
          <a:lstStyle/>
          <a:p>
            <a:pPr algn="l" indent="0" marL="0">
              <a:lnSpc>
                <a:spcPct val="150000"/>
              </a:lnSpc>
              <a:buNone/>
            </a:pPr>
            <a:r>
              <a:rPr lang="en-US" sz="1650" spc="330" kern="0" dirty="0">
                <a:solidFill>
                  <a:srgbClr val="FB6D3B"/>
                </a:solidFill>
                <a:latin typeface="Arial" pitchFamily="34" charset="0"/>
                <a:ea typeface="Arial" pitchFamily="34" charset="-122"/>
                <a:cs typeface="Arial" pitchFamily="34" charset="-120"/>
              </a:rPr>
              <a:t>VOICE</a:t>
            </a:r>
            <a:endParaRPr lang="en-US" sz="1650" dirty="0"/>
          </a:p>
        </p:txBody>
      </p:sp>
      <p:sp>
        <p:nvSpPr>
          <p:cNvPr id="35" name="Text 33"/>
          <p:cNvSpPr/>
          <p:nvPr/>
        </p:nvSpPr>
        <p:spPr>
          <a:xfrm>
            <a:off x="9277350" y="6543377"/>
            <a:ext cx="3963543" cy="666750"/>
          </a:xfrm>
          <a:prstGeom prst="rect">
            <a:avLst/>
          </a:prstGeom>
          <a:noFill/>
          <a:ln/>
        </p:spPr>
        <p:txBody>
          <a:bodyPr wrap="square" lIns="25400" tIns="25400" rIns="25400" bIns="25400" rtlCol="0" anchor="t">
            <a:normAutofit/>
          </a:bodyPr>
          <a:lstStyle/>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lokalni STT</a:t>
            </a:r>
            <a:endParaRPr lang="en-US" sz="1650" dirty="0"/>
          </a:p>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 neuralni TTS</a:t>
            </a:r>
            <a:endParaRPr lang="en-US" sz="1650" dirty="0"/>
          </a:p>
        </p:txBody>
      </p:sp>
      <p:sp>
        <p:nvSpPr>
          <p:cNvPr id="36" name="Text 34"/>
          <p:cNvSpPr/>
          <p:nvPr/>
        </p:nvSpPr>
        <p:spPr>
          <a:xfrm>
            <a:off x="13392150" y="6152852"/>
            <a:ext cx="3963543" cy="352425"/>
          </a:xfrm>
          <a:prstGeom prst="rect">
            <a:avLst/>
          </a:prstGeom>
          <a:noFill/>
          <a:ln/>
        </p:spPr>
        <p:txBody>
          <a:bodyPr wrap="square" lIns="25400" tIns="25400" rIns="25400" bIns="25400" rtlCol="0" anchor="t">
            <a:normAutofit/>
          </a:bodyPr>
          <a:lstStyle/>
          <a:p>
            <a:pPr algn="l" indent="0" marL="0">
              <a:lnSpc>
                <a:spcPct val="150000"/>
              </a:lnSpc>
              <a:buNone/>
            </a:pPr>
            <a:r>
              <a:rPr lang="en-US" sz="1650" spc="330" kern="0" dirty="0">
                <a:solidFill>
                  <a:srgbClr val="FB6D3B"/>
                </a:solidFill>
                <a:latin typeface="Arial" pitchFamily="34" charset="0"/>
                <a:ea typeface="Arial" pitchFamily="34" charset="-122"/>
                <a:cs typeface="Arial" pitchFamily="34" charset="-120"/>
              </a:rPr>
              <a:t>AUTOMATION</a:t>
            </a:r>
            <a:endParaRPr lang="en-US" sz="1650" dirty="0"/>
          </a:p>
        </p:txBody>
      </p:sp>
      <p:sp>
        <p:nvSpPr>
          <p:cNvPr id="37" name="Text 35"/>
          <p:cNvSpPr/>
          <p:nvPr/>
        </p:nvSpPr>
        <p:spPr>
          <a:xfrm>
            <a:off x="13392150" y="6543377"/>
            <a:ext cx="3963543" cy="666750"/>
          </a:xfrm>
          <a:prstGeom prst="rect">
            <a:avLst/>
          </a:prstGeom>
          <a:noFill/>
          <a:ln/>
        </p:spPr>
        <p:txBody>
          <a:bodyPr wrap="square" lIns="25400" tIns="25400" rIns="25400" bIns="25400" rtlCol="0" anchor="t">
            <a:normAutofit/>
          </a:bodyPr>
          <a:lstStyle/>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n8n workflows</a:t>
            </a:r>
            <a:endParaRPr lang="en-US" sz="1650" dirty="0"/>
          </a:p>
          <a:p>
            <a:pPr algn="l" indent="0" marL="0">
              <a:lnSpc>
                <a:spcPct val="150000"/>
              </a:lnSpc>
              <a:buNone/>
            </a:pPr>
            <a:r>
              <a:rPr lang="en-US" sz="1650" dirty="0">
                <a:solidFill>
                  <a:srgbClr val="666666"/>
                </a:solidFill>
                <a:latin typeface="Arial" pitchFamily="34" charset="0"/>
                <a:ea typeface="Arial" pitchFamily="34" charset="-122"/>
                <a:cs typeface="Arial" pitchFamily="34" charset="-120"/>
              </a:rPr>
              <a:t>lokalno hostovani</a:t>
            </a:r>
            <a:endParaRPr lang="en-US" sz="1650" dirty="0"/>
          </a:p>
        </p:txBody>
      </p:sp>
      <p:sp>
        <p:nvSpPr>
          <p:cNvPr id="38" name="Text 36"/>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39" name="Text 37"/>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07/11</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5F0"/>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07 · SIGURNOST I PRIVATNOST</a:t>
            </a:r>
            <a:endParaRPr lang="en-US" sz="1650" dirty="0"/>
          </a:p>
        </p:txBody>
      </p:sp>
      <p:sp>
        <p:nvSpPr>
          <p:cNvPr id="4" name="Text 2"/>
          <p:cNvSpPr/>
          <p:nvPr/>
        </p:nvSpPr>
        <p:spPr>
          <a:xfrm>
            <a:off x="1047750" y="4244429"/>
            <a:ext cx="8562025" cy="2798266"/>
          </a:xfrm>
          <a:prstGeom prst="rect">
            <a:avLst/>
          </a:prstGeom>
          <a:noFill/>
          <a:ln/>
        </p:spPr>
        <p:txBody>
          <a:bodyPr wrap="square" lIns="25400" tIns="25400" rIns="25400" bIns="25400" rtlCol="0" anchor="t">
            <a:normAutofit/>
          </a:bodyPr>
          <a:lstStyle/>
          <a:p>
            <a:pPr algn="l" indent="0" marL="0">
              <a:lnSpc>
                <a:spcPct val="105000"/>
              </a:lnSpc>
              <a:buNone/>
            </a:pPr>
            <a:r>
              <a:rPr lang="en-US" sz="6900" b="1" spc="-172" kern="0" dirty="0">
                <a:solidFill>
                  <a:srgbClr val="1A1A2E"/>
                </a:solidFill>
                <a:latin typeface="Arial" pitchFamily="34" charset="0"/>
                <a:ea typeface="Arial" pitchFamily="34" charset="-122"/>
                <a:cs typeface="Arial" pitchFamily="34" charset="-120"/>
              </a:rPr>
              <a:t>Vaš server. Vaši podaci. </a:t>
            </a:r>
            <a:pPr algn="l" indent="0" marL="0">
              <a:lnSpc>
                <a:spcPct val="105000"/>
              </a:lnSpc>
              <a:buNone/>
            </a:pPr>
            <a:r>
              <a:rPr lang="en-US" sz="6900" b="1" spc="-172" kern="0" dirty="0">
                <a:solidFill>
                  <a:srgbClr val="FB6D3B"/>
                </a:solidFill>
                <a:latin typeface="Arial" pitchFamily="34" charset="0"/>
                <a:ea typeface="Arial" pitchFamily="34" charset="-122"/>
                <a:cs typeface="Arial" pitchFamily="34" charset="-120"/>
              </a:rPr>
              <a:t>Vaš AI.</a:t>
            </a:r>
            <a:endParaRPr lang="en-US" sz="6900" dirty="0"/>
          </a:p>
        </p:txBody>
      </p:sp>
      <p:sp>
        <p:nvSpPr>
          <p:cNvPr id="5" name="Shape 3"/>
          <p:cNvSpPr/>
          <p:nvPr/>
        </p:nvSpPr>
        <p:spPr>
          <a:xfrm>
            <a:off x="10312896" y="3734991"/>
            <a:ext cx="76200" cy="76200"/>
          </a:xfrm>
          <a:prstGeom prst="roundRect">
            <a:avLst>
              <a:gd name="adj" fmla="val 25000"/>
            </a:avLst>
          </a:prstGeom>
          <a:solidFill>
            <a:srgbClr val="FB6D3B"/>
          </a:solidFill>
          <a:ln/>
        </p:spPr>
      </p:sp>
      <p:sp>
        <p:nvSpPr>
          <p:cNvPr id="6" name="Text 4"/>
          <p:cNvSpPr/>
          <p:nvPr/>
        </p:nvSpPr>
        <p:spPr>
          <a:xfrm>
            <a:off x="10579596" y="3563541"/>
            <a:ext cx="5451098"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VPS BitLab-a</a:t>
            </a:r>
            <a:endParaRPr lang="en-US" sz="2550" dirty="0"/>
          </a:p>
        </p:txBody>
      </p:sp>
      <p:sp>
        <p:nvSpPr>
          <p:cNvPr id="7" name="Text 5"/>
          <p:cNvSpPr/>
          <p:nvPr/>
        </p:nvSpPr>
        <p:spPr>
          <a:xfrm>
            <a:off x="10579596" y="3992166"/>
            <a:ext cx="5451098"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66666"/>
                </a:solidFill>
                <a:latin typeface="Arial" pitchFamily="34" charset="0"/>
                <a:ea typeface="Arial" pitchFamily="34" charset="-122"/>
                <a:cs typeface="Arial" pitchFamily="34" charset="-120"/>
              </a:rPr>
              <a:t>Sve komponente rade na vašoj infrastrukturi.</a:t>
            </a:r>
            <a:endParaRPr lang="en-US" sz="2100" dirty="0"/>
          </a:p>
        </p:txBody>
      </p:sp>
      <p:sp>
        <p:nvSpPr>
          <p:cNvPr id="8" name="Shape 6"/>
          <p:cNvSpPr/>
          <p:nvPr/>
        </p:nvSpPr>
        <p:spPr>
          <a:xfrm>
            <a:off x="10312896" y="4841677"/>
            <a:ext cx="76200" cy="76200"/>
          </a:xfrm>
          <a:prstGeom prst="roundRect">
            <a:avLst>
              <a:gd name="adj" fmla="val 25000"/>
            </a:avLst>
          </a:prstGeom>
          <a:solidFill>
            <a:srgbClr val="FB6D3B"/>
          </a:solidFill>
          <a:ln/>
        </p:spPr>
      </p:sp>
      <p:sp>
        <p:nvSpPr>
          <p:cNvPr id="9" name="Text 7"/>
          <p:cNvSpPr/>
          <p:nvPr/>
        </p:nvSpPr>
        <p:spPr>
          <a:xfrm>
            <a:off x="10579596" y="4670227"/>
            <a:ext cx="5909291"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Bez trećih lica</a:t>
            </a:r>
            <a:endParaRPr lang="en-US" sz="2550" dirty="0"/>
          </a:p>
        </p:txBody>
      </p:sp>
      <p:sp>
        <p:nvSpPr>
          <p:cNvPr id="10" name="Text 8"/>
          <p:cNvSpPr/>
          <p:nvPr/>
        </p:nvSpPr>
        <p:spPr>
          <a:xfrm>
            <a:off x="10579596" y="5098852"/>
            <a:ext cx="5909291"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66666"/>
                </a:solidFill>
                <a:latin typeface="Arial" pitchFamily="34" charset="0"/>
                <a:ea typeface="Arial" pitchFamily="34" charset="-122"/>
                <a:cs typeface="Arial" pitchFamily="34" charset="-120"/>
              </a:rPr>
              <a:t>Nema ngrok-a, tunela ni eksternih webhook-ova.</a:t>
            </a:r>
            <a:endParaRPr lang="en-US" sz="2100" dirty="0"/>
          </a:p>
        </p:txBody>
      </p:sp>
      <p:sp>
        <p:nvSpPr>
          <p:cNvPr id="11" name="Shape 9"/>
          <p:cNvSpPr/>
          <p:nvPr/>
        </p:nvSpPr>
        <p:spPr>
          <a:xfrm>
            <a:off x="10312896" y="5948363"/>
            <a:ext cx="76200" cy="76200"/>
          </a:xfrm>
          <a:prstGeom prst="roundRect">
            <a:avLst>
              <a:gd name="adj" fmla="val 25000"/>
            </a:avLst>
          </a:prstGeom>
          <a:solidFill>
            <a:srgbClr val="FB6D3B"/>
          </a:solidFill>
          <a:ln/>
        </p:spPr>
      </p:sp>
      <p:sp>
        <p:nvSpPr>
          <p:cNvPr id="12" name="Text 10"/>
          <p:cNvSpPr/>
          <p:nvPr/>
        </p:nvSpPr>
        <p:spPr>
          <a:xfrm>
            <a:off x="10579596" y="5776913"/>
            <a:ext cx="3939323"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Ključevi u backend-u</a:t>
            </a:r>
            <a:endParaRPr lang="en-US" sz="2550" dirty="0"/>
          </a:p>
        </p:txBody>
      </p:sp>
      <p:sp>
        <p:nvSpPr>
          <p:cNvPr id="13" name="Text 11"/>
          <p:cNvSpPr/>
          <p:nvPr/>
        </p:nvSpPr>
        <p:spPr>
          <a:xfrm>
            <a:off x="10579596" y="6205538"/>
            <a:ext cx="3939323"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66666"/>
                </a:solidFill>
                <a:latin typeface="Arial" pitchFamily="34" charset="0"/>
                <a:ea typeface="Arial" pitchFamily="34" charset="-122"/>
                <a:cs typeface="Arial" pitchFamily="34" charset="-120"/>
              </a:rPr>
              <a:t>Nikada nisu izloženi u browseru.</a:t>
            </a:r>
            <a:endParaRPr lang="en-US" sz="2100" dirty="0"/>
          </a:p>
        </p:txBody>
      </p:sp>
      <p:sp>
        <p:nvSpPr>
          <p:cNvPr id="14" name="Shape 12"/>
          <p:cNvSpPr/>
          <p:nvPr/>
        </p:nvSpPr>
        <p:spPr>
          <a:xfrm>
            <a:off x="10312896" y="7055048"/>
            <a:ext cx="76200" cy="76200"/>
          </a:xfrm>
          <a:prstGeom prst="roundRect">
            <a:avLst>
              <a:gd name="adj" fmla="val 25000"/>
            </a:avLst>
          </a:prstGeom>
          <a:solidFill>
            <a:srgbClr val="FB6D3B"/>
          </a:solidFill>
          <a:ln/>
        </p:spPr>
      </p:sp>
      <p:sp>
        <p:nvSpPr>
          <p:cNvPr id="15" name="Text 13"/>
          <p:cNvSpPr/>
          <p:nvPr/>
        </p:nvSpPr>
        <p:spPr>
          <a:xfrm>
            <a:off x="10579596" y="6883598"/>
            <a:ext cx="4046168"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Audit prošao</a:t>
            </a:r>
            <a:endParaRPr lang="en-US" sz="2550" dirty="0"/>
          </a:p>
        </p:txBody>
      </p:sp>
      <p:sp>
        <p:nvSpPr>
          <p:cNvPr id="16" name="Text 14"/>
          <p:cNvSpPr/>
          <p:nvPr/>
        </p:nvSpPr>
        <p:spPr>
          <a:xfrm>
            <a:off x="10579596" y="7312223"/>
            <a:ext cx="4046168"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666666"/>
                </a:solidFill>
                <a:latin typeface="Arial" pitchFamily="34" charset="0"/>
                <a:ea typeface="Arial" pitchFamily="34" charset="-122"/>
                <a:cs typeface="Arial" pitchFamily="34" charset="-120"/>
              </a:rPr>
              <a:t>Nalazi adresirani prije produkcije.</a:t>
            </a:r>
            <a:endParaRPr lang="en-US" sz="2100" dirty="0"/>
          </a:p>
        </p:txBody>
      </p:sp>
      <p:sp>
        <p:nvSpPr>
          <p:cNvPr id="17" name="Text 15"/>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18" name="Text 16"/>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08/11</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08 · TROŠAK RADA</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Manje od jedne narudžbe SSD-a, mjesečno.</a:t>
            </a:r>
            <a:endParaRPr lang="en-US" sz="4800" dirty="0"/>
          </a:p>
        </p:txBody>
      </p:sp>
      <p:sp>
        <p:nvSpPr>
          <p:cNvPr id="5" name="Text 3"/>
          <p:cNvSpPr/>
          <p:nvPr/>
        </p:nvSpPr>
        <p:spPr>
          <a:xfrm>
            <a:off x="1047750" y="4891980"/>
            <a:ext cx="5063880" cy="2305050"/>
          </a:xfrm>
          <a:prstGeom prst="rect">
            <a:avLst/>
          </a:prstGeom>
          <a:noFill/>
          <a:ln/>
        </p:spPr>
        <p:txBody>
          <a:bodyPr wrap="square" lIns="25400" tIns="25400" rIns="25400" bIns="25400" rtlCol="0" anchor="t">
            <a:normAutofit/>
          </a:bodyPr>
          <a:lstStyle/>
          <a:p>
            <a:pPr algn="l" indent="0" marL="0">
              <a:lnSpc>
                <a:spcPct val="85000"/>
              </a:lnSpc>
              <a:buNone/>
            </a:pPr>
            <a:r>
              <a:rPr lang="en-US" sz="21000" b="1" spc="-1050" kern="0" dirty="0">
                <a:solidFill>
                  <a:srgbClr val="1A1A2E"/>
                </a:solidFill>
                <a:latin typeface="Arial" pitchFamily="34" charset="0"/>
                <a:ea typeface="Arial" pitchFamily="34" charset="-122"/>
                <a:cs typeface="Arial" pitchFamily="34" charset="-120"/>
              </a:rPr>
              <a:t>~30</a:t>
            </a:r>
            <a:endParaRPr lang="en-US" sz="21000" dirty="0"/>
          </a:p>
        </p:txBody>
      </p:sp>
      <p:sp>
        <p:nvSpPr>
          <p:cNvPr id="6" name="Text 4"/>
          <p:cNvSpPr/>
          <p:nvPr/>
        </p:nvSpPr>
        <p:spPr>
          <a:xfrm>
            <a:off x="6116538" y="6387405"/>
            <a:ext cx="1048196" cy="685800"/>
          </a:xfrm>
          <a:prstGeom prst="rect">
            <a:avLst/>
          </a:prstGeom>
          <a:noFill/>
          <a:ln/>
        </p:spPr>
        <p:txBody>
          <a:bodyPr wrap="square" lIns="25400" tIns="25400" rIns="25400" bIns="25400" rtlCol="0" anchor="t">
            <a:normAutofit/>
          </a:bodyPr>
          <a:lstStyle/>
          <a:p>
            <a:pPr algn="l" indent="0" marL="0">
              <a:lnSpc>
                <a:spcPct val="85000"/>
              </a:lnSpc>
              <a:buNone/>
            </a:pPr>
            <a:r>
              <a:rPr lang="en-US" sz="6000" b="1" spc="-1050" kern="0" dirty="0">
                <a:solidFill>
                  <a:srgbClr val="FB6D3B"/>
                </a:solidFill>
                <a:latin typeface="Arial" pitchFamily="34" charset="0"/>
                <a:ea typeface="Arial" pitchFamily="34" charset="-122"/>
                <a:cs typeface="Arial" pitchFamily="34" charset="-120"/>
              </a:rPr>
              <a:t>KM</a:t>
            </a:r>
            <a:endParaRPr lang="en-US" sz="6000" dirty="0"/>
          </a:p>
        </p:txBody>
      </p:sp>
      <p:sp>
        <p:nvSpPr>
          <p:cNvPr id="7" name="Text 5"/>
          <p:cNvSpPr/>
          <p:nvPr/>
        </p:nvSpPr>
        <p:spPr>
          <a:xfrm>
            <a:off x="1047750" y="7387530"/>
            <a:ext cx="7224238" cy="409575"/>
          </a:xfrm>
          <a:prstGeom prst="rect">
            <a:avLst/>
          </a:prstGeom>
          <a:noFill/>
          <a:ln/>
        </p:spPr>
        <p:txBody>
          <a:bodyPr wrap="square" lIns="25400" tIns="25400" rIns="25400" bIns="25400" rtlCol="0" anchor="t">
            <a:normAutofit/>
          </a:bodyPr>
          <a:lstStyle/>
          <a:p>
            <a:pPr algn="l" indent="0" marL="0">
              <a:buNone/>
            </a:pPr>
            <a:r>
              <a:rPr lang="en-US" sz="2550" dirty="0">
                <a:solidFill>
                  <a:srgbClr val="666666"/>
                </a:solidFill>
                <a:latin typeface="Arial" pitchFamily="34" charset="0"/>
                <a:ea typeface="Arial" pitchFamily="34" charset="-122"/>
                <a:cs typeface="Arial" pitchFamily="34" charset="-120"/>
              </a:rPr>
              <a:t>mjesečno, za realan saobraćaj.</a:t>
            </a:r>
            <a:endParaRPr lang="en-US" sz="2550" dirty="0"/>
          </a:p>
        </p:txBody>
      </p:sp>
      <p:sp>
        <p:nvSpPr>
          <p:cNvPr id="8" name="Shape 6"/>
          <p:cNvSpPr/>
          <p:nvPr/>
        </p:nvSpPr>
        <p:spPr>
          <a:xfrm>
            <a:off x="8823573" y="8549580"/>
            <a:ext cx="8416677" cy="9525"/>
          </a:xfrm>
          <a:prstGeom prst="rect">
            <a:avLst/>
          </a:prstGeom>
          <a:solidFill>
            <a:srgbClr val="E6E6E6"/>
          </a:solidFill>
          <a:ln/>
        </p:spPr>
      </p:sp>
      <p:sp>
        <p:nvSpPr>
          <p:cNvPr id="9" name="Shape 7"/>
          <p:cNvSpPr/>
          <p:nvPr/>
        </p:nvSpPr>
        <p:spPr>
          <a:xfrm>
            <a:off x="8823573" y="4091880"/>
            <a:ext cx="8416677" cy="9525"/>
          </a:xfrm>
          <a:prstGeom prst="rect">
            <a:avLst/>
          </a:prstGeom>
          <a:solidFill>
            <a:srgbClr val="E6E6E6"/>
          </a:solidFill>
          <a:ln/>
        </p:spPr>
      </p:sp>
      <p:sp>
        <p:nvSpPr>
          <p:cNvPr id="10" name="Shape 8"/>
          <p:cNvSpPr/>
          <p:nvPr/>
        </p:nvSpPr>
        <p:spPr>
          <a:xfrm>
            <a:off x="8823573" y="5206305"/>
            <a:ext cx="8416677" cy="9525"/>
          </a:xfrm>
          <a:prstGeom prst="rect">
            <a:avLst/>
          </a:prstGeom>
          <a:solidFill>
            <a:srgbClr val="F0F0F0"/>
          </a:solidFill>
          <a:ln/>
        </p:spPr>
      </p:sp>
      <p:sp>
        <p:nvSpPr>
          <p:cNvPr id="11" name="Text 9"/>
          <p:cNvSpPr/>
          <p:nvPr/>
        </p:nvSpPr>
        <p:spPr>
          <a:xfrm>
            <a:off x="8823573" y="4387155"/>
            <a:ext cx="6954136"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AI tokeni</a:t>
            </a:r>
            <a:endParaRPr lang="en-US" sz="2100" dirty="0"/>
          </a:p>
        </p:txBody>
      </p:sp>
      <p:sp>
        <p:nvSpPr>
          <p:cNvPr id="12" name="Text 10"/>
          <p:cNvSpPr/>
          <p:nvPr/>
        </p:nvSpPr>
        <p:spPr>
          <a:xfrm>
            <a:off x="8823573" y="4749105"/>
            <a:ext cx="6954136"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API trošak po realnom saobraćaju</a:t>
            </a:r>
            <a:endParaRPr lang="en-US" sz="1650" dirty="0"/>
          </a:p>
        </p:txBody>
      </p:sp>
      <p:sp>
        <p:nvSpPr>
          <p:cNvPr id="13" name="Text 11"/>
          <p:cNvSpPr/>
          <p:nvPr/>
        </p:nvSpPr>
        <p:spPr>
          <a:xfrm>
            <a:off x="15879961" y="4310955"/>
            <a:ext cx="1436489" cy="466725"/>
          </a:xfrm>
          <a:prstGeom prst="rect">
            <a:avLst/>
          </a:prstGeom>
          <a:noFill/>
          <a:ln/>
        </p:spPr>
        <p:txBody>
          <a:bodyPr wrap="square" lIns="25400" tIns="25400" rIns="25400" bIns="25400" rtlCol="0" anchor="t">
            <a:normAutofit/>
          </a:bodyPr>
          <a:lstStyle/>
          <a:p>
            <a:pPr algn="l" indent="0" marL="0">
              <a:buNone/>
            </a:pPr>
            <a:r>
              <a:rPr lang="en-US" sz="2550" b="1" dirty="0">
                <a:solidFill>
                  <a:srgbClr val="1A1A2E"/>
                </a:solidFill>
                <a:latin typeface="Arial" pitchFamily="34" charset="0"/>
                <a:ea typeface="Arial" pitchFamily="34" charset="-122"/>
                <a:cs typeface="Arial" pitchFamily="34" charset="-120"/>
              </a:rPr>
              <a:t>~$15–25</a:t>
            </a:r>
            <a:endParaRPr lang="en-US" sz="2550" dirty="0"/>
          </a:p>
        </p:txBody>
      </p:sp>
      <p:sp>
        <p:nvSpPr>
          <p:cNvPr id="14" name="Shape 12"/>
          <p:cNvSpPr/>
          <p:nvPr/>
        </p:nvSpPr>
        <p:spPr>
          <a:xfrm>
            <a:off x="8823573" y="6320730"/>
            <a:ext cx="8416677" cy="9525"/>
          </a:xfrm>
          <a:prstGeom prst="rect">
            <a:avLst/>
          </a:prstGeom>
          <a:solidFill>
            <a:srgbClr val="F0F0F0"/>
          </a:solidFill>
          <a:ln/>
        </p:spPr>
      </p:sp>
      <p:sp>
        <p:nvSpPr>
          <p:cNvPr id="15" name="Text 13"/>
          <p:cNvSpPr/>
          <p:nvPr/>
        </p:nvSpPr>
        <p:spPr>
          <a:xfrm>
            <a:off x="8823573" y="5501580"/>
            <a:ext cx="7954832"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Hosting</a:t>
            </a:r>
            <a:endParaRPr lang="en-US" sz="2100" dirty="0"/>
          </a:p>
        </p:txBody>
      </p:sp>
      <p:sp>
        <p:nvSpPr>
          <p:cNvPr id="16" name="Text 14"/>
          <p:cNvSpPr/>
          <p:nvPr/>
        </p:nvSpPr>
        <p:spPr>
          <a:xfrm>
            <a:off x="8823573" y="5863530"/>
            <a:ext cx="795483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već postojeći BitLab VPS</a:t>
            </a:r>
            <a:endParaRPr lang="en-US" sz="1650" dirty="0"/>
          </a:p>
        </p:txBody>
      </p:sp>
      <p:sp>
        <p:nvSpPr>
          <p:cNvPr id="17" name="Text 15"/>
          <p:cNvSpPr/>
          <p:nvPr/>
        </p:nvSpPr>
        <p:spPr>
          <a:xfrm>
            <a:off x="16851511" y="5425380"/>
            <a:ext cx="464939" cy="466725"/>
          </a:xfrm>
          <a:prstGeom prst="rect">
            <a:avLst/>
          </a:prstGeom>
          <a:noFill/>
          <a:ln/>
        </p:spPr>
        <p:txBody>
          <a:bodyPr wrap="square" lIns="25400" tIns="25400" rIns="25400" bIns="25400" rtlCol="0" anchor="t">
            <a:normAutofit/>
          </a:bodyPr>
          <a:lstStyle/>
          <a:p>
            <a:pPr algn="l" indent="0" marL="0">
              <a:buNone/>
            </a:pPr>
            <a:r>
              <a:rPr lang="en-US" sz="2550" b="1" dirty="0">
                <a:solidFill>
                  <a:srgbClr val="1A1A2E"/>
                </a:solidFill>
                <a:latin typeface="Arial" pitchFamily="34" charset="0"/>
                <a:ea typeface="Arial" pitchFamily="34" charset="-122"/>
                <a:cs typeface="Arial" pitchFamily="34" charset="-120"/>
              </a:rPr>
              <a:t>$0</a:t>
            </a:r>
            <a:endParaRPr lang="en-US" sz="2550" dirty="0"/>
          </a:p>
        </p:txBody>
      </p:sp>
      <p:sp>
        <p:nvSpPr>
          <p:cNvPr id="18" name="Shape 16"/>
          <p:cNvSpPr/>
          <p:nvPr/>
        </p:nvSpPr>
        <p:spPr>
          <a:xfrm>
            <a:off x="8823573" y="7435155"/>
            <a:ext cx="8416677" cy="9525"/>
          </a:xfrm>
          <a:prstGeom prst="rect">
            <a:avLst/>
          </a:prstGeom>
          <a:solidFill>
            <a:srgbClr val="F0F0F0"/>
          </a:solidFill>
          <a:ln/>
        </p:spPr>
      </p:sp>
      <p:sp>
        <p:nvSpPr>
          <p:cNvPr id="19" name="Text 17"/>
          <p:cNvSpPr/>
          <p:nvPr/>
        </p:nvSpPr>
        <p:spPr>
          <a:xfrm>
            <a:off x="8823573" y="6616005"/>
            <a:ext cx="7954832"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Voice, pretraga, automation</a:t>
            </a:r>
            <a:endParaRPr lang="en-US" sz="2100" dirty="0"/>
          </a:p>
        </p:txBody>
      </p:sp>
      <p:sp>
        <p:nvSpPr>
          <p:cNvPr id="20" name="Text 18"/>
          <p:cNvSpPr/>
          <p:nvPr/>
        </p:nvSpPr>
        <p:spPr>
          <a:xfrm>
            <a:off x="8823573" y="6977955"/>
            <a:ext cx="795483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sve lokalno / open source</a:t>
            </a:r>
            <a:endParaRPr lang="en-US" sz="1650" dirty="0"/>
          </a:p>
        </p:txBody>
      </p:sp>
      <p:sp>
        <p:nvSpPr>
          <p:cNvPr id="21" name="Text 19"/>
          <p:cNvSpPr/>
          <p:nvPr/>
        </p:nvSpPr>
        <p:spPr>
          <a:xfrm>
            <a:off x="16851511" y="6539805"/>
            <a:ext cx="464939" cy="466725"/>
          </a:xfrm>
          <a:prstGeom prst="rect">
            <a:avLst/>
          </a:prstGeom>
          <a:noFill/>
          <a:ln/>
        </p:spPr>
        <p:txBody>
          <a:bodyPr wrap="square" lIns="25400" tIns="25400" rIns="25400" bIns="25400" rtlCol="0" anchor="t">
            <a:normAutofit/>
          </a:bodyPr>
          <a:lstStyle/>
          <a:p>
            <a:pPr algn="l" indent="0" marL="0">
              <a:buNone/>
            </a:pPr>
            <a:r>
              <a:rPr lang="en-US" sz="2550" b="1" dirty="0">
                <a:solidFill>
                  <a:srgbClr val="1A1A2E"/>
                </a:solidFill>
                <a:latin typeface="Arial" pitchFamily="34" charset="0"/>
                <a:ea typeface="Arial" pitchFamily="34" charset="-122"/>
                <a:cs typeface="Arial" pitchFamily="34" charset="-120"/>
              </a:rPr>
              <a:t>$0</a:t>
            </a:r>
            <a:endParaRPr lang="en-US" sz="2550" dirty="0"/>
          </a:p>
        </p:txBody>
      </p:sp>
      <p:sp>
        <p:nvSpPr>
          <p:cNvPr id="22" name="Text 20"/>
          <p:cNvSpPr/>
          <p:nvPr/>
        </p:nvSpPr>
        <p:spPr>
          <a:xfrm>
            <a:off x="8823573" y="7730430"/>
            <a:ext cx="8155033" cy="361950"/>
          </a:xfrm>
          <a:prstGeom prst="rect">
            <a:avLst/>
          </a:prstGeom>
          <a:noFill/>
          <a:ln/>
        </p:spPr>
        <p:txBody>
          <a:bodyPr wrap="square" lIns="25400" tIns="25400" rIns="25400" bIns="25400" rtlCol="0" anchor="t">
            <a:normAutofit/>
          </a:bodyPr>
          <a:lstStyle/>
          <a:p>
            <a:pPr algn="l" indent="0" marL="0">
              <a:buNone/>
            </a:pPr>
            <a:r>
              <a:rPr lang="en-US" sz="2100" dirty="0">
                <a:solidFill>
                  <a:srgbClr val="1A1A2E"/>
                </a:solidFill>
                <a:latin typeface="Arial" pitchFamily="34" charset="0"/>
                <a:ea typeface="Arial" pitchFamily="34" charset="-122"/>
                <a:cs typeface="Arial" pitchFamily="34" charset="-120"/>
              </a:rPr>
              <a:t>Vendor lock-in</a:t>
            </a:r>
            <a:endParaRPr lang="en-US" sz="2100" dirty="0"/>
          </a:p>
        </p:txBody>
      </p:sp>
      <p:sp>
        <p:nvSpPr>
          <p:cNvPr id="23" name="Text 21"/>
          <p:cNvSpPr/>
          <p:nvPr/>
        </p:nvSpPr>
        <p:spPr>
          <a:xfrm>
            <a:off x="8823573" y="8092380"/>
            <a:ext cx="815503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nijedna zavisnost izvan vaše kontrole</a:t>
            </a:r>
            <a:endParaRPr lang="en-US" sz="1650" dirty="0"/>
          </a:p>
        </p:txBody>
      </p:sp>
      <p:sp>
        <p:nvSpPr>
          <p:cNvPr id="24" name="Text 22"/>
          <p:cNvSpPr/>
          <p:nvPr/>
        </p:nvSpPr>
        <p:spPr>
          <a:xfrm>
            <a:off x="17045880" y="7654230"/>
            <a:ext cx="270570" cy="466725"/>
          </a:xfrm>
          <a:prstGeom prst="rect">
            <a:avLst/>
          </a:prstGeom>
          <a:noFill/>
          <a:ln/>
        </p:spPr>
        <p:txBody>
          <a:bodyPr wrap="square" lIns="25400" tIns="25400" rIns="25400" bIns="25400" rtlCol="0" anchor="t">
            <a:normAutofit/>
          </a:bodyPr>
          <a:lstStyle/>
          <a:p>
            <a:pPr algn="l" indent="0" marL="0">
              <a:buNone/>
            </a:pPr>
            <a:r>
              <a:rPr lang="en-US" sz="2550" b="1" dirty="0">
                <a:solidFill>
                  <a:srgbClr val="1A1A2E"/>
                </a:solidFill>
                <a:latin typeface="Arial" pitchFamily="34" charset="0"/>
                <a:ea typeface="Arial" pitchFamily="34" charset="-122"/>
                <a:cs typeface="Arial" pitchFamily="34" charset="-120"/>
              </a:rPr>
              <a:t>0</a:t>
            </a:r>
            <a:endParaRPr lang="en-US" sz="2550" dirty="0"/>
          </a:p>
        </p:txBody>
      </p:sp>
      <p:sp>
        <p:nvSpPr>
          <p:cNvPr id="25" name="Text 23"/>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26" name="Text 24"/>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09/11</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FFF"/>
          </a:solidFill>
          <a:ln/>
        </p:spPr>
      </p:sp>
      <p:sp>
        <p:nvSpPr>
          <p:cNvPr id="3" name="Text 1"/>
          <p:cNvSpPr/>
          <p:nvPr/>
        </p:nvSpPr>
        <p:spPr>
          <a:xfrm>
            <a:off x="1047750" y="952500"/>
            <a:ext cx="1667827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09 · STATUS</a:t>
            </a:r>
            <a:endParaRPr lang="en-US" sz="1650" dirty="0"/>
          </a:p>
        </p:txBody>
      </p:sp>
      <p:sp>
        <p:nvSpPr>
          <p:cNvPr id="4" name="Text 2"/>
          <p:cNvSpPr/>
          <p:nvPr/>
        </p:nvSpPr>
        <p:spPr>
          <a:xfrm>
            <a:off x="1047750" y="1724025"/>
            <a:ext cx="16678275" cy="678061"/>
          </a:xfrm>
          <a:prstGeom prst="rect">
            <a:avLst/>
          </a:prstGeom>
          <a:noFill/>
          <a:ln/>
        </p:spPr>
        <p:txBody>
          <a:bodyPr wrap="square" lIns="25400" tIns="25400" rIns="25400" bIns="25400" rtlCol="0" anchor="t">
            <a:normAutofit/>
          </a:bodyPr>
          <a:lstStyle/>
          <a:p>
            <a:pPr algn="l" indent="0" marL="0">
              <a:lnSpc>
                <a:spcPct val="105000"/>
              </a:lnSpc>
              <a:buNone/>
            </a:pPr>
            <a:r>
              <a:rPr lang="en-US" sz="4800" b="1" spc="-120" kern="0" dirty="0">
                <a:solidFill>
                  <a:srgbClr val="1A1A2E"/>
                </a:solidFill>
                <a:latin typeface="Arial" pitchFamily="34" charset="0"/>
                <a:ea typeface="Arial" pitchFamily="34" charset="-122"/>
                <a:cs typeface="Arial" pitchFamily="34" charset="-120"/>
              </a:rPr>
              <a:t>Spremno za pokretanje.</a:t>
            </a:r>
            <a:endParaRPr lang="en-US" sz="4800" dirty="0"/>
          </a:p>
        </p:txBody>
      </p:sp>
      <p:sp>
        <p:nvSpPr>
          <p:cNvPr id="5" name="Shape 3"/>
          <p:cNvSpPr/>
          <p:nvPr/>
        </p:nvSpPr>
        <p:spPr>
          <a:xfrm>
            <a:off x="1047750" y="5401568"/>
            <a:ext cx="7715250" cy="9525"/>
          </a:xfrm>
          <a:prstGeom prst="rect">
            <a:avLst/>
          </a:prstGeom>
          <a:solidFill>
            <a:srgbClr val="F0F0F0"/>
          </a:solidFill>
          <a:ln/>
        </p:spPr>
      </p:sp>
      <p:sp>
        <p:nvSpPr>
          <p:cNvPr id="6" name="Shape 4"/>
          <p:cNvSpPr/>
          <p:nvPr/>
        </p:nvSpPr>
        <p:spPr>
          <a:xfrm>
            <a:off x="1047750" y="4596705"/>
            <a:ext cx="419100" cy="419100"/>
          </a:xfrm>
          <a:prstGeom prst="ellipse">
            <a:avLst/>
          </a:prstGeom>
          <a:solidFill>
            <a:srgbClr val="EAFBEF"/>
          </a:solidFill>
          <a:ln/>
        </p:spPr>
      </p:sp>
      <p:sp>
        <p:nvSpPr>
          <p:cNvPr id="7" name="Text 5"/>
          <p:cNvSpPr/>
          <p:nvPr/>
        </p:nvSpPr>
        <p:spPr>
          <a:xfrm>
            <a:off x="1178719" y="466338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8" name="Text 6"/>
          <p:cNvSpPr/>
          <p:nvPr/>
        </p:nvSpPr>
        <p:spPr>
          <a:xfrm>
            <a:off x="1733550" y="4439543"/>
            <a:ext cx="3603611"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Smart matching</a:t>
            </a:r>
            <a:endParaRPr lang="en-US" sz="2550" dirty="0"/>
          </a:p>
        </p:txBody>
      </p:sp>
      <p:sp>
        <p:nvSpPr>
          <p:cNvPr id="9" name="Text 7"/>
          <p:cNvSpPr/>
          <p:nvPr/>
        </p:nvSpPr>
        <p:spPr>
          <a:xfrm>
            <a:off x="1733550" y="4868168"/>
            <a:ext cx="3603611"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kategorije i parafraze riješene</a:t>
            </a:r>
            <a:endParaRPr lang="en-US" sz="2100" dirty="0"/>
          </a:p>
        </p:txBody>
      </p:sp>
      <p:sp>
        <p:nvSpPr>
          <p:cNvPr id="10" name="Shape 8"/>
          <p:cNvSpPr/>
          <p:nvPr/>
        </p:nvSpPr>
        <p:spPr>
          <a:xfrm>
            <a:off x="9525000" y="5401568"/>
            <a:ext cx="7715250" cy="9525"/>
          </a:xfrm>
          <a:prstGeom prst="rect">
            <a:avLst/>
          </a:prstGeom>
          <a:solidFill>
            <a:srgbClr val="F0F0F0"/>
          </a:solidFill>
          <a:ln/>
        </p:spPr>
      </p:sp>
      <p:sp>
        <p:nvSpPr>
          <p:cNvPr id="11" name="Shape 9"/>
          <p:cNvSpPr/>
          <p:nvPr/>
        </p:nvSpPr>
        <p:spPr>
          <a:xfrm>
            <a:off x="9525000" y="4596705"/>
            <a:ext cx="419100" cy="419100"/>
          </a:xfrm>
          <a:prstGeom prst="ellipse">
            <a:avLst/>
          </a:prstGeom>
          <a:solidFill>
            <a:srgbClr val="EAFBEF"/>
          </a:solidFill>
          <a:ln/>
        </p:spPr>
      </p:sp>
      <p:sp>
        <p:nvSpPr>
          <p:cNvPr id="12" name="Text 10"/>
          <p:cNvSpPr/>
          <p:nvPr/>
        </p:nvSpPr>
        <p:spPr>
          <a:xfrm>
            <a:off x="9655969" y="466338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3" name="Text 11"/>
          <p:cNvSpPr/>
          <p:nvPr/>
        </p:nvSpPr>
        <p:spPr>
          <a:xfrm>
            <a:off x="10210800" y="4439543"/>
            <a:ext cx="3329523"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Eval suite</a:t>
            </a:r>
            <a:endParaRPr lang="en-US" sz="2550" dirty="0"/>
          </a:p>
        </p:txBody>
      </p:sp>
      <p:sp>
        <p:nvSpPr>
          <p:cNvPr id="14" name="Text 12"/>
          <p:cNvSpPr/>
          <p:nvPr/>
        </p:nvSpPr>
        <p:spPr>
          <a:xfrm>
            <a:off x="10210800" y="4868168"/>
            <a:ext cx="3329523"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17/18 ciljano, log po pitanju</a:t>
            </a:r>
            <a:endParaRPr lang="en-US" sz="2100" dirty="0"/>
          </a:p>
        </p:txBody>
      </p:sp>
      <p:sp>
        <p:nvSpPr>
          <p:cNvPr id="15" name="Shape 13"/>
          <p:cNvSpPr/>
          <p:nvPr/>
        </p:nvSpPr>
        <p:spPr>
          <a:xfrm>
            <a:off x="1047750" y="6601718"/>
            <a:ext cx="7715250" cy="9525"/>
          </a:xfrm>
          <a:prstGeom prst="rect">
            <a:avLst/>
          </a:prstGeom>
          <a:solidFill>
            <a:srgbClr val="F0F0F0"/>
          </a:solidFill>
          <a:ln/>
        </p:spPr>
      </p:sp>
      <p:sp>
        <p:nvSpPr>
          <p:cNvPr id="16" name="Shape 14"/>
          <p:cNvSpPr/>
          <p:nvPr/>
        </p:nvSpPr>
        <p:spPr>
          <a:xfrm>
            <a:off x="1047750" y="5796855"/>
            <a:ext cx="419100" cy="419100"/>
          </a:xfrm>
          <a:prstGeom prst="ellipse">
            <a:avLst/>
          </a:prstGeom>
          <a:solidFill>
            <a:srgbClr val="EAFBEF"/>
          </a:solidFill>
          <a:ln/>
        </p:spPr>
      </p:sp>
      <p:sp>
        <p:nvSpPr>
          <p:cNvPr id="17" name="Text 15"/>
          <p:cNvSpPr/>
          <p:nvPr/>
        </p:nvSpPr>
        <p:spPr>
          <a:xfrm>
            <a:off x="1178719" y="586353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18" name="Text 16"/>
          <p:cNvSpPr/>
          <p:nvPr/>
        </p:nvSpPr>
        <p:spPr>
          <a:xfrm>
            <a:off x="1733550" y="5639693"/>
            <a:ext cx="2901376"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Security review</a:t>
            </a:r>
            <a:endParaRPr lang="en-US" sz="2550" dirty="0"/>
          </a:p>
        </p:txBody>
      </p:sp>
      <p:sp>
        <p:nvSpPr>
          <p:cNvPr id="19" name="Text 17"/>
          <p:cNvSpPr/>
          <p:nvPr/>
        </p:nvSpPr>
        <p:spPr>
          <a:xfrm>
            <a:off x="1733550" y="6068318"/>
            <a:ext cx="2901376"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prošao, nalazi zatvoreni</a:t>
            </a:r>
            <a:endParaRPr lang="en-US" sz="2100" dirty="0"/>
          </a:p>
        </p:txBody>
      </p:sp>
      <p:sp>
        <p:nvSpPr>
          <p:cNvPr id="20" name="Shape 18"/>
          <p:cNvSpPr/>
          <p:nvPr/>
        </p:nvSpPr>
        <p:spPr>
          <a:xfrm>
            <a:off x="9525000" y="6601718"/>
            <a:ext cx="7715250" cy="9525"/>
          </a:xfrm>
          <a:prstGeom prst="rect">
            <a:avLst/>
          </a:prstGeom>
          <a:solidFill>
            <a:srgbClr val="F0F0F0"/>
          </a:solidFill>
          <a:ln/>
        </p:spPr>
      </p:sp>
      <p:sp>
        <p:nvSpPr>
          <p:cNvPr id="21" name="Shape 19"/>
          <p:cNvSpPr/>
          <p:nvPr/>
        </p:nvSpPr>
        <p:spPr>
          <a:xfrm>
            <a:off x="9525000" y="5796855"/>
            <a:ext cx="419100" cy="419100"/>
          </a:xfrm>
          <a:prstGeom prst="ellipse">
            <a:avLst/>
          </a:prstGeom>
          <a:solidFill>
            <a:srgbClr val="EAFBEF"/>
          </a:solidFill>
          <a:ln/>
        </p:spPr>
      </p:sp>
      <p:sp>
        <p:nvSpPr>
          <p:cNvPr id="22" name="Text 20"/>
          <p:cNvSpPr/>
          <p:nvPr/>
        </p:nvSpPr>
        <p:spPr>
          <a:xfrm>
            <a:off x="9655969" y="586353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23" name="Text 21"/>
          <p:cNvSpPr/>
          <p:nvPr/>
        </p:nvSpPr>
        <p:spPr>
          <a:xfrm>
            <a:off x="10210800" y="5639693"/>
            <a:ext cx="2962693"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VPS deploy</a:t>
            </a:r>
            <a:endParaRPr lang="en-US" sz="2550" dirty="0"/>
          </a:p>
        </p:txBody>
      </p:sp>
      <p:sp>
        <p:nvSpPr>
          <p:cNvPr id="24" name="Text 22"/>
          <p:cNvSpPr/>
          <p:nvPr/>
        </p:nvSpPr>
        <p:spPr>
          <a:xfrm>
            <a:off x="10210800" y="6068318"/>
            <a:ext cx="2962693"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sve komponente lokalno</a:t>
            </a:r>
            <a:endParaRPr lang="en-US" sz="2100" dirty="0"/>
          </a:p>
        </p:txBody>
      </p:sp>
      <p:sp>
        <p:nvSpPr>
          <p:cNvPr id="25" name="Shape 23"/>
          <p:cNvSpPr/>
          <p:nvPr/>
        </p:nvSpPr>
        <p:spPr>
          <a:xfrm>
            <a:off x="1047750" y="7801868"/>
            <a:ext cx="7715250" cy="9525"/>
          </a:xfrm>
          <a:prstGeom prst="rect">
            <a:avLst/>
          </a:prstGeom>
          <a:solidFill>
            <a:srgbClr val="F0F0F0"/>
          </a:solidFill>
          <a:ln/>
        </p:spPr>
      </p:sp>
      <p:sp>
        <p:nvSpPr>
          <p:cNvPr id="26" name="Shape 24"/>
          <p:cNvSpPr/>
          <p:nvPr/>
        </p:nvSpPr>
        <p:spPr>
          <a:xfrm>
            <a:off x="1047750" y="6997005"/>
            <a:ext cx="419100" cy="419100"/>
          </a:xfrm>
          <a:prstGeom prst="ellipse">
            <a:avLst/>
          </a:prstGeom>
          <a:solidFill>
            <a:srgbClr val="EAFBEF"/>
          </a:solidFill>
          <a:ln/>
        </p:spPr>
      </p:sp>
      <p:sp>
        <p:nvSpPr>
          <p:cNvPr id="27" name="Text 25"/>
          <p:cNvSpPr/>
          <p:nvPr/>
        </p:nvSpPr>
        <p:spPr>
          <a:xfrm>
            <a:off x="1178719" y="706368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28" name="Text 26"/>
          <p:cNvSpPr/>
          <p:nvPr/>
        </p:nvSpPr>
        <p:spPr>
          <a:xfrm>
            <a:off x="1733550" y="6839843"/>
            <a:ext cx="2369939"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Embed snippet</a:t>
            </a:r>
            <a:endParaRPr lang="en-US" sz="2550" dirty="0"/>
          </a:p>
        </p:txBody>
      </p:sp>
      <p:sp>
        <p:nvSpPr>
          <p:cNvPr id="29" name="Text 27"/>
          <p:cNvSpPr/>
          <p:nvPr/>
        </p:nvSpPr>
        <p:spPr>
          <a:xfrm>
            <a:off x="1733550" y="7268468"/>
            <a:ext cx="2369939"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jedan red u</a:t>
            </a:r>
            <a:endParaRPr lang="en-US" sz="2100" dirty="0"/>
          </a:p>
        </p:txBody>
      </p:sp>
      <p:sp>
        <p:nvSpPr>
          <p:cNvPr id="30" name="Shape 28"/>
          <p:cNvSpPr/>
          <p:nvPr/>
        </p:nvSpPr>
        <p:spPr>
          <a:xfrm>
            <a:off x="9525000" y="7801868"/>
            <a:ext cx="7715250" cy="9525"/>
          </a:xfrm>
          <a:prstGeom prst="rect">
            <a:avLst/>
          </a:prstGeom>
          <a:solidFill>
            <a:srgbClr val="F0F0F0"/>
          </a:solidFill>
          <a:ln/>
        </p:spPr>
      </p:sp>
      <p:sp>
        <p:nvSpPr>
          <p:cNvPr id="31" name="Shape 29"/>
          <p:cNvSpPr/>
          <p:nvPr/>
        </p:nvSpPr>
        <p:spPr>
          <a:xfrm>
            <a:off x="9525000" y="6997005"/>
            <a:ext cx="419100" cy="419100"/>
          </a:xfrm>
          <a:prstGeom prst="ellipse">
            <a:avLst/>
          </a:prstGeom>
          <a:solidFill>
            <a:srgbClr val="EAFBEF"/>
          </a:solidFill>
          <a:ln/>
        </p:spPr>
      </p:sp>
      <p:sp>
        <p:nvSpPr>
          <p:cNvPr id="32" name="Text 30"/>
          <p:cNvSpPr/>
          <p:nvPr/>
        </p:nvSpPr>
        <p:spPr>
          <a:xfrm>
            <a:off x="9655969" y="7063680"/>
            <a:ext cx="233214" cy="323850"/>
          </a:xfrm>
          <a:prstGeom prst="rect">
            <a:avLst/>
          </a:prstGeom>
          <a:noFill/>
          <a:ln/>
        </p:spPr>
        <p:txBody>
          <a:bodyPr wrap="square" lIns="25400" tIns="25400" rIns="25400" bIns="25400" rtlCol="0" anchor="t">
            <a:normAutofit/>
          </a:bodyPr>
          <a:lstStyle/>
          <a:p>
            <a:pPr algn="l" indent="0" marL="0">
              <a:buNone/>
            </a:pPr>
            <a:r>
              <a:rPr lang="en-US" sz="1650" dirty="0">
                <a:solidFill>
                  <a:srgbClr val="27AE60"/>
                </a:solidFill>
                <a:latin typeface="Arial" pitchFamily="34" charset="0"/>
                <a:ea typeface="Arial" pitchFamily="34" charset="-122"/>
                <a:cs typeface="Arial" pitchFamily="34" charset="-120"/>
              </a:rPr>
              <a:t>✓</a:t>
            </a:r>
            <a:endParaRPr lang="en-US" sz="1650" dirty="0"/>
          </a:p>
        </p:txBody>
      </p:sp>
      <p:sp>
        <p:nvSpPr>
          <p:cNvPr id="33" name="Text 31"/>
          <p:cNvSpPr/>
          <p:nvPr/>
        </p:nvSpPr>
        <p:spPr>
          <a:xfrm>
            <a:off x="10210800" y="6839843"/>
            <a:ext cx="2794378" cy="428625"/>
          </a:xfrm>
          <a:prstGeom prst="rect">
            <a:avLst/>
          </a:prstGeom>
          <a:noFill/>
          <a:ln/>
        </p:spPr>
        <p:txBody>
          <a:bodyPr wrap="square" lIns="25400" tIns="25400" rIns="25400" bIns="25400" rtlCol="0" anchor="t">
            <a:normAutofit/>
          </a:bodyPr>
          <a:lstStyle/>
          <a:p>
            <a:pPr algn="l" indent="0" marL="0">
              <a:buNone/>
            </a:pPr>
            <a:r>
              <a:rPr lang="en-US" sz="2550" b="1" spc="-25" kern="0" dirty="0">
                <a:solidFill>
                  <a:srgbClr val="1A1A2E"/>
                </a:solidFill>
                <a:latin typeface="Arial" pitchFamily="34" charset="0"/>
                <a:ea typeface="Arial" pitchFamily="34" charset="-122"/>
                <a:cs typeface="Arial" pitchFamily="34" charset="-120"/>
              </a:rPr>
              <a:t>Produkcija</a:t>
            </a:r>
            <a:endParaRPr lang="en-US" sz="2550" dirty="0"/>
          </a:p>
        </p:txBody>
      </p:sp>
      <p:sp>
        <p:nvSpPr>
          <p:cNvPr id="34" name="Text 32"/>
          <p:cNvSpPr/>
          <p:nvPr/>
        </p:nvSpPr>
        <p:spPr>
          <a:xfrm>
            <a:off x="10210800" y="7268468"/>
            <a:ext cx="2794378" cy="342900"/>
          </a:xfrm>
          <a:prstGeom prst="rect">
            <a:avLst/>
          </a:prstGeom>
          <a:noFill/>
          <a:ln/>
        </p:spPr>
        <p:txBody>
          <a:bodyPr wrap="square" lIns="25400" tIns="25400" rIns="25400" bIns="25400" rtlCol="0" anchor="t">
            <a:normAutofit/>
          </a:bodyPr>
          <a:lstStyle/>
          <a:p>
            <a:pPr algn="l" indent="0" marL="0">
              <a:buNone/>
            </a:pPr>
            <a:r>
              <a:rPr lang="en-US" sz="2100" dirty="0">
                <a:solidFill>
                  <a:srgbClr val="666666"/>
                </a:solidFill>
                <a:latin typeface="Arial" pitchFamily="34" charset="0"/>
                <a:ea typeface="Arial" pitchFamily="34" charset="-122"/>
                <a:cs typeface="Arial" pitchFamily="34" charset="-120"/>
              </a:rPr>
              <a:t>spremno za pokretanje</a:t>
            </a:r>
            <a:endParaRPr lang="en-US" sz="2100" dirty="0"/>
          </a:p>
        </p:txBody>
      </p:sp>
      <p:sp>
        <p:nvSpPr>
          <p:cNvPr id="35" name="Text 33"/>
          <p:cNvSpPr/>
          <p:nvPr/>
        </p:nvSpPr>
        <p:spPr>
          <a:xfrm>
            <a:off x="1047750" y="9277350"/>
            <a:ext cx="1667827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Slijedeći korak: zeleno svjetlo — i krećemo.</a:t>
            </a:r>
            <a:endParaRPr lang="en-US" sz="1650" dirty="0"/>
          </a:p>
        </p:txBody>
      </p:sp>
      <p:sp>
        <p:nvSpPr>
          <p:cNvPr id="36" name="Text 34"/>
          <p:cNvSpPr/>
          <p:nvPr/>
        </p:nvSpPr>
        <p:spPr>
          <a:xfrm>
            <a:off x="1047750" y="9696450"/>
            <a:ext cx="178251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BitLab AI Asistent</a:t>
            </a:r>
            <a:endParaRPr lang="en-US" sz="1650" dirty="0"/>
          </a:p>
        </p:txBody>
      </p:sp>
      <p:sp>
        <p:nvSpPr>
          <p:cNvPr id="37" name="Text 35"/>
          <p:cNvSpPr/>
          <p:nvPr/>
        </p:nvSpPr>
        <p:spPr>
          <a:xfrm>
            <a:off x="16585406" y="9696450"/>
            <a:ext cx="731044" cy="285750"/>
          </a:xfrm>
          <a:prstGeom prst="rect">
            <a:avLst/>
          </a:prstGeom>
          <a:noFill/>
          <a:ln/>
        </p:spPr>
        <p:txBody>
          <a:bodyPr wrap="square" lIns="25400" tIns="25400" rIns="25400" bIns="25400" rtlCol="0" anchor="t">
            <a:normAutofit/>
          </a:bodyPr>
          <a:lstStyle/>
          <a:p>
            <a:pPr algn="l" indent="0" marL="0">
              <a:buNone/>
            </a:pPr>
            <a:r>
              <a:rPr lang="en-US" sz="1650" spc="33" kern="0" dirty="0">
                <a:solidFill>
                  <a:srgbClr val="999999"/>
                </a:solidFill>
                <a:latin typeface="Arial" pitchFamily="34" charset="0"/>
                <a:ea typeface="Arial" pitchFamily="34" charset="-122"/>
                <a:cs typeface="Arial" pitchFamily="34" charset="-120"/>
              </a:rPr>
              <a:t>10/11</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FF5F0"/>
          </a:solidFill>
          <a:ln/>
        </p:spPr>
      </p:sp>
      <p:sp>
        <p:nvSpPr>
          <p:cNvPr id="3" name="Text 1"/>
          <p:cNvSpPr/>
          <p:nvPr/>
        </p:nvSpPr>
        <p:spPr>
          <a:xfrm>
            <a:off x="1047750" y="952500"/>
            <a:ext cx="7259955" cy="314325"/>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FB6D3B"/>
                </a:solidFill>
                <a:latin typeface="Arial" pitchFamily="34" charset="0"/>
                <a:ea typeface="Arial" pitchFamily="34" charset="-122"/>
                <a:cs typeface="Arial" pitchFamily="34" charset="-120"/>
              </a:rPr>
              <a:t>10 · KONTAKT</a:t>
            </a:r>
            <a:endParaRPr lang="en-US" sz="1650" dirty="0"/>
          </a:p>
        </p:txBody>
      </p:sp>
      <p:sp>
        <p:nvSpPr>
          <p:cNvPr id="4" name="Text 2"/>
          <p:cNvSpPr/>
          <p:nvPr/>
        </p:nvSpPr>
        <p:spPr>
          <a:xfrm>
            <a:off x="1047750" y="3609231"/>
            <a:ext cx="7259955" cy="1238250"/>
          </a:xfrm>
          <a:prstGeom prst="rect">
            <a:avLst/>
          </a:prstGeom>
          <a:noFill/>
          <a:ln/>
        </p:spPr>
        <p:txBody>
          <a:bodyPr wrap="square" lIns="25400" tIns="25400" rIns="25400" bIns="25400" rtlCol="0" anchor="t">
            <a:normAutofit/>
          </a:bodyPr>
          <a:lstStyle/>
          <a:p>
            <a:pPr algn="l" indent="0" marL="0">
              <a:lnSpc>
                <a:spcPct val="105000"/>
              </a:lnSpc>
              <a:buNone/>
            </a:pPr>
            <a:r>
              <a:rPr lang="en-US" sz="9000" b="1" spc="-225" kern="0" dirty="0">
                <a:solidFill>
                  <a:srgbClr val="1A1A2E"/>
                </a:solidFill>
                <a:latin typeface="Arial" pitchFamily="34" charset="0"/>
                <a:ea typeface="Arial" pitchFamily="34" charset="-122"/>
                <a:cs typeface="Arial" pitchFamily="34" charset="-120"/>
              </a:rPr>
              <a:t>Hvala</a:t>
            </a:r>
            <a:pPr algn="l" indent="0" marL="0">
              <a:lnSpc>
                <a:spcPct val="105000"/>
              </a:lnSpc>
              <a:buNone/>
            </a:pPr>
            <a:r>
              <a:rPr lang="en-US" sz="9000" b="1" spc="-225" kern="0" dirty="0">
                <a:solidFill>
                  <a:srgbClr val="FB6D3B"/>
                </a:solidFill>
                <a:latin typeface="Arial" pitchFamily="34" charset="0"/>
                <a:ea typeface="Arial" pitchFamily="34" charset="-122"/>
                <a:cs typeface="Arial" pitchFamily="34" charset="-120"/>
              </a:rPr>
              <a:t>.</a:t>
            </a:r>
            <a:endParaRPr lang="en-US" sz="9000" dirty="0"/>
          </a:p>
        </p:txBody>
      </p:sp>
      <p:sp>
        <p:nvSpPr>
          <p:cNvPr id="5" name="Text 3"/>
          <p:cNvSpPr/>
          <p:nvPr/>
        </p:nvSpPr>
        <p:spPr>
          <a:xfrm>
            <a:off x="1047750" y="7189738"/>
            <a:ext cx="7259955" cy="428625"/>
          </a:xfrm>
          <a:prstGeom prst="rect">
            <a:avLst/>
          </a:prstGeom>
          <a:noFill/>
          <a:ln/>
        </p:spPr>
        <p:txBody>
          <a:bodyPr wrap="square" lIns="25400" tIns="25400" rIns="25400" bIns="25400" rtlCol="0" anchor="t">
            <a:normAutofit/>
          </a:bodyPr>
          <a:lstStyle/>
          <a:p>
            <a:pPr algn="l" indent="0" marL="0">
              <a:buNone/>
            </a:pPr>
            <a:r>
              <a:rPr lang="en-US" sz="2550" b="1" dirty="0">
                <a:solidFill>
                  <a:srgbClr val="1A1A2E"/>
                </a:solidFill>
                <a:latin typeface="Arial" pitchFamily="34" charset="0"/>
                <a:ea typeface="Arial" pitchFamily="34" charset="-122"/>
                <a:cs typeface="Arial" pitchFamily="34" charset="-120"/>
              </a:rPr>
              <a:t>BitLab d.o.o.</a:t>
            </a:r>
            <a:endParaRPr lang="en-US" sz="2550" dirty="0"/>
          </a:p>
        </p:txBody>
      </p:sp>
      <p:sp>
        <p:nvSpPr>
          <p:cNvPr id="6" name="Text 4"/>
          <p:cNvSpPr/>
          <p:nvPr/>
        </p:nvSpPr>
        <p:spPr>
          <a:xfrm>
            <a:off x="1047750" y="7770763"/>
            <a:ext cx="7259955" cy="1277987"/>
          </a:xfrm>
          <a:prstGeom prst="rect">
            <a:avLst/>
          </a:prstGeom>
          <a:noFill/>
          <a:ln/>
        </p:spPr>
        <p:txBody>
          <a:bodyPr wrap="square" lIns="25400" tIns="25400" rIns="25400" bIns="25400" rtlCol="0" anchor="t">
            <a:normAutofit/>
          </a:bodyPr>
          <a:lstStyle/>
          <a:p>
            <a:pPr algn="l" indent="0" marL="0">
              <a:lnSpc>
                <a:spcPct val="155000"/>
              </a:lnSpc>
              <a:buNone/>
            </a:pPr>
            <a:r>
              <a:rPr lang="en-US" sz="2100" dirty="0">
                <a:solidFill>
                  <a:srgbClr val="222222"/>
                </a:solidFill>
                <a:latin typeface="Arial" pitchFamily="34" charset="0"/>
                <a:ea typeface="Arial" pitchFamily="34" charset="-122"/>
                <a:cs typeface="Arial" pitchFamily="34" charset="-120"/>
              </a:rPr>
              <a:t>Jevrejska 37, 78000 Banja Luka prodaja@bitlab.rs · 066 516 174 webshop.bitlab.rs</a:t>
            </a:r>
            <a:endParaRPr lang="en-US" sz="2100" dirty="0"/>
          </a:p>
        </p:txBody>
      </p:sp>
      <p:sp>
        <p:nvSpPr>
          <p:cNvPr id="7" name="Text 5"/>
          <p:cNvSpPr/>
          <p:nvPr/>
        </p:nvSpPr>
        <p:spPr>
          <a:xfrm>
            <a:off x="1047750" y="9277350"/>
            <a:ext cx="7259955" cy="285750"/>
          </a:xfrm>
          <a:prstGeom prst="rect">
            <a:avLst/>
          </a:prstGeom>
          <a:noFill/>
          <a:ln/>
        </p:spPr>
        <p:txBody>
          <a:bodyPr wrap="square" lIns="25400" tIns="25400" rIns="25400" bIns="25400" rtlCol="0" anchor="t">
            <a:normAutofit/>
          </a:bodyPr>
          <a:lstStyle/>
          <a:p>
            <a:pPr algn="l" indent="0" marL="0">
              <a:buNone/>
            </a:pPr>
            <a:r>
              <a:rPr lang="en-US" sz="1650" dirty="0">
                <a:solidFill>
                  <a:srgbClr val="666666"/>
                </a:solidFill>
                <a:latin typeface="Arial" pitchFamily="34" charset="0"/>
                <a:ea typeface="Arial" pitchFamily="34" charset="-122"/>
                <a:cs typeface="Arial" pitchFamily="34" charset="-120"/>
              </a:rPr>
              <a:t>JIB: 4403711250001</a:t>
            </a:r>
            <a:endParaRPr lang="en-US" sz="1650" dirty="0"/>
          </a:p>
        </p:txBody>
      </p:sp>
      <p:sp>
        <p:nvSpPr>
          <p:cNvPr id="8" name="Shape 6"/>
          <p:cNvSpPr/>
          <p:nvPr/>
        </p:nvSpPr>
        <p:spPr>
          <a:xfrm>
            <a:off x="9144000" y="0"/>
            <a:ext cx="9144000" cy="10287000"/>
          </a:xfrm>
          <a:prstGeom prst="rect">
            <a:avLst/>
          </a:prstGeom>
          <a:solidFill>
            <a:srgbClr val="FFE8DB"/>
          </a:solidFill>
          <a:ln/>
        </p:spPr>
      </p:sp>
      <p:sp>
        <p:nvSpPr>
          <p:cNvPr id="9" name="Text 7"/>
          <p:cNvSpPr/>
          <p:nvPr/>
        </p:nvSpPr>
        <p:spPr>
          <a:xfrm>
            <a:off x="10191750" y="952500"/>
            <a:ext cx="7259955" cy="285750"/>
          </a:xfrm>
          <a:prstGeom prst="rect">
            <a:avLst/>
          </a:prstGeom>
          <a:noFill/>
          <a:ln/>
        </p:spPr>
        <p:txBody>
          <a:bodyPr wrap="square" lIns="25400" tIns="25400" rIns="25400" bIns="25400" rtlCol="0" anchor="t">
            <a:normAutofit/>
          </a:bodyPr>
          <a:lstStyle/>
          <a:p>
            <a:pPr algn="l" indent="0" marL="0">
              <a:buNone/>
            </a:pPr>
            <a:r>
              <a:rPr lang="en-US" sz="1650" spc="297" kern="0" dirty="0">
                <a:solidFill>
                  <a:srgbClr val="1A1A2E">
                    <a:alpha val="70000"/>
                  </a:srgbClr>
                </a:solidFill>
                <a:latin typeface="Arial" pitchFamily="34" charset="0"/>
                <a:ea typeface="Arial" pitchFamily="34" charset="-122"/>
                <a:cs typeface="Arial" pitchFamily="34" charset="-120"/>
              </a:rPr>
              <a:t>OTVORENI ZA DEMO UŽIVO</a:t>
            </a:r>
            <a:endParaRPr lang="en-US" sz="1650" dirty="0"/>
          </a:p>
        </p:txBody>
      </p:sp>
      <p:sp>
        <p:nvSpPr>
          <p:cNvPr id="10" name="Text 8"/>
          <p:cNvSpPr/>
          <p:nvPr/>
        </p:nvSpPr>
        <p:spPr>
          <a:xfrm>
            <a:off x="10191750" y="3881438"/>
            <a:ext cx="7259955" cy="2752725"/>
          </a:xfrm>
          <a:prstGeom prst="rect">
            <a:avLst/>
          </a:prstGeom>
          <a:noFill/>
          <a:ln/>
        </p:spPr>
        <p:txBody>
          <a:bodyPr wrap="square" lIns="25400" tIns="25400" rIns="25400" bIns="25400" rtlCol="0" anchor="t">
            <a:normAutofit/>
          </a:bodyPr>
          <a:lstStyle/>
          <a:p>
            <a:pPr algn="l" indent="0" marL="0">
              <a:lnSpc>
                <a:spcPct val="95000"/>
              </a:lnSpc>
              <a:buNone/>
            </a:pPr>
            <a:r>
              <a:rPr lang="en-US" sz="7500" b="1" spc="-300" kern="0" dirty="0">
                <a:solidFill>
                  <a:srgbClr val="1A1A2E"/>
                </a:solidFill>
                <a:latin typeface="Arial" pitchFamily="34" charset="0"/>
                <a:ea typeface="Arial" pitchFamily="34" charset="-122"/>
                <a:cs typeface="Arial" pitchFamily="34" charset="-120"/>
              </a:rPr>
              <a:t>Pričekamo </a:t>
            </a:r>
            <a:pPr algn="l" indent="0" marL="0">
              <a:lnSpc>
                <a:spcPct val="95000"/>
              </a:lnSpc>
              <a:buNone/>
            </a:pPr>
            <a:r>
              <a:rPr lang="en-US" sz="7500" b="1" spc="-300" kern="0" dirty="0">
                <a:solidFill>
                  <a:srgbClr val="FB6D3B"/>
                </a:solidFill>
                <a:latin typeface="Arial" pitchFamily="34" charset="0"/>
                <a:ea typeface="Arial" pitchFamily="34" charset="-122"/>
                <a:cs typeface="Arial" pitchFamily="34" charset="-120"/>
              </a:rPr>
              <a:t>zeleno </a:t>
            </a:r>
            <a:pPr algn="l" indent="0" marL="0">
              <a:lnSpc>
                <a:spcPct val="95000"/>
              </a:lnSpc>
              <a:buNone/>
            </a:pPr>
            <a:r>
              <a:rPr lang="en-US" sz="7500" b="1" spc="-300" kern="0" dirty="0">
                <a:solidFill>
                  <a:srgbClr val="1A1A2E"/>
                </a:solidFill>
                <a:latin typeface="Arial" pitchFamily="34" charset="0"/>
                <a:ea typeface="Arial" pitchFamily="34" charset="-122"/>
                <a:cs typeface="Arial" pitchFamily="34" charset="-120"/>
              </a:rPr>
              <a:t>svjetlo.</a:t>
            </a:r>
            <a:endParaRPr lang="en-US" sz="7500" dirty="0"/>
          </a:p>
        </p:txBody>
      </p:sp>
      <p:sp>
        <p:nvSpPr>
          <p:cNvPr id="11" name="Text 9"/>
          <p:cNvSpPr/>
          <p:nvPr/>
        </p:nvSpPr>
        <p:spPr>
          <a:xfrm>
            <a:off x="10191750" y="9277350"/>
            <a:ext cx="657076"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A2E"/>
                </a:solidFill>
                <a:latin typeface="Arial" pitchFamily="34" charset="0"/>
                <a:ea typeface="Arial" pitchFamily="34" charset="-122"/>
                <a:cs typeface="Arial" pitchFamily="34" charset="-120"/>
              </a:rPr>
              <a:t>● chat</a:t>
            </a:r>
            <a:endParaRPr lang="en-US" sz="1650" dirty="0"/>
          </a:p>
        </p:txBody>
      </p:sp>
      <p:sp>
        <p:nvSpPr>
          <p:cNvPr id="12" name="Text 10"/>
          <p:cNvSpPr/>
          <p:nvPr/>
        </p:nvSpPr>
        <p:spPr>
          <a:xfrm>
            <a:off x="11039326" y="9277350"/>
            <a:ext cx="750243"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A2E"/>
                </a:solidFill>
                <a:latin typeface="Arial" pitchFamily="34" charset="0"/>
                <a:ea typeface="Arial" pitchFamily="34" charset="-122"/>
                <a:cs typeface="Arial" pitchFamily="34" charset="-120"/>
              </a:rPr>
              <a:t>● voice</a:t>
            </a:r>
            <a:endParaRPr lang="en-US" sz="1650" dirty="0"/>
          </a:p>
        </p:txBody>
      </p:sp>
      <p:sp>
        <p:nvSpPr>
          <p:cNvPr id="13" name="Text 11"/>
          <p:cNvSpPr/>
          <p:nvPr/>
        </p:nvSpPr>
        <p:spPr>
          <a:xfrm>
            <a:off x="11980069" y="9277350"/>
            <a:ext cx="831652" cy="285750"/>
          </a:xfrm>
          <a:prstGeom prst="rect">
            <a:avLst/>
          </a:prstGeom>
          <a:noFill/>
          <a:ln/>
        </p:spPr>
        <p:txBody>
          <a:bodyPr wrap="square" lIns="25400" tIns="25400" rIns="25400" bIns="25400" rtlCol="0" anchor="t">
            <a:normAutofit/>
          </a:bodyPr>
          <a:lstStyle/>
          <a:p>
            <a:pPr algn="l" indent="0" marL="0">
              <a:buNone/>
            </a:pPr>
            <a:r>
              <a:rPr lang="en-US" sz="1650" dirty="0">
                <a:solidFill>
                  <a:srgbClr val="1A1A2E"/>
                </a:solidFill>
                <a:latin typeface="Arial" pitchFamily="34" charset="0"/>
                <a:ea typeface="Arial" pitchFamily="34" charset="-122"/>
                <a:cs typeface="Arial" pitchFamily="34" charset="-120"/>
              </a:rPr>
              <a:t>● e-mail</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2026-05-01T16:18:00Z</dcterms:created>
  <dcterms:modified xsi:type="dcterms:W3CDTF">2026-05-01T16:18:00Z</dcterms:modified>
</cp:coreProperties>
</file>